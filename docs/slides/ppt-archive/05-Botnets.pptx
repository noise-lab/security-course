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2" r:id="rId1"/>
  </p:sldMasterIdLst>
  <p:notesMasterIdLst>
    <p:notesMasterId r:id="rId52"/>
  </p:notesMasterIdLst>
  <p:sldIdLst>
    <p:sldId id="392" r:id="rId2"/>
    <p:sldId id="345" r:id="rId3"/>
    <p:sldId id="346" r:id="rId4"/>
    <p:sldId id="347" r:id="rId5"/>
    <p:sldId id="348" r:id="rId6"/>
    <p:sldId id="383" r:id="rId7"/>
    <p:sldId id="384" r:id="rId8"/>
    <p:sldId id="349" r:id="rId9"/>
    <p:sldId id="350" r:id="rId10"/>
    <p:sldId id="351" r:id="rId11"/>
    <p:sldId id="385" r:id="rId12"/>
    <p:sldId id="352" r:id="rId13"/>
    <p:sldId id="353" r:id="rId14"/>
    <p:sldId id="354" r:id="rId15"/>
    <p:sldId id="355" r:id="rId16"/>
    <p:sldId id="356" r:id="rId17"/>
    <p:sldId id="357" r:id="rId18"/>
    <p:sldId id="358" r:id="rId19"/>
    <p:sldId id="359" r:id="rId20"/>
    <p:sldId id="360" r:id="rId21"/>
    <p:sldId id="361" r:id="rId22"/>
    <p:sldId id="362" r:id="rId23"/>
    <p:sldId id="363" r:id="rId24"/>
    <p:sldId id="364" r:id="rId25"/>
    <p:sldId id="365" r:id="rId26"/>
    <p:sldId id="366" r:id="rId27"/>
    <p:sldId id="367" r:id="rId28"/>
    <p:sldId id="368" r:id="rId29"/>
    <p:sldId id="369" r:id="rId30"/>
    <p:sldId id="370" r:id="rId31"/>
    <p:sldId id="371" r:id="rId32"/>
    <p:sldId id="372" r:id="rId33"/>
    <p:sldId id="373" r:id="rId34"/>
    <p:sldId id="374" r:id="rId35"/>
    <p:sldId id="375" r:id="rId36"/>
    <p:sldId id="389" r:id="rId37"/>
    <p:sldId id="390" r:id="rId38"/>
    <p:sldId id="382" r:id="rId39"/>
    <p:sldId id="327" r:id="rId40"/>
    <p:sldId id="328" r:id="rId41"/>
    <p:sldId id="329" r:id="rId42"/>
    <p:sldId id="387" r:id="rId43"/>
    <p:sldId id="333" r:id="rId44"/>
    <p:sldId id="334" r:id="rId45"/>
    <p:sldId id="386" r:id="rId46"/>
    <p:sldId id="388" r:id="rId47"/>
    <p:sldId id="391" r:id="rId48"/>
    <p:sldId id="335" r:id="rId49"/>
    <p:sldId id="336" r:id="rId50"/>
    <p:sldId id="337" r:id="rId51"/>
  </p:sldIdLst>
  <p:sldSz cx="9144000" cy="5143500" type="screen16x9"/>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762"/>
  </p:normalViewPr>
  <p:slideViewPr>
    <p:cSldViewPr>
      <p:cViewPr varScale="1">
        <p:scale>
          <a:sx n="163" d="100"/>
          <a:sy n="163" d="100"/>
        </p:scale>
        <p:origin x="696" y="168"/>
      </p:cViewPr>
      <p:guideLst>
        <p:guide orient="horz" pos="1620"/>
        <p:guide pos="2880"/>
      </p:guideLst>
    </p:cSldViewPr>
  </p:slideViewPr>
  <p:notesTextViewPr>
    <p:cViewPr>
      <p:scale>
        <a:sx n="100" d="100"/>
        <a:sy n="100" d="100"/>
      </p:scale>
      <p:origin x="0" y="0"/>
    </p:cViewPr>
  </p:notesTextViewPr>
  <p:sorterViewPr>
    <p:cViewPr>
      <p:scale>
        <a:sx n="150" d="100"/>
        <a:sy n="150" d="100"/>
      </p:scale>
      <p:origin x="0" y="76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E267EEC-2B23-930A-935F-99381827B7CD}"/>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4099" name="Rectangle 3">
            <a:extLst>
              <a:ext uri="{FF2B5EF4-FFF2-40B4-BE49-F238E27FC236}">
                <a16:creationId xmlns:a16="http://schemas.microsoft.com/office/drawing/2014/main" id="{DF1E36D8-5171-29EC-DBEF-BAF21D12E437}"/>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7412" name="Rectangle 4">
            <a:extLst>
              <a:ext uri="{FF2B5EF4-FFF2-40B4-BE49-F238E27FC236}">
                <a16:creationId xmlns:a16="http://schemas.microsoft.com/office/drawing/2014/main" id="{991E03DC-00EE-46D9-6F55-94E428670329}"/>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C0F97B2E-0A2E-88DE-8785-71B15A8C057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7ABF226F-499A-3A89-B8F3-C6C008F4E4E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4103" name="Rectangle 7">
            <a:extLst>
              <a:ext uri="{FF2B5EF4-FFF2-40B4-BE49-F238E27FC236}">
                <a16:creationId xmlns:a16="http://schemas.microsoft.com/office/drawing/2014/main" id="{4DBE9647-579E-769E-4B7E-025DB28D2701}"/>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1DF1404-E34B-914B-92F9-41943899426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washingtonpost.com/blogs/the-switch/wp/2013/11/01/how-a-grad-student-trying-to-build-the-first-botnet-brought-the-internet-to-its-knee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E965CCD6-BF9C-4F00-ECF2-9B0FFE0043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E48D216-1557-8C40-AC9C-E736C74DF2ED}" type="slidenum">
              <a:rPr lang="en-US" altLang="en-US" smtClean="0"/>
              <a:pPr>
                <a:spcBef>
                  <a:spcPct val="0"/>
                </a:spcBef>
              </a:pPr>
              <a:t>2</a:t>
            </a:fld>
            <a:endParaRPr lang="en-US" altLang="en-US"/>
          </a:p>
        </p:txBody>
      </p:sp>
      <p:sp>
        <p:nvSpPr>
          <p:cNvPr id="20482" name="Rectangle 2">
            <a:extLst>
              <a:ext uri="{FF2B5EF4-FFF2-40B4-BE49-F238E27FC236}">
                <a16:creationId xmlns:a16="http://schemas.microsoft.com/office/drawing/2014/main" id="{C92E7827-87B2-A764-16E9-F4172E223B6A}"/>
              </a:ext>
            </a:extLst>
          </p:cNvPr>
          <p:cNvSpPr>
            <a:spLocks noGrp="1" noRot="1" noChangeAspect="1" noChangeArrowheads="1" noTextEdit="1"/>
          </p:cNvSpPr>
          <p:nvPr>
            <p:ph type="sldImg"/>
          </p:nvPr>
        </p:nvSpPr>
        <p:spPr>
          <a:xfrm>
            <a:off x="393700" y="692150"/>
            <a:ext cx="6070600" cy="3416300"/>
          </a:xfrm>
          <a:ln/>
        </p:spPr>
      </p:sp>
      <p:sp>
        <p:nvSpPr>
          <p:cNvPr id="17411" name="Rectangle 3">
            <a:extLst>
              <a:ext uri="{FF2B5EF4-FFF2-40B4-BE49-F238E27FC236}">
                <a16:creationId xmlns:a16="http://schemas.microsoft.com/office/drawing/2014/main" id="{68A24BA3-EB09-720B-075E-2F4C82F4A1A1}"/>
              </a:ext>
            </a:extLst>
          </p:cNvPr>
          <p:cNvSpPr>
            <a:spLocks noGrp="1" noChangeArrowheads="1"/>
          </p:cNvSpPr>
          <p:nvPr>
            <p:ph type="body" idx="1"/>
          </p:nvPr>
        </p:nvSpPr>
        <p:spPr>
          <a:xfrm>
            <a:off x="914400" y="4343400"/>
            <a:ext cx="5029200" cy="4114800"/>
          </a:xfrm>
        </p:spPr>
        <p:txBody>
          <a:bodyPr/>
          <a:lstStyle/>
          <a:p>
            <a:pPr eaLnBrk="1" hangingPunct="1">
              <a:defRPr/>
            </a:pPr>
            <a:endParaRPr lang="en-US">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FD567E95-221E-B509-4973-6793A0D63A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1060DCD-4A26-8843-B71D-93FB2E5D1FAA}" type="slidenum">
              <a:rPr lang="en-US" altLang="en-US" smtClean="0"/>
              <a:pPr>
                <a:spcBef>
                  <a:spcPct val="0"/>
                </a:spcBef>
              </a:pPr>
              <a:t>3</a:t>
            </a:fld>
            <a:endParaRPr lang="en-US" altLang="en-US"/>
          </a:p>
        </p:txBody>
      </p:sp>
      <p:sp>
        <p:nvSpPr>
          <p:cNvPr id="22530" name="Rectangle 2">
            <a:extLst>
              <a:ext uri="{FF2B5EF4-FFF2-40B4-BE49-F238E27FC236}">
                <a16:creationId xmlns:a16="http://schemas.microsoft.com/office/drawing/2014/main" id="{BC8788EE-1888-C915-74A9-807572F74164}"/>
              </a:ext>
            </a:extLst>
          </p:cNvPr>
          <p:cNvSpPr>
            <a:spLocks noGrp="1" noRot="1" noChangeAspect="1" noChangeArrowheads="1" noTextEdit="1"/>
          </p:cNvSpPr>
          <p:nvPr>
            <p:ph type="sldImg"/>
          </p:nvPr>
        </p:nvSpPr>
        <p:spPr>
          <a:xfrm>
            <a:off x="393700" y="692150"/>
            <a:ext cx="6070600" cy="3416300"/>
          </a:xfrm>
          <a:ln/>
        </p:spPr>
      </p:sp>
      <p:sp>
        <p:nvSpPr>
          <p:cNvPr id="19459" name="Rectangle 3">
            <a:extLst>
              <a:ext uri="{FF2B5EF4-FFF2-40B4-BE49-F238E27FC236}">
                <a16:creationId xmlns:a16="http://schemas.microsoft.com/office/drawing/2014/main" id="{2CC05AAF-4F8E-7E61-40F8-1C77AC817F85}"/>
              </a:ext>
            </a:extLst>
          </p:cNvPr>
          <p:cNvSpPr>
            <a:spLocks noGrp="1" noChangeArrowheads="1"/>
          </p:cNvSpPr>
          <p:nvPr>
            <p:ph type="body" idx="1"/>
          </p:nvPr>
        </p:nvSpPr>
        <p:spPr>
          <a:xfrm>
            <a:off x="914400" y="4343400"/>
            <a:ext cx="5029200" cy="4114800"/>
          </a:xfrm>
        </p:spPr>
        <p:txBody>
          <a:bodyPr/>
          <a:lstStyle/>
          <a:p>
            <a:pPr eaLnBrk="1" hangingPunct="1">
              <a:defRPr/>
            </a:pPr>
            <a:endParaRPr lang="en-US">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1A59804C-0668-AD7D-A6D1-E4E0C7631C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ED545B79-9A09-374E-8AC8-3A0A75551F57}" type="slidenum">
              <a:rPr lang="en-US" altLang="en-US" smtClean="0"/>
              <a:pPr>
                <a:spcBef>
                  <a:spcPct val="0"/>
                </a:spcBef>
              </a:pPr>
              <a:t>4</a:t>
            </a:fld>
            <a:endParaRPr lang="en-US" altLang="en-US"/>
          </a:p>
        </p:txBody>
      </p:sp>
      <p:sp>
        <p:nvSpPr>
          <p:cNvPr id="24578" name="Rectangle 2">
            <a:extLst>
              <a:ext uri="{FF2B5EF4-FFF2-40B4-BE49-F238E27FC236}">
                <a16:creationId xmlns:a16="http://schemas.microsoft.com/office/drawing/2014/main" id="{64C2EEDA-3F8B-BA0A-7D03-8E4D881A861B}"/>
              </a:ext>
            </a:extLst>
          </p:cNvPr>
          <p:cNvSpPr>
            <a:spLocks noGrp="1" noRot="1" noChangeAspect="1" noChangeArrowheads="1" noTextEdit="1"/>
          </p:cNvSpPr>
          <p:nvPr>
            <p:ph type="sldImg"/>
          </p:nvPr>
        </p:nvSpPr>
        <p:spPr>
          <a:xfrm>
            <a:off x="393700" y="692150"/>
            <a:ext cx="6070600" cy="3416300"/>
          </a:xfrm>
          <a:ln/>
        </p:spPr>
      </p:sp>
      <p:sp>
        <p:nvSpPr>
          <p:cNvPr id="21507" name="Rectangle 3">
            <a:extLst>
              <a:ext uri="{FF2B5EF4-FFF2-40B4-BE49-F238E27FC236}">
                <a16:creationId xmlns:a16="http://schemas.microsoft.com/office/drawing/2014/main" id="{3BA36120-A374-7D89-CDC8-87A421117675}"/>
              </a:ext>
            </a:extLst>
          </p:cNvPr>
          <p:cNvSpPr>
            <a:spLocks noGrp="1" noChangeArrowheads="1"/>
          </p:cNvSpPr>
          <p:nvPr>
            <p:ph type="body" idx="1"/>
          </p:nvPr>
        </p:nvSpPr>
        <p:spPr>
          <a:xfrm>
            <a:off x="914400" y="4343400"/>
            <a:ext cx="5029200" cy="4114800"/>
          </a:xfrm>
        </p:spPr>
        <p:txBody>
          <a:bodyPr/>
          <a:lstStyle/>
          <a:p>
            <a:pPr eaLnBrk="1" hangingPunct="1">
              <a:defRPr/>
            </a:pPr>
            <a:endParaRPr lang="en-US">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9E7D9EF8-D41E-E338-4A4B-9D1008543C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992C847-DC77-7044-A515-EC6673EBCFE6}" type="slidenum">
              <a:rPr lang="en-US" altLang="en-US" smtClean="0"/>
              <a:pPr>
                <a:spcBef>
                  <a:spcPct val="0"/>
                </a:spcBef>
              </a:pPr>
              <a:t>5</a:t>
            </a:fld>
            <a:endParaRPr lang="en-US" altLang="en-US"/>
          </a:p>
        </p:txBody>
      </p:sp>
      <p:sp>
        <p:nvSpPr>
          <p:cNvPr id="26626" name="Rectangle 2">
            <a:extLst>
              <a:ext uri="{FF2B5EF4-FFF2-40B4-BE49-F238E27FC236}">
                <a16:creationId xmlns:a16="http://schemas.microsoft.com/office/drawing/2014/main" id="{E85AE219-489A-7A56-09F3-D5675D11FFC7}"/>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7CE25CE8-CA1D-095A-DE44-311D3F0B0820}"/>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6813A69B-0DD8-B2B8-A318-8D69F01D1665}"/>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500A4E46-9B3F-826D-5130-82523BBEEC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Shifting gears a bit</a:t>
            </a:r>
          </a:p>
        </p:txBody>
      </p:sp>
      <p:sp>
        <p:nvSpPr>
          <p:cNvPr id="28675" name="Slide Number Placeholder 3">
            <a:extLst>
              <a:ext uri="{FF2B5EF4-FFF2-40B4-BE49-F238E27FC236}">
                <a16:creationId xmlns:a16="http://schemas.microsoft.com/office/drawing/2014/main" id="{9450E26D-8347-62FD-53EF-344B0F7F3E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D421036-51D3-8F48-BDD1-8260AA783B3D}" type="slidenum">
              <a:rPr lang="en-US" altLang="en-US" smtClean="0"/>
              <a:pPr>
                <a:spcBef>
                  <a:spcPct val="0"/>
                </a:spcBef>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F3C47D2E-52B5-E67C-30FD-94356E80037E}"/>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3CACF400-1255-AE13-061E-3765A0F6C9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The first worm was written by someone with no malicious intent, just for curiosity and fun. Things are very different today</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Great writeup here</a:t>
            </a:r>
          </a:p>
          <a:p>
            <a:r>
              <a:rPr lang="en-US" altLang="en-US">
                <a:latin typeface="Arial" panose="020B0604020202020204" pitchFamily="34" charset="0"/>
                <a:ea typeface="ＭＳ Ｐゴシック" panose="020B0600070205080204" pitchFamily="34" charset="-128"/>
                <a:hlinkClick r:id="rId3"/>
              </a:rPr>
              <a:t>http://www.washingtonpost.com/blogs/the-switch/wp/2013/11/01/how-a-grad-student-trying-to-build-the-first-botnet-brought-the-internet-to-its-knees/</a:t>
            </a:r>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(Accidentally said in class that he was in college, actually grad school)</a:t>
            </a:r>
          </a:p>
        </p:txBody>
      </p:sp>
      <p:sp>
        <p:nvSpPr>
          <p:cNvPr id="30723" name="Slide Number Placeholder 3">
            <a:extLst>
              <a:ext uri="{FF2B5EF4-FFF2-40B4-BE49-F238E27FC236}">
                <a16:creationId xmlns:a16="http://schemas.microsoft.com/office/drawing/2014/main" id="{BA4B0AF5-6BDD-E680-1A0B-027AEF6CD7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547B8CF-38BC-E049-AFA8-79D5AF8974AF}" type="slidenum">
              <a:rPr lang="en-US" altLang="en-US" smtClean="0"/>
              <a:pPr>
                <a:spcBef>
                  <a:spcPct val="0"/>
                </a:spcBef>
              </a:pPr>
              <a:t>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4C4FC845-B1B4-9B2F-F09C-37D1284D95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DB456D0-D25D-6548-B4AA-CC39F5EBD3E4}" type="slidenum">
              <a:rPr lang="en-US" altLang="en-US" smtClean="0"/>
              <a:pPr>
                <a:spcBef>
                  <a:spcPct val="0"/>
                </a:spcBef>
              </a:pPr>
              <a:t>8</a:t>
            </a:fld>
            <a:endParaRPr lang="en-US" altLang="en-US"/>
          </a:p>
        </p:txBody>
      </p:sp>
      <p:sp>
        <p:nvSpPr>
          <p:cNvPr id="32770" name="Rectangle 2">
            <a:extLst>
              <a:ext uri="{FF2B5EF4-FFF2-40B4-BE49-F238E27FC236}">
                <a16:creationId xmlns:a16="http://schemas.microsoft.com/office/drawing/2014/main" id="{215DF773-B0CC-73CE-60FE-8CE622D3515F}"/>
              </a:ext>
            </a:extLst>
          </p:cNvPr>
          <p:cNvSpPr>
            <a:spLocks noGrp="1" noRot="1" noChangeAspect="1" noChangeArrowheads="1" noTextEdit="1"/>
          </p:cNvSpPr>
          <p:nvPr>
            <p:ph type="sldImg"/>
          </p:nvPr>
        </p:nvSpPr>
        <p:spPr>
          <a:xfrm>
            <a:off x="393700" y="692150"/>
            <a:ext cx="6070600" cy="3416300"/>
          </a:xfrm>
          <a:ln/>
        </p:spPr>
      </p:sp>
      <p:sp>
        <p:nvSpPr>
          <p:cNvPr id="31747" name="Rectangle 3">
            <a:extLst>
              <a:ext uri="{FF2B5EF4-FFF2-40B4-BE49-F238E27FC236}">
                <a16:creationId xmlns:a16="http://schemas.microsoft.com/office/drawing/2014/main" id="{66EDDF05-0703-935C-4C0D-2B8310CE9DBD}"/>
              </a:ext>
            </a:extLst>
          </p:cNvPr>
          <p:cNvSpPr>
            <a:spLocks noGrp="1" noChangeArrowheads="1"/>
          </p:cNvSpPr>
          <p:nvPr>
            <p:ph type="body" idx="1"/>
          </p:nvPr>
        </p:nvSpPr>
        <p:spPr>
          <a:xfrm>
            <a:off x="914400" y="4343400"/>
            <a:ext cx="5029200" cy="4114800"/>
          </a:xfrm>
        </p:spPr>
        <p:txBody>
          <a:bodyPr/>
          <a:lstStyle/>
          <a:p>
            <a:pPr eaLnBrk="1" hangingPunct="1">
              <a:defRPr/>
            </a:pPr>
            <a:endParaRPr lang="en-US">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9493802-6B93-A2AE-D1CE-DF316E13A8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B30A685-661E-2C47-AF52-BFD0CCB24F16}" type="slidenum">
              <a:rPr lang="en-US" altLang="en-US" smtClean="0"/>
              <a:pPr>
                <a:spcBef>
                  <a:spcPct val="0"/>
                </a:spcBef>
              </a:pPr>
              <a:t>9</a:t>
            </a:fld>
            <a:endParaRPr lang="en-US" altLang="en-US"/>
          </a:p>
        </p:txBody>
      </p:sp>
      <p:sp>
        <p:nvSpPr>
          <p:cNvPr id="34818" name="Rectangle 2">
            <a:extLst>
              <a:ext uri="{FF2B5EF4-FFF2-40B4-BE49-F238E27FC236}">
                <a16:creationId xmlns:a16="http://schemas.microsoft.com/office/drawing/2014/main" id="{7D83756C-EAB4-6837-311C-D614E4DC21F1}"/>
              </a:ext>
            </a:extLst>
          </p:cNvPr>
          <p:cNvSpPr>
            <a:spLocks noGrp="1" noRot="1" noChangeAspect="1" noChangeArrowheads="1" noTextEdit="1"/>
          </p:cNvSpPr>
          <p:nvPr>
            <p:ph type="sldImg"/>
          </p:nvPr>
        </p:nvSpPr>
        <p:spPr>
          <a:xfrm>
            <a:off x="393700" y="692150"/>
            <a:ext cx="6070600" cy="3416300"/>
          </a:xfrm>
          <a:ln/>
        </p:spPr>
      </p:sp>
      <p:sp>
        <p:nvSpPr>
          <p:cNvPr id="33795" name="Rectangle 3">
            <a:extLst>
              <a:ext uri="{FF2B5EF4-FFF2-40B4-BE49-F238E27FC236}">
                <a16:creationId xmlns:a16="http://schemas.microsoft.com/office/drawing/2014/main" id="{732E35AB-5D84-F4B3-79AC-2812FEB4754B}"/>
              </a:ext>
            </a:extLst>
          </p:cNvPr>
          <p:cNvSpPr>
            <a:spLocks noGrp="1" noChangeArrowheads="1"/>
          </p:cNvSpPr>
          <p:nvPr>
            <p:ph type="body" idx="1"/>
          </p:nvPr>
        </p:nvSpPr>
        <p:spPr>
          <a:xfrm>
            <a:off x="914400" y="4343400"/>
            <a:ext cx="5029200" cy="4114800"/>
          </a:xfrm>
        </p:spPr>
        <p:txBody>
          <a:bodyPr/>
          <a:lstStyle/>
          <a:p>
            <a:pPr eaLnBrk="1" hangingPunct="1">
              <a:defRPr/>
            </a:pPr>
            <a:endParaRPr lang="en-US">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B847569D-396E-983D-1ECD-0AF33C9DB7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80CC4C6-B711-4F41-B016-7F9B5AD81A62}" type="slidenum">
              <a:rPr lang="en-US" altLang="en-US" smtClean="0"/>
              <a:pPr>
                <a:spcBef>
                  <a:spcPct val="0"/>
                </a:spcBef>
              </a:pPr>
              <a:t>10</a:t>
            </a:fld>
            <a:endParaRPr lang="en-US" altLang="en-US"/>
          </a:p>
        </p:txBody>
      </p:sp>
      <p:sp>
        <p:nvSpPr>
          <p:cNvPr id="36866" name="Rectangle 2">
            <a:extLst>
              <a:ext uri="{FF2B5EF4-FFF2-40B4-BE49-F238E27FC236}">
                <a16:creationId xmlns:a16="http://schemas.microsoft.com/office/drawing/2014/main" id="{2968E400-BE9E-7E80-375A-DBC0C9B0CE92}"/>
              </a:ext>
            </a:extLst>
          </p:cNvPr>
          <p:cNvSpPr>
            <a:spLocks noGrp="1" noRot="1" noChangeAspect="1" noChangeArrowheads="1" noTextEdit="1"/>
          </p:cNvSpPr>
          <p:nvPr>
            <p:ph type="sldImg"/>
          </p:nvPr>
        </p:nvSpPr>
        <p:spPr>
          <a:xfrm>
            <a:off x="385763" y="685800"/>
            <a:ext cx="6091237" cy="3427413"/>
          </a:xfrm>
          <a:ln/>
        </p:spPr>
      </p:sp>
      <p:sp>
        <p:nvSpPr>
          <p:cNvPr id="129027" name="Rectangle 3">
            <a:extLst>
              <a:ext uri="{FF2B5EF4-FFF2-40B4-BE49-F238E27FC236}">
                <a16:creationId xmlns:a16="http://schemas.microsoft.com/office/drawing/2014/main" id="{E9CE036E-FF4F-E37F-89A5-CD3D8D5FF2AA}"/>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CECC15BE-B83F-34AD-4B77-F4B0A94BC8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DD472D6-D749-314B-A405-265E6BF09FAF}" type="slidenum">
              <a:rPr lang="en-US" altLang="en-US" smtClean="0"/>
              <a:pPr>
                <a:spcBef>
                  <a:spcPct val="0"/>
                </a:spcBef>
              </a:pPr>
              <a:t>12</a:t>
            </a:fld>
            <a:endParaRPr lang="en-US" altLang="en-US"/>
          </a:p>
        </p:txBody>
      </p:sp>
      <p:sp>
        <p:nvSpPr>
          <p:cNvPr id="39938" name="Rectangle 2">
            <a:extLst>
              <a:ext uri="{FF2B5EF4-FFF2-40B4-BE49-F238E27FC236}">
                <a16:creationId xmlns:a16="http://schemas.microsoft.com/office/drawing/2014/main" id="{6D6EDB6A-DC63-61EE-0B6C-8D06EE1EBA54}"/>
              </a:ext>
            </a:extLst>
          </p:cNvPr>
          <p:cNvSpPr>
            <a:spLocks noGrp="1" noRot="1" noChangeAspect="1" noChangeArrowheads="1" noTextEdit="1"/>
          </p:cNvSpPr>
          <p:nvPr>
            <p:ph type="sldImg"/>
          </p:nvPr>
        </p:nvSpPr>
        <p:spPr>
          <a:xfrm>
            <a:off x="385763" y="685800"/>
            <a:ext cx="6091237" cy="3427413"/>
          </a:xfrm>
          <a:ln/>
        </p:spPr>
      </p:sp>
      <p:sp>
        <p:nvSpPr>
          <p:cNvPr id="131075" name="Rectangle 3">
            <a:extLst>
              <a:ext uri="{FF2B5EF4-FFF2-40B4-BE49-F238E27FC236}">
                <a16:creationId xmlns:a16="http://schemas.microsoft.com/office/drawing/2014/main" id="{D1BBB1DE-0CB3-D118-7EFE-18E2C10BBA38}"/>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EA1DF652-0876-32AC-C298-2FA74907B2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DA99227-6A07-7E4F-AA5C-8E39B7637425}" type="slidenum">
              <a:rPr lang="en-US" altLang="en-US" smtClean="0"/>
              <a:pPr>
                <a:spcBef>
                  <a:spcPct val="0"/>
                </a:spcBef>
              </a:pPr>
              <a:t>13</a:t>
            </a:fld>
            <a:endParaRPr lang="en-US" altLang="en-US"/>
          </a:p>
        </p:txBody>
      </p:sp>
      <p:sp>
        <p:nvSpPr>
          <p:cNvPr id="41986" name="Rectangle 2">
            <a:extLst>
              <a:ext uri="{FF2B5EF4-FFF2-40B4-BE49-F238E27FC236}">
                <a16:creationId xmlns:a16="http://schemas.microsoft.com/office/drawing/2014/main" id="{146E5112-E17B-D23A-F0D5-5EECB3951EC8}"/>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D3DC1E2B-E151-1397-5833-A71FBD9F4355}"/>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101683A5-B2DB-58EC-9492-48AE2445B9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3FA84EB-5D4E-404F-95C7-D2C5AE0A7764}" type="slidenum">
              <a:rPr lang="en-US" altLang="en-US" smtClean="0"/>
              <a:pPr>
                <a:spcBef>
                  <a:spcPct val="0"/>
                </a:spcBef>
              </a:pPr>
              <a:t>14</a:t>
            </a:fld>
            <a:endParaRPr lang="en-US" altLang="en-US"/>
          </a:p>
        </p:txBody>
      </p:sp>
      <p:sp>
        <p:nvSpPr>
          <p:cNvPr id="44034" name="Rectangle 2">
            <a:extLst>
              <a:ext uri="{FF2B5EF4-FFF2-40B4-BE49-F238E27FC236}">
                <a16:creationId xmlns:a16="http://schemas.microsoft.com/office/drawing/2014/main" id="{E0DBCF78-3371-5D1F-9F22-6E817ED30879}"/>
              </a:ext>
            </a:extLst>
          </p:cNvPr>
          <p:cNvSpPr>
            <a:spLocks noGrp="1" noRot="1" noChangeAspect="1" noChangeArrowheads="1" noTextEdit="1"/>
          </p:cNvSpPr>
          <p:nvPr>
            <p:ph type="sldImg"/>
          </p:nvPr>
        </p:nvSpPr>
        <p:spPr>
          <a:xfrm>
            <a:off x="385763" y="685800"/>
            <a:ext cx="6091237" cy="3427413"/>
          </a:xfrm>
          <a:ln/>
        </p:spPr>
      </p:sp>
      <p:sp>
        <p:nvSpPr>
          <p:cNvPr id="133123" name="Rectangle 3">
            <a:extLst>
              <a:ext uri="{FF2B5EF4-FFF2-40B4-BE49-F238E27FC236}">
                <a16:creationId xmlns:a16="http://schemas.microsoft.com/office/drawing/2014/main" id="{34BE8483-48DC-E957-CB05-F9808E19866E}"/>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F3F93DAB-D4F2-026B-22DB-D1CB972D79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4B4B7435-ED9C-1847-9368-1C3A6A3C5883}" type="slidenum">
              <a:rPr lang="en-US" altLang="en-US" smtClean="0"/>
              <a:pPr>
                <a:spcBef>
                  <a:spcPct val="0"/>
                </a:spcBef>
              </a:pPr>
              <a:t>15</a:t>
            </a:fld>
            <a:endParaRPr lang="en-US" altLang="en-US"/>
          </a:p>
        </p:txBody>
      </p:sp>
      <p:sp>
        <p:nvSpPr>
          <p:cNvPr id="46082" name="Rectangle 2">
            <a:extLst>
              <a:ext uri="{FF2B5EF4-FFF2-40B4-BE49-F238E27FC236}">
                <a16:creationId xmlns:a16="http://schemas.microsoft.com/office/drawing/2014/main" id="{DB406F95-0521-A4D3-A75E-2A796F7C4A8C}"/>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DC8C819A-6674-AA24-8B25-03B01CEE7FF8}"/>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1732399D-14F1-D493-57D3-8EA3331265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4591870-325B-C94E-ACD7-729AB46D1660}" type="slidenum">
              <a:rPr lang="en-US" altLang="en-US" smtClean="0"/>
              <a:pPr>
                <a:spcBef>
                  <a:spcPct val="0"/>
                </a:spcBef>
              </a:pPr>
              <a:t>16</a:t>
            </a:fld>
            <a:endParaRPr lang="en-US" altLang="en-US"/>
          </a:p>
        </p:txBody>
      </p:sp>
      <p:sp>
        <p:nvSpPr>
          <p:cNvPr id="48130" name="Rectangle 2">
            <a:extLst>
              <a:ext uri="{FF2B5EF4-FFF2-40B4-BE49-F238E27FC236}">
                <a16:creationId xmlns:a16="http://schemas.microsoft.com/office/drawing/2014/main" id="{E4537271-7B04-9055-5316-CF0201768F2D}"/>
              </a:ext>
            </a:extLst>
          </p:cNvPr>
          <p:cNvSpPr>
            <a:spLocks noGrp="1" noRot="1" noChangeAspect="1" noChangeArrowheads="1" noTextEdit="1"/>
          </p:cNvSpPr>
          <p:nvPr>
            <p:ph type="sldImg"/>
          </p:nvPr>
        </p:nvSpPr>
        <p:spPr>
          <a:xfrm>
            <a:off x="417513" y="708025"/>
            <a:ext cx="6045200" cy="3402013"/>
          </a:xfrm>
          <a:ln/>
        </p:spPr>
      </p:sp>
      <p:sp>
        <p:nvSpPr>
          <p:cNvPr id="53251" name="Rectangle 3">
            <a:extLst>
              <a:ext uri="{FF2B5EF4-FFF2-40B4-BE49-F238E27FC236}">
                <a16:creationId xmlns:a16="http://schemas.microsoft.com/office/drawing/2014/main" id="{E185E3B8-82B2-BD60-4E12-4FC7F816CDCD}"/>
              </a:ext>
            </a:extLst>
          </p:cNvPr>
          <p:cNvSpPr>
            <a:spLocks noGrp="1" noChangeArrowheads="1"/>
          </p:cNvSpPr>
          <p:nvPr>
            <p:ph type="body" idx="1"/>
          </p:nvPr>
        </p:nvSpPr>
        <p:spPr>
          <a:xfrm>
            <a:off x="914400" y="4343400"/>
            <a:ext cx="5029200" cy="4098925"/>
          </a:xfrm>
        </p:spPr>
        <p:txBody>
          <a:bodyPr/>
          <a:lstStyle/>
          <a:p>
            <a:pPr eaLnBrk="1" hangingPunct="1">
              <a:defRPr/>
            </a:pPr>
            <a:endParaRPr lang="en-US">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56B74588-90AA-24C7-A3E7-57F7CAE476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E2B59C4-DC0C-1344-B9C9-9D384F78704B}" type="slidenum">
              <a:rPr lang="en-US" altLang="en-US" smtClean="0"/>
              <a:pPr>
                <a:spcBef>
                  <a:spcPct val="0"/>
                </a:spcBef>
              </a:pPr>
              <a:t>17</a:t>
            </a:fld>
            <a:endParaRPr lang="en-US" altLang="en-US"/>
          </a:p>
        </p:txBody>
      </p:sp>
      <p:sp>
        <p:nvSpPr>
          <p:cNvPr id="50178" name="Rectangle 2">
            <a:extLst>
              <a:ext uri="{FF2B5EF4-FFF2-40B4-BE49-F238E27FC236}">
                <a16:creationId xmlns:a16="http://schemas.microsoft.com/office/drawing/2014/main" id="{1A8EF605-8C4C-D20A-B40A-4EB2C3114716}"/>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7B8A97AF-AC27-CD2D-1866-1E785294580A}"/>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0A72C48E-8216-F012-E1E5-2C4B03AEFF8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E743C3BB-05D5-7C4F-AD2E-6149EFCC995C}" type="slidenum">
              <a:rPr lang="en-US" altLang="en-US" smtClean="0"/>
              <a:pPr>
                <a:spcBef>
                  <a:spcPct val="0"/>
                </a:spcBef>
              </a:pPr>
              <a:t>18</a:t>
            </a:fld>
            <a:endParaRPr lang="en-US" altLang="en-US"/>
          </a:p>
        </p:txBody>
      </p:sp>
      <p:sp>
        <p:nvSpPr>
          <p:cNvPr id="52226" name="Rectangle 2">
            <a:extLst>
              <a:ext uri="{FF2B5EF4-FFF2-40B4-BE49-F238E27FC236}">
                <a16:creationId xmlns:a16="http://schemas.microsoft.com/office/drawing/2014/main" id="{86EBDED0-3639-8573-2A80-855917589528}"/>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67EFCA30-B28C-9DB0-E1FB-45E9F0AA3D25}"/>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4806A47B-8317-BF5B-F99A-C2D5C5DE3C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09C798A-53F8-714A-87B2-B02807401555}" type="slidenum">
              <a:rPr lang="en-US" altLang="en-US" smtClean="0"/>
              <a:pPr>
                <a:spcBef>
                  <a:spcPct val="0"/>
                </a:spcBef>
              </a:pPr>
              <a:t>19</a:t>
            </a:fld>
            <a:endParaRPr lang="en-US" altLang="en-US"/>
          </a:p>
        </p:txBody>
      </p:sp>
      <p:sp>
        <p:nvSpPr>
          <p:cNvPr id="54274" name="Rectangle 2">
            <a:extLst>
              <a:ext uri="{FF2B5EF4-FFF2-40B4-BE49-F238E27FC236}">
                <a16:creationId xmlns:a16="http://schemas.microsoft.com/office/drawing/2014/main" id="{A5FF4BE5-3FE3-9BD2-F9D1-B39F2A6848B9}"/>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E84EE2CD-9E6B-4F61-3AFC-0D35BC8794D7}"/>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83ED9C13-D589-B12F-A529-B42BDE5BAE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D97AC77-86E5-BE42-9C3E-630B03F2C4CE}" type="slidenum">
              <a:rPr lang="en-US" altLang="en-US" smtClean="0"/>
              <a:pPr>
                <a:spcBef>
                  <a:spcPct val="0"/>
                </a:spcBef>
              </a:pPr>
              <a:t>20</a:t>
            </a:fld>
            <a:endParaRPr lang="en-US" altLang="en-US"/>
          </a:p>
        </p:txBody>
      </p:sp>
      <p:sp>
        <p:nvSpPr>
          <p:cNvPr id="56322" name="Rectangle 2">
            <a:extLst>
              <a:ext uri="{FF2B5EF4-FFF2-40B4-BE49-F238E27FC236}">
                <a16:creationId xmlns:a16="http://schemas.microsoft.com/office/drawing/2014/main" id="{C2D58BBB-1C1A-23DA-03D7-AA3526FD9E08}"/>
              </a:ext>
            </a:extLst>
          </p:cNvPr>
          <p:cNvSpPr>
            <a:spLocks noGrp="1" noRot="1" noChangeAspect="1" noChangeArrowheads="1" noTextEdit="1"/>
          </p:cNvSpPr>
          <p:nvPr>
            <p:ph type="sldImg"/>
          </p:nvPr>
        </p:nvSpPr>
        <p:spPr>
          <a:xfrm>
            <a:off x="385763" y="685800"/>
            <a:ext cx="6091237" cy="3427413"/>
          </a:xfrm>
          <a:ln/>
        </p:spPr>
      </p:sp>
      <p:sp>
        <p:nvSpPr>
          <p:cNvPr id="137219" name="Rectangle 3">
            <a:extLst>
              <a:ext uri="{FF2B5EF4-FFF2-40B4-BE49-F238E27FC236}">
                <a16:creationId xmlns:a16="http://schemas.microsoft.com/office/drawing/2014/main" id="{972EED25-4F14-4981-9995-2DAD2019E9CD}"/>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CDC5EA31-7B35-865D-F1BD-02706FF2072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426B232-F304-E34E-B56B-411C60DE08EF}" type="slidenum">
              <a:rPr lang="en-US" altLang="en-US" smtClean="0"/>
              <a:pPr>
                <a:spcBef>
                  <a:spcPct val="0"/>
                </a:spcBef>
              </a:pPr>
              <a:t>21</a:t>
            </a:fld>
            <a:endParaRPr lang="en-US" altLang="en-US"/>
          </a:p>
        </p:txBody>
      </p:sp>
      <p:sp>
        <p:nvSpPr>
          <p:cNvPr id="58370" name="Rectangle 2">
            <a:extLst>
              <a:ext uri="{FF2B5EF4-FFF2-40B4-BE49-F238E27FC236}">
                <a16:creationId xmlns:a16="http://schemas.microsoft.com/office/drawing/2014/main" id="{8C4250AA-31EF-D899-3BDF-FE2E6A5E61F5}"/>
              </a:ext>
            </a:extLst>
          </p:cNvPr>
          <p:cNvSpPr>
            <a:spLocks noGrp="1" noRot="1" noChangeAspect="1" noChangeArrowheads="1" noTextEdit="1"/>
          </p:cNvSpPr>
          <p:nvPr>
            <p:ph type="sldImg"/>
          </p:nvPr>
        </p:nvSpPr>
        <p:spPr>
          <a:xfrm>
            <a:off x="385763" y="685800"/>
            <a:ext cx="6091237" cy="3427413"/>
          </a:xfrm>
          <a:ln/>
        </p:spPr>
      </p:sp>
      <p:sp>
        <p:nvSpPr>
          <p:cNvPr id="139267" name="Rectangle 3">
            <a:extLst>
              <a:ext uri="{FF2B5EF4-FFF2-40B4-BE49-F238E27FC236}">
                <a16:creationId xmlns:a16="http://schemas.microsoft.com/office/drawing/2014/main" id="{5CB6B985-1C77-B7D1-EB7F-27E1C0F237CD}"/>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305AC806-6273-F8C5-4F8E-35EEB50AB2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1F4BEDD-EEF0-7D40-AAE9-7918998DB4B8}" type="slidenum">
              <a:rPr lang="en-US" altLang="en-US" smtClean="0"/>
              <a:pPr>
                <a:spcBef>
                  <a:spcPct val="0"/>
                </a:spcBef>
              </a:pPr>
              <a:t>22</a:t>
            </a:fld>
            <a:endParaRPr lang="en-US" altLang="en-US"/>
          </a:p>
        </p:txBody>
      </p:sp>
      <p:sp>
        <p:nvSpPr>
          <p:cNvPr id="60418" name="Rectangle 2">
            <a:extLst>
              <a:ext uri="{FF2B5EF4-FFF2-40B4-BE49-F238E27FC236}">
                <a16:creationId xmlns:a16="http://schemas.microsoft.com/office/drawing/2014/main" id="{D72B5B93-D2CE-D26E-7E32-97ECD766E1FC}"/>
              </a:ext>
            </a:extLst>
          </p:cNvPr>
          <p:cNvSpPr>
            <a:spLocks noGrp="1" noRot="1" noChangeAspect="1" noChangeArrowheads="1" noTextEdit="1"/>
          </p:cNvSpPr>
          <p:nvPr>
            <p:ph type="sldImg"/>
          </p:nvPr>
        </p:nvSpPr>
        <p:spPr>
          <a:xfrm>
            <a:off x="385763" y="685800"/>
            <a:ext cx="6091237" cy="3427413"/>
          </a:xfrm>
          <a:ln/>
        </p:spPr>
      </p:sp>
      <p:sp>
        <p:nvSpPr>
          <p:cNvPr id="141315" name="Rectangle 3">
            <a:extLst>
              <a:ext uri="{FF2B5EF4-FFF2-40B4-BE49-F238E27FC236}">
                <a16:creationId xmlns:a16="http://schemas.microsoft.com/office/drawing/2014/main" id="{F328C2E6-3E0C-70C2-3CA4-54089C4ABDE7}"/>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182C809-5DAB-7109-E2BF-BE313504392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25C90EC-1CAD-2940-B33F-A761375AF1C2}" type="slidenum">
              <a:rPr lang="en-US" altLang="en-US" smtClean="0"/>
              <a:pPr>
                <a:spcBef>
                  <a:spcPct val="0"/>
                </a:spcBef>
              </a:pPr>
              <a:t>23</a:t>
            </a:fld>
            <a:endParaRPr lang="en-US" altLang="en-US"/>
          </a:p>
        </p:txBody>
      </p:sp>
      <p:sp>
        <p:nvSpPr>
          <p:cNvPr id="62466" name="Rectangle 2">
            <a:extLst>
              <a:ext uri="{FF2B5EF4-FFF2-40B4-BE49-F238E27FC236}">
                <a16:creationId xmlns:a16="http://schemas.microsoft.com/office/drawing/2014/main" id="{8673D56A-6995-F6BC-AE66-452A7D62CAB9}"/>
              </a:ext>
            </a:extLst>
          </p:cNvPr>
          <p:cNvSpPr>
            <a:spLocks noGrp="1" noRot="1" noChangeAspect="1" noChangeArrowheads="1" noTextEdit="1"/>
          </p:cNvSpPr>
          <p:nvPr>
            <p:ph type="sldImg"/>
          </p:nvPr>
        </p:nvSpPr>
        <p:spPr>
          <a:xfrm>
            <a:off x="385763" y="685800"/>
            <a:ext cx="6091237" cy="3427413"/>
          </a:xfrm>
          <a:ln/>
        </p:spPr>
      </p:sp>
      <p:sp>
        <p:nvSpPr>
          <p:cNvPr id="143363" name="Rectangle 3">
            <a:extLst>
              <a:ext uri="{FF2B5EF4-FFF2-40B4-BE49-F238E27FC236}">
                <a16:creationId xmlns:a16="http://schemas.microsoft.com/office/drawing/2014/main" id="{4688A242-555B-919D-12F0-3A72AF61BFE2}"/>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FEB8BB54-5179-D7BB-38C8-00D1D5A490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E3D81D68-79BD-B04A-B208-DE8B7309673B}" type="slidenum">
              <a:rPr lang="en-US" altLang="en-US" smtClean="0"/>
              <a:pPr>
                <a:spcBef>
                  <a:spcPct val="0"/>
                </a:spcBef>
              </a:pPr>
              <a:t>24</a:t>
            </a:fld>
            <a:endParaRPr lang="en-US" altLang="en-US"/>
          </a:p>
        </p:txBody>
      </p:sp>
      <p:sp>
        <p:nvSpPr>
          <p:cNvPr id="64514" name="Rectangle 2">
            <a:extLst>
              <a:ext uri="{FF2B5EF4-FFF2-40B4-BE49-F238E27FC236}">
                <a16:creationId xmlns:a16="http://schemas.microsoft.com/office/drawing/2014/main" id="{1262458A-9BF6-7BED-C0B7-BD2DF75834DF}"/>
              </a:ext>
            </a:extLst>
          </p:cNvPr>
          <p:cNvSpPr>
            <a:spLocks noGrp="1" noRot="1" noChangeAspect="1" noChangeArrowheads="1" noTextEdit="1"/>
          </p:cNvSpPr>
          <p:nvPr>
            <p:ph type="sldImg"/>
          </p:nvPr>
        </p:nvSpPr>
        <p:spPr>
          <a:xfrm>
            <a:off x="385763" y="685800"/>
            <a:ext cx="6091237" cy="3427413"/>
          </a:xfrm>
          <a:ln/>
        </p:spPr>
      </p:sp>
      <p:sp>
        <p:nvSpPr>
          <p:cNvPr id="145411" name="Rectangle 3">
            <a:extLst>
              <a:ext uri="{FF2B5EF4-FFF2-40B4-BE49-F238E27FC236}">
                <a16:creationId xmlns:a16="http://schemas.microsoft.com/office/drawing/2014/main" id="{B08F6A1F-BDC9-32EC-BEA1-AECC747820A1}"/>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A82AADD9-F48A-65D5-EC45-8D9D94E83D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1CA695B-D410-7F4A-801F-80232D9533D5}" type="slidenum">
              <a:rPr lang="en-US" altLang="en-US" smtClean="0"/>
              <a:pPr>
                <a:spcBef>
                  <a:spcPct val="0"/>
                </a:spcBef>
              </a:pPr>
              <a:t>25</a:t>
            </a:fld>
            <a:endParaRPr lang="en-US" altLang="en-US"/>
          </a:p>
        </p:txBody>
      </p:sp>
      <p:sp>
        <p:nvSpPr>
          <p:cNvPr id="66562" name="Rectangle 2">
            <a:extLst>
              <a:ext uri="{FF2B5EF4-FFF2-40B4-BE49-F238E27FC236}">
                <a16:creationId xmlns:a16="http://schemas.microsoft.com/office/drawing/2014/main" id="{A8535DF5-90B7-5E21-EC6D-67D25FCBEACD}"/>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7F25AC4E-FDDE-74EB-EAA5-433067F32488}"/>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590A3A5B-2704-C18F-D8D8-C498E691963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F254197-28B2-7244-B85E-AABD07F7A3CF}" type="slidenum">
              <a:rPr lang="en-US" altLang="en-US" smtClean="0"/>
              <a:pPr>
                <a:spcBef>
                  <a:spcPct val="0"/>
                </a:spcBef>
              </a:pPr>
              <a:t>26</a:t>
            </a:fld>
            <a:endParaRPr lang="en-US" altLang="en-US"/>
          </a:p>
        </p:txBody>
      </p:sp>
      <p:sp>
        <p:nvSpPr>
          <p:cNvPr id="68610" name="Rectangle 2">
            <a:extLst>
              <a:ext uri="{FF2B5EF4-FFF2-40B4-BE49-F238E27FC236}">
                <a16:creationId xmlns:a16="http://schemas.microsoft.com/office/drawing/2014/main" id="{1C430472-0F71-2F2D-FD8B-ABEB62633519}"/>
              </a:ext>
            </a:extLst>
          </p:cNvPr>
          <p:cNvSpPr>
            <a:spLocks noGrp="1" noRot="1" noChangeAspect="1" noChangeArrowheads="1" noTextEdit="1"/>
          </p:cNvSpPr>
          <p:nvPr>
            <p:ph type="sldImg"/>
          </p:nvPr>
        </p:nvSpPr>
        <p:spPr>
          <a:xfrm>
            <a:off x="381000" y="684213"/>
            <a:ext cx="6097588" cy="3430587"/>
          </a:xfrm>
          <a:ln/>
        </p:spPr>
      </p:sp>
      <p:sp>
        <p:nvSpPr>
          <p:cNvPr id="68611" name="Rectangle 3">
            <a:extLst>
              <a:ext uri="{FF2B5EF4-FFF2-40B4-BE49-F238E27FC236}">
                <a16:creationId xmlns:a16="http://schemas.microsoft.com/office/drawing/2014/main" id="{9029FD06-C779-A077-A61B-15793F4D0CB6}"/>
              </a:ext>
            </a:extLst>
          </p:cNvPr>
          <p:cNvSpPr>
            <a:spLocks noGrp="1" noChangeArrowheads="1"/>
          </p:cNvSpPr>
          <p:nvPr>
            <p:ph type="body" idx="1"/>
          </p:nvPr>
        </p:nvSpPr>
        <p:spPr>
          <a:xfrm>
            <a:off x="912813" y="4344988"/>
            <a:ext cx="5032375"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 Some background on the Code Red worm. Code Red used HTTP get request to buffer overflow vulnerable Windows IIS servers.  It generated 100 threads to scan simultaneously. That</a:t>
            </a:r>
            <a:r>
              <a:rPr lang="ja-JP" altLang="en-US">
                <a:latin typeface="Arial" panose="020B0604020202020204" pitchFamily="34" charset="0"/>
                <a:ea typeface="ＭＳ Ｐゴシック" panose="020B0600070205080204" pitchFamily="34" charset="-128"/>
              </a:rPr>
              <a:t>’</a:t>
            </a:r>
            <a:r>
              <a:rPr lang="en-US" altLang="ja-JP">
                <a:latin typeface="Arial" panose="020B0604020202020204" pitchFamily="34" charset="0"/>
                <a:ea typeface="ＭＳ Ｐゴシック" panose="020B0600070205080204" pitchFamily="34" charset="-128"/>
              </a:rPr>
              <a:t>s one reason why it spread so fast. And since each copy of the worm generated so many scan packets, the huge scan traffic on that day might have caused congestion to the Internet.  </a:t>
            </a:r>
          </a:p>
          <a:p>
            <a:pPr eaLnBrk="1" hangingPunct="1"/>
            <a:r>
              <a:rPr lang="en-US" altLang="en-US">
                <a:latin typeface="Arial" panose="020B0604020202020204" pitchFamily="34" charset="0"/>
                <a:ea typeface="ＭＳ Ｐゴシック" panose="020B0600070205080204" pitchFamily="34" charset="-128"/>
              </a:rPr>
              <a:t> </a:t>
            </a:r>
          </a:p>
          <a:p>
            <a:pPr eaLnBrk="1" hangingPunct="1"/>
            <a:r>
              <a:rPr lang="en-US" altLang="en-US">
                <a:latin typeface="Arial" panose="020B0604020202020204" pitchFamily="34" charset="0"/>
                <a:ea typeface="ＭＳ Ｐゴシック" panose="020B0600070205080204" pitchFamily="34" charset="-128"/>
              </a:rPr>
              <a:t>One important property of the Code Red worm is that it uniformly picked IP addresses to scan. I</a:t>
            </a:r>
            <a:r>
              <a:rPr lang="ja-JP" altLang="en-US">
                <a:latin typeface="Arial" panose="020B0604020202020204" pitchFamily="34" charset="0"/>
                <a:ea typeface="ＭＳ Ｐゴシック" panose="020B0600070205080204" pitchFamily="34" charset="-128"/>
              </a:rPr>
              <a:t>’</a:t>
            </a:r>
            <a:r>
              <a:rPr lang="en-US" altLang="ja-JP">
                <a:latin typeface="Arial" panose="020B0604020202020204" pitchFamily="34" charset="0"/>
                <a:ea typeface="ＭＳ Ｐゴシック" panose="020B0600070205080204" pitchFamily="34" charset="-128"/>
              </a:rPr>
              <a:t>ll discuss this property several times later.</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AE4E6D95-C3E6-5B2B-9CC2-91FEF43209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12CE663-1B6C-8746-AB2D-F5641E3A1B5D}" type="slidenum">
              <a:rPr lang="en-US" altLang="en-US" smtClean="0"/>
              <a:pPr>
                <a:spcBef>
                  <a:spcPct val="0"/>
                </a:spcBef>
              </a:pPr>
              <a:t>27</a:t>
            </a:fld>
            <a:endParaRPr lang="en-US" altLang="en-US"/>
          </a:p>
        </p:txBody>
      </p:sp>
      <p:sp>
        <p:nvSpPr>
          <p:cNvPr id="70658" name="Rectangle 2">
            <a:extLst>
              <a:ext uri="{FF2B5EF4-FFF2-40B4-BE49-F238E27FC236}">
                <a16:creationId xmlns:a16="http://schemas.microsoft.com/office/drawing/2014/main" id="{384DEF6F-6FCF-FA37-0941-E1DE79E7715C}"/>
              </a:ext>
            </a:extLst>
          </p:cNvPr>
          <p:cNvSpPr>
            <a:spLocks noGrp="1" noRot="1" noChangeAspect="1" noChangeArrowheads="1" noTextEdit="1"/>
          </p:cNvSpPr>
          <p:nvPr>
            <p:ph type="sldImg"/>
          </p:nvPr>
        </p:nvSpPr>
        <p:spPr>
          <a:xfrm>
            <a:off x="385763" y="685800"/>
            <a:ext cx="6091237" cy="3427413"/>
          </a:xfrm>
          <a:ln/>
        </p:spPr>
      </p:sp>
      <p:sp>
        <p:nvSpPr>
          <p:cNvPr id="92163" name="Rectangle 3">
            <a:extLst>
              <a:ext uri="{FF2B5EF4-FFF2-40B4-BE49-F238E27FC236}">
                <a16:creationId xmlns:a16="http://schemas.microsoft.com/office/drawing/2014/main" id="{D3DE2458-AFCC-68F5-E933-1F44CCFDA877}"/>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83C154D8-9FA2-B530-6877-D78AE7424D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C65D95F-B209-694C-A129-70DD20DE2613}" type="slidenum">
              <a:rPr lang="en-US" altLang="en-US" smtClean="0"/>
              <a:pPr>
                <a:spcBef>
                  <a:spcPct val="0"/>
                </a:spcBef>
              </a:pPr>
              <a:t>28</a:t>
            </a:fld>
            <a:endParaRPr lang="en-US" altLang="en-US"/>
          </a:p>
        </p:txBody>
      </p:sp>
      <p:sp>
        <p:nvSpPr>
          <p:cNvPr id="72706" name="Rectangle 2">
            <a:extLst>
              <a:ext uri="{FF2B5EF4-FFF2-40B4-BE49-F238E27FC236}">
                <a16:creationId xmlns:a16="http://schemas.microsoft.com/office/drawing/2014/main" id="{A73E436A-F1A0-A1B4-995F-D6B34C04B2F0}"/>
              </a:ext>
            </a:extLst>
          </p:cNvPr>
          <p:cNvSpPr>
            <a:spLocks noGrp="1" noRot="1" noChangeAspect="1" noChangeArrowheads="1" noTextEdit="1"/>
          </p:cNvSpPr>
          <p:nvPr>
            <p:ph type="sldImg"/>
          </p:nvPr>
        </p:nvSpPr>
        <p:spPr>
          <a:xfrm>
            <a:off x="385763" y="685800"/>
            <a:ext cx="6091237" cy="3427413"/>
          </a:xfrm>
          <a:ln/>
        </p:spPr>
      </p:sp>
      <p:sp>
        <p:nvSpPr>
          <p:cNvPr id="94211" name="Rectangle 3">
            <a:extLst>
              <a:ext uri="{FF2B5EF4-FFF2-40B4-BE49-F238E27FC236}">
                <a16:creationId xmlns:a16="http://schemas.microsoft.com/office/drawing/2014/main" id="{2CC1A49E-3E17-813C-B2A2-B801DB693816}"/>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EAC99129-8A33-E537-0C50-0C135DFDFAB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386C90D8-67A2-F144-B136-979628268C10}" type="slidenum">
              <a:rPr lang="en-US" altLang="en-US" smtClean="0"/>
              <a:pPr>
                <a:spcBef>
                  <a:spcPct val="0"/>
                </a:spcBef>
              </a:pPr>
              <a:t>29</a:t>
            </a:fld>
            <a:endParaRPr lang="en-US" altLang="en-US"/>
          </a:p>
        </p:txBody>
      </p:sp>
      <p:sp>
        <p:nvSpPr>
          <p:cNvPr id="74754" name="Rectangle 2">
            <a:extLst>
              <a:ext uri="{FF2B5EF4-FFF2-40B4-BE49-F238E27FC236}">
                <a16:creationId xmlns:a16="http://schemas.microsoft.com/office/drawing/2014/main" id="{FE58B83F-0FDC-EF41-D107-31F60A2654FA}"/>
              </a:ext>
            </a:extLst>
          </p:cNvPr>
          <p:cNvSpPr>
            <a:spLocks noGrp="1" noRot="1" noChangeAspect="1" noChangeArrowheads="1" noTextEdit="1"/>
          </p:cNvSpPr>
          <p:nvPr>
            <p:ph type="sldImg"/>
          </p:nvPr>
        </p:nvSpPr>
        <p:spPr>
          <a:xfrm>
            <a:off x="385763" y="685800"/>
            <a:ext cx="6091237" cy="3427413"/>
          </a:xfrm>
          <a:ln/>
        </p:spPr>
      </p:sp>
      <p:sp>
        <p:nvSpPr>
          <p:cNvPr id="96259" name="Rectangle 3">
            <a:extLst>
              <a:ext uri="{FF2B5EF4-FFF2-40B4-BE49-F238E27FC236}">
                <a16:creationId xmlns:a16="http://schemas.microsoft.com/office/drawing/2014/main" id="{0D989BE4-3E7F-28F6-3D2C-BDF056F713F5}"/>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B0F1D8E5-4321-C4A8-7BEC-39289EC46D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4B94775-955C-0B4A-B820-AA0D64C2A2C9}" type="slidenum">
              <a:rPr lang="en-US" altLang="en-US" smtClean="0"/>
              <a:pPr>
                <a:spcBef>
                  <a:spcPct val="0"/>
                </a:spcBef>
              </a:pPr>
              <a:t>30</a:t>
            </a:fld>
            <a:endParaRPr lang="en-US" altLang="en-US"/>
          </a:p>
        </p:txBody>
      </p:sp>
      <p:sp>
        <p:nvSpPr>
          <p:cNvPr id="76802" name="Rectangle 2">
            <a:extLst>
              <a:ext uri="{FF2B5EF4-FFF2-40B4-BE49-F238E27FC236}">
                <a16:creationId xmlns:a16="http://schemas.microsoft.com/office/drawing/2014/main" id="{F7DAF0A1-3449-65D3-6F1A-D66725F06394}"/>
              </a:ext>
            </a:extLst>
          </p:cNvPr>
          <p:cNvSpPr>
            <a:spLocks noGrp="1" noRot="1" noChangeAspect="1" noChangeArrowheads="1" noTextEdit="1"/>
          </p:cNvSpPr>
          <p:nvPr>
            <p:ph type="sldImg"/>
          </p:nvPr>
        </p:nvSpPr>
        <p:spPr>
          <a:xfrm>
            <a:off x="385763" y="685800"/>
            <a:ext cx="6091237" cy="3427413"/>
          </a:xfrm>
          <a:ln/>
        </p:spPr>
      </p:sp>
      <p:sp>
        <p:nvSpPr>
          <p:cNvPr id="98307" name="Rectangle 3">
            <a:extLst>
              <a:ext uri="{FF2B5EF4-FFF2-40B4-BE49-F238E27FC236}">
                <a16:creationId xmlns:a16="http://schemas.microsoft.com/office/drawing/2014/main" id="{99C20886-29F5-EA14-D6D3-1706E0DED294}"/>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9B14F538-BA6F-C6DC-C995-41F1F25CFD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4B6DC635-C120-704D-8E69-35F260E22064}" type="slidenum">
              <a:rPr lang="en-US" altLang="en-US" smtClean="0"/>
              <a:pPr>
                <a:spcBef>
                  <a:spcPct val="0"/>
                </a:spcBef>
              </a:pPr>
              <a:t>31</a:t>
            </a:fld>
            <a:endParaRPr lang="en-US" altLang="en-US"/>
          </a:p>
        </p:txBody>
      </p:sp>
      <p:sp>
        <p:nvSpPr>
          <p:cNvPr id="78850" name="Rectangle 2">
            <a:extLst>
              <a:ext uri="{FF2B5EF4-FFF2-40B4-BE49-F238E27FC236}">
                <a16:creationId xmlns:a16="http://schemas.microsoft.com/office/drawing/2014/main" id="{45F365AA-9FE9-B022-EA35-2DCE5A5ACCA1}"/>
              </a:ext>
            </a:extLst>
          </p:cNvPr>
          <p:cNvSpPr>
            <a:spLocks noGrp="1" noRot="1" noChangeAspect="1" noChangeArrowheads="1" noTextEdit="1"/>
          </p:cNvSpPr>
          <p:nvPr>
            <p:ph type="sldImg"/>
          </p:nvPr>
        </p:nvSpPr>
        <p:spPr>
          <a:xfrm>
            <a:off x="385763" y="685800"/>
            <a:ext cx="6091237" cy="3427413"/>
          </a:xfrm>
          <a:ln/>
        </p:spPr>
      </p:sp>
      <p:sp>
        <p:nvSpPr>
          <p:cNvPr id="100355" name="Rectangle 3">
            <a:extLst>
              <a:ext uri="{FF2B5EF4-FFF2-40B4-BE49-F238E27FC236}">
                <a16:creationId xmlns:a16="http://schemas.microsoft.com/office/drawing/2014/main" id="{3524A6F8-600E-0F05-DFAA-11D796F1B780}"/>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30A66C48-40C8-86A5-FF7E-715CBC6E34A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168BFD9-6B44-7241-9F7D-979AE19B1459}" type="slidenum">
              <a:rPr lang="en-US" altLang="en-US" smtClean="0"/>
              <a:pPr>
                <a:spcBef>
                  <a:spcPct val="0"/>
                </a:spcBef>
              </a:pPr>
              <a:t>32</a:t>
            </a:fld>
            <a:endParaRPr lang="en-US" altLang="en-US"/>
          </a:p>
        </p:txBody>
      </p:sp>
      <p:sp>
        <p:nvSpPr>
          <p:cNvPr id="80898" name="Rectangle 2">
            <a:extLst>
              <a:ext uri="{FF2B5EF4-FFF2-40B4-BE49-F238E27FC236}">
                <a16:creationId xmlns:a16="http://schemas.microsoft.com/office/drawing/2014/main" id="{6EE5D6EB-0BBE-B629-E378-FD9BAAEEDE6B}"/>
              </a:ext>
            </a:extLst>
          </p:cNvPr>
          <p:cNvSpPr>
            <a:spLocks noGrp="1" noRot="1" noChangeAspect="1" noChangeArrowheads="1" noTextEdit="1"/>
          </p:cNvSpPr>
          <p:nvPr>
            <p:ph type="sldImg"/>
          </p:nvPr>
        </p:nvSpPr>
        <p:spPr>
          <a:xfrm>
            <a:off x="385763" y="685800"/>
            <a:ext cx="6091237" cy="3427413"/>
          </a:xfrm>
          <a:ln/>
        </p:spPr>
      </p:sp>
      <p:sp>
        <p:nvSpPr>
          <p:cNvPr id="102403" name="Rectangle 3">
            <a:extLst>
              <a:ext uri="{FF2B5EF4-FFF2-40B4-BE49-F238E27FC236}">
                <a16:creationId xmlns:a16="http://schemas.microsoft.com/office/drawing/2014/main" id="{1FFF0F32-5F5C-AF9E-2A22-2D1FADA94ED1}"/>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B3541DE1-0B0C-D770-9EA4-DB7922FA22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CA9E9FF-B3DF-B64C-89FF-06FD26763013}" type="slidenum">
              <a:rPr lang="en-US" altLang="en-US" smtClean="0"/>
              <a:pPr>
                <a:spcBef>
                  <a:spcPct val="0"/>
                </a:spcBef>
              </a:pPr>
              <a:t>33</a:t>
            </a:fld>
            <a:endParaRPr lang="en-US" altLang="en-US"/>
          </a:p>
        </p:txBody>
      </p:sp>
      <p:sp>
        <p:nvSpPr>
          <p:cNvPr id="82946" name="Rectangle 2">
            <a:extLst>
              <a:ext uri="{FF2B5EF4-FFF2-40B4-BE49-F238E27FC236}">
                <a16:creationId xmlns:a16="http://schemas.microsoft.com/office/drawing/2014/main" id="{B47E64A9-6055-7691-5689-499EE5FFDD0B}"/>
              </a:ext>
            </a:extLst>
          </p:cNvPr>
          <p:cNvSpPr>
            <a:spLocks noGrp="1" noRot="1" noChangeAspect="1" noChangeArrowheads="1" noTextEdit="1"/>
          </p:cNvSpPr>
          <p:nvPr>
            <p:ph type="sldImg"/>
          </p:nvPr>
        </p:nvSpPr>
        <p:spPr>
          <a:xfrm>
            <a:off x="385763" y="685800"/>
            <a:ext cx="6091237" cy="3427413"/>
          </a:xfrm>
          <a:ln/>
        </p:spPr>
      </p:sp>
      <p:sp>
        <p:nvSpPr>
          <p:cNvPr id="122883" name="Rectangle 3">
            <a:extLst>
              <a:ext uri="{FF2B5EF4-FFF2-40B4-BE49-F238E27FC236}">
                <a16:creationId xmlns:a16="http://schemas.microsoft.com/office/drawing/2014/main" id="{23E32161-FEF1-510B-458C-5094B32A7C1C}"/>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5FBAD689-8B7F-0A3F-32D3-C907AB5E0A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25D5382-4A07-8C48-9D5D-CF6174824AA9}" type="slidenum">
              <a:rPr lang="en-US" altLang="en-US" smtClean="0"/>
              <a:pPr>
                <a:spcBef>
                  <a:spcPct val="0"/>
                </a:spcBef>
              </a:pPr>
              <a:t>34</a:t>
            </a:fld>
            <a:endParaRPr lang="en-US" altLang="en-US"/>
          </a:p>
        </p:txBody>
      </p:sp>
      <p:sp>
        <p:nvSpPr>
          <p:cNvPr id="84994" name="Rectangle 2">
            <a:extLst>
              <a:ext uri="{FF2B5EF4-FFF2-40B4-BE49-F238E27FC236}">
                <a16:creationId xmlns:a16="http://schemas.microsoft.com/office/drawing/2014/main" id="{54621D1D-B35B-4BD0-B367-87B8B35B36E8}"/>
              </a:ext>
            </a:extLst>
          </p:cNvPr>
          <p:cNvSpPr>
            <a:spLocks noGrp="1" noRot="1" noChangeAspect="1" noChangeArrowheads="1" noTextEdit="1"/>
          </p:cNvSpPr>
          <p:nvPr>
            <p:ph type="sldImg"/>
          </p:nvPr>
        </p:nvSpPr>
        <p:spPr>
          <a:xfrm>
            <a:off x="385763" y="685800"/>
            <a:ext cx="6091237" cy="3427413"/>
          </a:xfrm>
          <a:ln/>
        </p:spPr>
      </p:sp>
      <p:sp>
        <p:nvSpPr>
          <p:cNvPr id="124931" name="Rectangle 3">
            <a:extLst>
              <a:ext uri="{FF2B5EF4-FFF2-40B4-BE49-F238E27FC236}">
                <a16:creationId xmlns:a16="http://schemas.microsoft.com/office/drawing/2014/main" id="{461D7D1F-2CE4-D974-CB34-E3DCAEB60620}"/>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4D1F2702-1D06-8BAF-70D2-04C312012E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123FBFA-5385-4C47-97E5-8261EBD71642}" type="slidenum">
              <a:rPr lang="en-US" altLang="en-US" smtClean="0"/>
              <a:pPr>
                <a:spcBef>
                  <a:spcPct val="0"/>
                </a:spcBef>
              </a:pPr>
              <a:t>35</a:t>
            </a:fld>
            <a:endParaRPr lang="en-US" altLang="en-US"/>
          </a:p>
        </p:txBody>
      </p:sp>
      <p:sp>
        <p:nvSpPr>
          <p:cNvPr id="87042" name="Rectangle 2">
            <a:extLst>
              <a:ext uri="{FF2B5EF4-FFF2-40B4-BE49-F238E27FC236}">
                <a16:creationId xmlns:a16="http://schemas.microsoft.com/office/drawing/2014/main" id="{0F1FA102-7092-59CC-3C63-4CDE4B966EA4}"/>
              </a:ext>
            </a:extLst>
          </p:cNvPr>
          <p:cNvSpPr>
            <a:spLocks noGrp="1" noRot="1" noChangeAspect="1" noChangeArrowheads="1" noTextEdit="1"/>
          </p:cNvSpPr>
          <p:nvPr>
            <p:ph type="sldImg"/>
          </p:nvPr>
        </p:nvSpPr>
        <p:spPr>
          <a:xfrm>
            <a:off x="385763" y="685800"/>
            <a:ext cx="6091237" cy="3427413"/>
          </a:xfrm>
          <a:ln/>
        </p:spPr>
      </p:sp>
      <p:sp>
        <p:nvSpPr>
          <p:cNvPr id="126979" name="Rectangle 3">
            <a:extLst>
              <a:ext uri="{FF2B5EF4-FFF2-40B4-BE49-F238E27FC236}">
                <a16:creationId xmlns:a16="http://schemas.microsoft.com/office/drawing/2014/main" id="{087BD6F1-9B43-EBFF-7D1E-312650986E84}"/>
              </a:ext>
            </a:extLst>
          </p:cNvPr>
          <p:cNvSpPr>
            <a:spLocks noGrp="1" noChangeArrowheads="1"/>
          </p:cNvSpPr>
          <p:nvPr>
            <p:ph type="body" idx="1"/>
          </p:nvPr>
        </p:nvSpPr>
        <p:spPr>
          <a:xfrm>
            <a:off x="912813" y="4341813"/>
            <a:ext cx="5032375" cy="4116387"/>
          </a:xfrm>
        </p:spPr>
        <p:txBody>
          <a:bodyPr/>
          <a:lstStyle/>
          <a:p>
            <a:pPr eaLnBrk="1" hangingPunct="1">
              <a:defRPr/>
            </a:pPr>
            <a:endParaRPr lang="en-US">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a:extLst>
              <a:ext uri="{FF2B5EF4-FFF2-40B4-BE49-F238E27FC236}">
                <a16:creationId xmlns:a16="http://schemas.microsoft.com/office/drawing/2014/main" id="{3FDE1444-37A2-E3E7-1096-CC16C21FAEAD}"/>
              </a:ext>
            </a:extLst>
          </p:cNvPr>
          <p:cNvSpPr>
            <a:spLocks noGrp="1" noRot="1" noChangeAspect="1" noChangeArrowheads="1" noTextEdit="1"/>
          </p:cNvSpPr>
          <p:nvPr>
            <p:ph type="sldImg"/>
          </p:nvPr>
        </p:nvSpPr>
        <p:spPr>
          <a:ln/>
        </p:spPr>
      </p:sp>
      <p:sp>
        <p:nvSpPr>
          <p:cNvPr id="90114" name="Notes Placeholder 2">
            <a:extLst>
              <a:ext uri="{FF2B5EF4-FFF2-40B4-BE49-F238E27FC236}">
                <a16:creationId xmlns:a16="http://schemas.microsoft.com/office/drawing/2014/main" id="{E8292D42-F7ED-7E43-0DFA-F20DF83FB8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https://www.incapsula.com/blog/malware-analysis-mirai-ddos-botnet.html</a:t>
            </a:r>
          </a:p>
        </p:txBody>
      </p:sp>
      <p:sp>
        <p:nvSpPr>
          <p:cNvPr id="90115" name="Slide Number Placeholder 3">
            <a:extLst>
              <a:ext uri="{FF2B5EF4-FFF2-40B4-BE49-F238E27FC236}">
                <a16:creationId xmlns:a16="http://schemas.microsoft.com/office/drawing/2014/main" id="{39389267-5D2D-5BAD-2BA6-6A154AFFF0C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881A2E5-3B4D-384D-8567-9F758452E6FF}" type="slidenum">
              <a:rPr lang="en-US" altLang="en-US" smtClean="0"/>
              <a:pPr>
                <a:spcBef>
                  <a:spcPct val="0"/>
                </a:spcBef>
              </a:pPr>
              <a:t>37</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C9CAD162-3E19-59C9-F6C7-365D403B47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648D7CA-02E9-C24E-A6E2-341B86E2601C}" type="slidenum">
              <a:rPr lang="en-US" altLang="en-US" smtClean="0"/>
              <a:pPr>
                <a:spcBef>
                  <a:spcPct val="0"/>
                </a:spcBef>
              </a:pPr>
              <a:t>39</a:t>
            </a:fld>
            <a:endParaRPr lang="en-US" altLang="en-US"/>
          </a:p>
        </p:txBody>
      </p:sp>
      <p:sp>
        <p:nvSpPr>
          <p:cNvPr id="93186" name="Rectangle 2">
            <a:extLst>
              <a:ext uri="{FF2B5EF4-FFF2-40B4-BE49-F238E27FC236}">
                <a16:creationId xmlns:a16="http://schemas.microsoft.com/office/drawing/2014/main" id="{4FAC9068-BC43-15FA-4EB4-A0A7CB7D98BB}"/>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A0049216-A06E-2D91-2995-7F81FE7AB727}"/>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AC153B62-794A-CF83-8DFB-E02E879F1D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F3816B3B-07DB-DC47-AD93-94549CB3B8E0}" type="slidenum">
              <a:rPr lang="en-US" altLang="en-US" smtClean="0"/>
              <a:pPr>
                <a:spcBef>
                  <a:spcPct val="0"/>
                </a:spcBef>
              </a:pPr>
              <a:t>40</a:t>
            </a:fld>
            <a:endParaRPr lang="en-US" altLang="en-US"/>
          </a:p>
        </p:txBody>
      </p:sp>
      <p:sp>
        <p:nvSpPr>
          <p:cNvPr id="95234" name="Rectangle 2">
            <a:extLst>
              <a:ext uri="{FF2B5EF4-FFF2-40B4-BE49-F238E27FC236}">
                <a16:creationId xmlns:a16="http://schemas.microsoft.com/office/drawing/2014/main" id="{D23842DA-9CEF-234F-C9C0-FF36A765FDEE}"/>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37537880-308B-4894-1E95-55540CCEC7AD}"/>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51265667-2F2E-BEAD-D658-6C8EA8288AF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454F09CD-639E-164D-BAA2-95D0C1F89F9A}" type="slidenum">
              <a:rPr lang="en-US" altLang="en-US" smtClean="0"/>
              <a:pPr>
                <a:spcBef>
                  <a:spcPct val="0"/>
                </a:spcBef>
              </a:pPr>
              <a:t>41</a:t>
            </a:fld>
            <a:endParaRPr lang="en-US" altLang="en-US"/>
          </a:p>
        </p:txBody>
      </p:sp>
      <p:sp>
        <p:nvSpPr>
          <p:cNvPr id="97282" name="Rectangle 2">
            <a:extLst>
              <a:ext uri="{FF2B5EF4-FFF2-40B4-BE49-F238E27FC236}">
                <a16:creationId xmlns:a16="http://schemas.microsoft.com/office/drawing/2014/main" id="{8F219429-8577-A14D-564A-25EA86EA3BA0}"/>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582FB4A9-9ABF-402A-2BD9-83CE395D6AD5}"/>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a:extLst>
              <a:ext uri="{FF2B5EF4-FFF2-40B4-BE49-F238E27FC236}">
                <a16:creationId xmlns:a16="http://schemas.microsoft.com/office/drawing/2014/main" id="{BA2BD880-8828-D566-4124-426139BB38FC}"/>
              </a:ext>
            </a:extLst>
          </p:cNvPr>
          <p:cNvSpPr>
            <a:spLocks noGrp="1" noRot="1" noChangeAspect="1" noChangeArrowheads="1" noTextEdit="1"/>
          </p:cNvSpPr>
          <p:nvPr>
            <p:ph type="sldImg"/>
          </p:nvPr>
        </p:nvSpPr>
        <p:spPr>
          <a:ln/>
        </p:spPr>
      </p:sp>
      <p:sp>
        <p:nvSpPr>
          <p:cNvPr id="99330" name="Notes Placeholder 2">
            <a:extLst>
              <a:ext uri="{FF2B5EF4-FFF2-40B4-BE49-F238E27FC236}">
                <a16:creationId xmlns:a16="http://schemas.microsoft.com/office/drawing/2014/main" id="{A56D159D-751F-C99A-22F5-39163FF8EB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h-TH" altLang="en-US">
              <a:latin typeface="Times New Roman" panose="02020603050405020304" pitchFamily="18" charset="0"/>
              <a:ea typeface="ＭＳ Ｐゴシック" panose="020B0600070205080204" pitchFamily="34" charset="-128"/>
              <a:cs typeface="Cordia New" panose="020B0304020202020204" pitchFamily="34" charset="-34"/>
            </a:endParaRPr>
          </a:p>
        </p:txBody>
      </p:sp>
      <p:sp>
        <p:nvSpPr>
          <p:cNvPr id="99331" name="Slide Number Placeholder 3">
            <a:extLst>
              <a:ext uri="{FF2B5EF4-FFF2-40B4-BE49-F238E27FC236}">
                <a16:creationId xmlns:a16="http://schemas.microsoft.com/office/drawing/2014/main" id="{BFDA3A5A-B579-3196-1812-74BF27C539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4875">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04875">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04875">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04875">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04875">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B66F195-E03D-7146-B73A-4DF74FCA40E3}" type="slidenum">
              <a:rPr lang="en-US" altLang="en-US" smtClean="0">
                <a:latin typeface="Times New Roman" panose="02020603050405020304" pitchFamily="18" charset="0"/>
              </a:rPr>
              <a:pPr>
                <a:spcBef>
                  <a:spcPct val="0"/>
                </a:spcBef>
              </a:pPr>
              <a:t>42</a:t>
            </a:fld>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8A6BE46C-1E15-D50C-9654-91ED2FBF914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0B630C7-01BF-F449-928B-14E39735987C}" type="slidenum">
              <a:rPr lang="en-US" altLang="en-US" smtClean="0"/>
              <a:pPr>
                <a:spcBef>
                  <a:spcPct val="0"/>
                </a:spcBef>
              </a:pPr>
              <a:t>43</a:t>
            </a:fld>
            <a:endParaRPr lang="en-US" altLang="en-US"/>
          </a:p>
        </p:txBody>
      </p:sp>
      <p:sp>
        <p:nvSpPr>
          <p:cNvPr id="101378" name="Rectangle 2">
            <a:extLst>
              <a:ext uri="{FF2B5EF4-FFF2-40B4-BE49-F238E27FC236}">
                <a16:creationId xmlns:a16="http://schemas.microsoft.com/office/drawing/2014/main" id="{C15E8771-174A-C6BE-C592-99C85BE3E6B1}"/>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0DC7D4C-4CE3-A731-E1D7-2DADBC50B9C2}"/>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ACB12402-B0EC-72CB-E77A-D9EF7794CA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320ABE6D-0345-B64C-89D2-19AEC493E4F0}" type="slidenum">
              <a:rPr lang="en-US" altLang="en-US" smtClean="0"/>
              <a:pPr>
                <a:spcBef>
                  <a:spcPct val="0"/>
                </a:spcBef>
              </a:pPr>
              <a:t>44</a:t>
            </a:fld>
            <a:endParaRPr lang="en-US" altLang="en-US"/>
          </a:p>
        </p:txBody>
      </p:sp>
      <p:sp>
        <p:nvSpPr>
          <p:cNvPr id="103426" name="Rectangle 2">
            <a:extLst>
              <a:ext uri="{FF2B5EF4-FFF2-40B4-BE49-F238E27FC236}">
                <a16:creationId xmlns:a16="http://schemas.microsoft.com/office/drawing/2014/main" id="{9A5872F3-EB2A-8183-34CF-31CF4B248336}"/>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9DEA42F-86A0-654F-5EE0-88D9609A7A7C}"/>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D1BA8EA7-2A97-F408-40E0-4E2855C437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C38EED09-F6B7-FB4E-ADD7-2F84C0137CB6}" type="slidenum">
              <a:rPr lang="en-US" altLang="en-US" smtClean="0"/>
              <a:pPr>
                <a:spcBef>
                  <a:spcPct val="0"/>
                </a:spcBef>
              </a:pPr>
              <a:t>48</a:t>
            </a:fld>
            <a:endParaRPr lang="en-US" altLang="en-US"/>
          </a:p>
        </p:txBody>
      </p:sp>
      <p:sp>
        <p:nvSpPr>
          <p:cNvPr id="108546" name="Rectangle 2">
            <a:extLst>
              <a:ext uri="{FF2B5EF4-FFF2-40B4-BE49-F238E27FC236}">
                <a16:creationId xmlns:a16="http://schemas.microsoft.com/office/drawing/2014/main" id="{4FCBEFAC-2D86-FFC7-5F13-57A6A2F5E8AA}"/>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17198D49-FD84-3896-D3D2-C67A3437FF9F}"/>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9AEB543F-89E0-F6EE-BACF-8B33A660E4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C10F208-66A6-1547-834E-F0D3F8747F33}" type="slidenum">
              <a:rPr lang="en-US" altLang="en-US" smtClean="0"/>
              <a:pPr>
                <a:spcBef>
                  <a:spcPct val="0"/>
                </a:spcBef>
              </a:pPr>
              <a:t>49</a:t>
            </a:fld>
            <a:endParaRPr lang="en-US" altLang="en-US"/>
          </a:p>
        </p:txBody>
      </p:sp>
      <p:sp>
        <p:nvSpPr>
          <p:cNvPr id="110595" name="Rectangle 2">
            <a:extLst>
              <a:ext uri="{FF2B5EF4-FFF2-40B4-BE49-F238E27FC236}">
                <a16:creationId xmlns:a16="http://schemas.microsoft.com/office/drawing/2014/main" id="{FDD8B5FD-7F94-6AC4-2E9A-80640B2C2CF6}"/>
              </a:ext>
            </a:extLst>
          </p:cNvPr>
          <p:cNvSpPr>
            <a:spLocks noGrp="1" noRot="1" noChangeAspect="1" noChangeArrowheads="1" noTextEdit="1"/>
          </p:cNvSpPr>
          <p:nvPr>
            <p:ph type="sldImg"/>
          </p:nvPr>
        </p:nvSpPr>
        <p:spPr>
          <a:xfrm>
            <a:off x="646113" y="912813"/>
            <a:ext cx="5540375" cy="3117850"/>
          </a:xfrm>
          <a:solidFill>
            <a:srgbClr val="FFFFFF"/>
          </a:solidFill>
          <a:ln/>
        </p:spPr>
      </p:sp>
      <p:sp>
        <p:nvSpPr>
          <p:cNvPr id="76803" name="Text Box 3">
            <a:extLst>
              <a:ext uri="{FF2B5EF4-FFF2-40B4-BE49-F238E27FC236}">
                <a16:creationId xmlns:a16="http://schemas.microsoft.com/office/drawing/2014/main" id="{5B325564-A32B-47C6-D898-9D8C0FB79067}"/>
              </a:ext>
            </a:extLst>
          </p:cNvPr>
          <p:cNvSpPr txBox="1">
            <a:spLocks noGrp="1" noChangeArrowheads="1"/>
          </p:cNvSpPr>
          <p:nvPr>
            <p:ph type="body" idx="1"/>
          </p:nvPr>
        </p:nvSpPr>
        <p:spPr>
          <a:xfrm>
            <a:off x="1044575" y="4338638"/>
            <a:ext cx="4749800" cy="3462337"/>
          </a:xfrm>
          <a:ln/>
        </p:spPr>
        <p:txBody>
          <a:bodyPr wrap="none" anchor="ctr"/>
          <a:lstStyle>
            <a:lvl1pPr defTabSz="457200">
              <a:defRPr sz="1200">
                <a:solidFill>
                  <a:schemeClr val="tx1"/>
                </a:solidFill>
                <a:latin typeface="Arial" charset="0"/>
                <a:ea typeface="ＭＳ Ｐゴシック" charset="0"/>
              </a:defRPr>
            </a:lvl1pPr>
            <a:lvl2pPr marL="742950" indent="-285750" defTabSz="457200">
              <a:defRPr sz="1200">
                <a:solidFill>
                  <a:schemeClr val="tx1"/>
                </a:solidFill>
                <a:latin typeface="Arial" charset="0"/>
                <a:ea typeface="ＭＳ Ｐゴシック" charset="0"/>
              </a:defRPr>
            </a:lvl2pPr>
            <a:lvl3pPr marL="1143000" indent="-228600" defTabSz="457200">
              <a:defRPr sz="1200">
                <a:solidFill>
                  <a:schemeClr val="tx1"/>
                </a:solidFill>
                <a:latin typeface="Arial" charset="0"/>
                <a:ea typeface="ＭＳ Ｐゴシック" charset="0"/>
              </a:defRPr>
            </a:lvl3pPr>
            <a:lvl4pPr marL="1600200" indent="-228600" defTabSz="457200">
              <a:defRPr sz="1200">
                <a:solidFill>
                  <a:schemeClr val="tx1"/>
                </a:solidFill>
                <a:latin typeface="Arial" charset="0"/>
                <a:ea typeface="ＭＳ Ｐゴシック" charset="0"/>
              </a:defRPr>
            </a:lvl4pPr>
            <a:lvl5pPr marL="2057400" indent="-228600" defTabSz="457200">
              <a:defRPr sz="1200">
                <a:solidFill>
                  <a:schemeClr val="tx1"/>
                </a:solidFill>
                <a:latin typeface="Arial" charset="0"/>
                <a:ea typeface="ＭＳ Ｐゴシック" charset="0"/>
              </a:defRPr>
            </a:lvl5pPr>
            <a:lvl6pPr marL="2514600" indent="-228600" fontAlgn="base">
              <a:spcBef>
                <a:spcPct val="30000"/>
              </a:spcBef>
              <a:spcAft>
                <a:spcPct val="0"/>
              </a:spcAft>
              <a:defRPr sz="1200">
                <a:solidFill>
                  <a:schemeClr val="tx1"/>
                </a:solidFill>
                <a:latin typeface="Arial" charset="0"/>
                <a:ea typeface="ＭＳ Ｐゴシック" charset="0"/>
              </a:defRPr>
            </a:lvl6pPr>
            <a:lvl7pPr marL="2971800" indent="-228600" fontAlgn="base">
              <a:spcBef>
                <a:spcPct val="30000"/>
              </a:spcBef>
              <a:spcAft>
                <a:spcPct val="0"/>
              </a:spcAft>
              <a:defRPr sz="1200">
                <a:solidFill>
                  <a:schemeClr val="tx1"/>
                </a:solidFill>
                <a:latin typeface="Arial" charset="0"/>
                <a:ea typeface="ＭＳ Ｐゴシック" charset="0"/>
              </a:defRPr>
            </a:lvl7pPr>
            <a:lvl8pPr marL="3429000" indent="-228600" fontAlgn="base">
              <a:spcBef>
                <a:spcPct val="30000"/>
              </a:spcBef>
              <a:spcAft>
                <a:spcPct val="0"/>
              </a:spcAft>
              <a:defRPr sz="1200">
                <a:solidFill>
                  <a:schemeClr val="tx1"/>
                </a:solidFill>
                <a:latin typeface="Arial" charset="0"/>
                <a:ea typeface="ＭＳ Ｐゴシック" charset="0"/>
              </a:defRPr>
            </a:lvl8pPr>
            <a:lvl9pPr marL="3886200" indent="-228600" fontAlgn="base">
              <a:spcBef>
                <a:spcPct val="30000"/>
              </a:spcBef>
              <a:spcAft>
                <a:spcPct val="0"/>
              </a:spcAft>
              <a:defRPr sz="1200">
                <a:solidFill>
                  <a:schemeClr val="tx1"/>
                </a:solidFill>
                <a:latin typeface="Arial" charset="0"/>
                <a:ea typeface="ＭＳ Ｐゴシック" charset="0"/>
              </a:defRPr>
            </a:lvl9pPr>
          </a:lstStyle>
          <a:p>
            <a:pPr eaLnBrk="1" hangingPunct="1">
              <a:defRPr/>
            </a:pPr>
            <a:endParaRPr lang="en-US">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6595F885-EBC1-2EE2-DDBD-41536A61E2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41FEF39-4031-194F-9FA9-5D7EE28864E8}" type="slidenum">
              <a:rPr lang="en-US" altLang="en-US" smtClean="0"/>
              <a:pPr>
                <a:spcBef>
                  <a:spcPct val="0"/>
                </a:spcBef>
              </a:pPr>
              <a:t>50</a:t>
            </a:fld>
            <a:endParaRPr lang="en-US" altLang="en-US"/>
          </a:p>
        </p:txBody>
      </p:sp>
      <p:sp>
        <p:nvSpPr>
          <p:cNvPr id="112642" name="Rectangle 2">
            <a:extLst>
              <a:ext uri="{FF2B5EF4-FFF2-40B4-BE49-F238E27FC236}">
                <a16:creationId xmlns:a16="http://schemas.microsoft.com/office/drawing/2014/main" id="{D3E47D79-E4BC-4466-FA3D-95FDBA5BB1BF}"/>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E5B2A0EA-AD7C-36FF-63FC-AC9001F456BF}"/>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46E61E2-0B79-F861-FAFD-27233B916ACB}"/>
              </a:ext>
            </a:extLst>
          </p:cNvPr>
          <p:cNvSpPr>
            <a:spLocks noGrp="1"/>
          </p:cNvSpPr>
          <p:nvPr>
            <p:ph type="dt" sz="half" idx="10"/>
          </p:nvPr>
        </p:nvSpPr>
        <p:spPr/>
        <p:txBody>
          <a:bodyPr/>
          <a:lstStyle>
            <a:lvl1pPr>
              <a:defRPr/>
            </a:lvl1pPr>
          </a:lstStyle>
          <a:p>
            <a:pPr>
              <a:defRPr/>
            </a:pPr>
            <a:fld id="{6FAC26DD-C71B-E549-B6E4-20E095089B81}"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4B163A25-481E-DBAF-863D-482A1757C1E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8967B15-9A28-01A8-AA62-2380F5865117}"/>
              </a:ext>
            </a:extLst>
          </p:cNvPr>
          <p:cNvSpPr>
            <a:spLocks noGrp="1"/>
          </p:cNvSpPr>
          <p:nvPr>
            <p:ph type="sldNum" sz="quarter" idx="12"/>
          </p:nvPr>
        </p:nvSpPr>
        <p:spPr/>
        <p:txBody>
          <a:bodyPr/>
          <a:lstStyle>
            <a:lvl1pPr>
              <a:defRPr/>
            </a:lvl1pPr>
          </a:lstStyle>
          <a:p>
            <a:pPr>
              <a:defRPr/>
            </a:pPr>
            <a:fld id="{E030ABB0-8DDE-AE44-A9B6-1F915C16BA1C}" type="slidenum">
              <a:rPr lang="en-US" altLang="en-US"/>
              <a:pPr>
                <a:defRPr/>
              </a:pPr>
              <a:t>‹#›</a:t>
            </a:fld>
            <a:endParaRPr lang="en-US" altLang="en-US"/>
          </a:p>
        </p:txBody>
      </p:sp>
    </p:spTree>
    <p:extLst>
      <p:ext uri="{BB962C8B-B14F-4D97-AF65-F5344CB8AC3E}">
        <p14:creationId xmlns:p14="http://schemas.microsoft.com/office/powerpoint/2010/main" val="3584425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C0F73-6FA4-7CAE-D949-A362B74F369A}"/>
              </a:ext>
            </a:extLst>
          </p:cNvPr>
          <p:cNvSpPr>
            <a:spLocks noGrp="1"/>
          </p:cNvSpPr>
          <p:nvPr>
            <p:ph type="dt" sz="half" idx="10"/>
          </p:nvPr>
        </p:nvSpPr>
        <p:spPr/>
        <p:txBody>
          <a:bodyPr/>
          <a:lstStyle>
            <a:lvl1pPr>
              <a:defRPr/>
            </a:lvl1pPr>
          </a:lstStyle>
          <a:p>
            <a:pPr>
              <a:defRPr/>
            </a:pPr>
            <a:fld id="{61985DDF-F1F5-F040-823F-26F28AD769D5}"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0ABBF940-AE2C-D80B-C8FD-A9C85183A07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76DE88-567F-AC0E-6458-558FFEDE34DC}"/>
              </a:ext>
            </a:extLst>
          </p:cNvPr>
          <p:cNvSpPr>
            <a:spLocks noGrp="1"/>
          </p:cNvSpPr>
          <p:nvPr>
            <p:ph type="sldNum" sz="quarter" idx="12"/>
          </p:nvPr>
        </p:nvSpPr>
        <p:spPr/>
        <p:txBody>
          <a:bodyPr/>
          <a:lstStyle>
            <a:lvl1pPr>
              <a:defRPr/>
            </a:lvl1pPr>
          </a:lstStyle>
          <a:p>
            <a:pPr>
              <a:defRPr/>
            </a:pPr>
            <a:fld id="{BD25B3FF-DF51-9943-A4BF-2A65D275B185}" type="slidenum">
              <a:rPr lang="en-US" altLang="en-US"/>
              <a:pPr>
                <a:defRPr/>
              </a:pPr>
              <a:t>‹#›</a:t>
            </a:fld>
            <a:endParaRPr lang="en-US" altLang="en-US"/>
          </a:p>
        </p:txBody>
      </p:sp>
    </p:spTree>
    <p:extLst>
      <p:ext uri="{BB962C8B-B14F-4D97-AF65-F5344CB8AC3E}">
        <p14:creationId xmlns:p14="http://schemas.microsoft.com/office/powerpoint/2010/main" val="2442090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0A5C52-2609-E12B-792C-92F845B580AD}"/>
              </a:ext>
            </a:extLst>
          </p:cNvPr>
          <p:cNvSpPr>
            <a:spLocks noGrp="1"/>
          </p:cNvSpPr>
          <p:nvPr>
            <p:ph type="dt" sz="half" idx="10"/>
          </p:nvPr>
        </p:nvSpPr>
        <p:spPr/>
        <p:txBody>
          <a:bodyPr/>
          <a:lstStyle>
            <a:lvl1pPr>
              <a:defRPr/>
            </a:lvl1pPr>
          </a:lstStyle>
          <a:p>
            <a:pPr>
              <a:defRPr/>
            </a:pPr>
            <a:fld id="{1BB40861-0027-7143-A9C3-AE63320BCEE1}"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BA22C5D7-DC5A-28C5-0BF0-36EAF3CA7FE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48BD963-5B32-CCB4-F471-36C44E70E358}"/>
              </a:ext>
            </a:extLst>
          </p:cNvPr>
          <p:cNvSpPr>
            <a:spLocks noGrp="1"/>
          </p:cNvSpPr>
          <p:nvPr>
            <p:ph type="sldNum" sz="quarter" idx="12"/>
          </p:nvPr>
        </p:nvSpPr>
        <p:spPr/>
        <p:txBody>
          <a:bodyPr/>
          <a:lstStyle>
            <a:lvl1pPr>
              <a:defRPr/>
            </a:lvl1pPr>
          </a:lstStyle>
          <a:p>
            <a:pPr>
              <a:defRPr/>
            </a:pPr>
            <a:fld id="{F178586B-6D81-CE44-8459-D57DFB1CD6C6}" type="slidenum">
              <a:rPr lang="en-US" altLang="en-US"/>
              <a:pPr>
                <a:defRPr/>
              </a:pPr>
              <a:t>‹#›</a:t>
            </a:fld>
            <a:endParaRPr lang="en-US" altLang="en-US"/>
          </a:p>
        </p:txBody>
      </p:sp>
    </p:spTree>
    <p:extLst>
      <p:ext uri="{BB962C8B-B14F-4D97-AF65-F5344CB8AC3E}">
        <p14:creationId xmlns:p14="http://schemas.microsoft.com/office/powerpoint/2010/main" val="3745597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4651C5C2-9BFD-FFFF-D20B-704145B57ACE}"/>
              </a:ext>
            </a:extLst>
          </p:cNvPr>
          <p:cNvSpPr>
            <a:spLocks noGrp="1"/>
          </p:cNvSpPr>
          <p:nvPr>
            <p:ph type="dt" sz="half" idx="10"/>
          </p:nvPr>
        </p:nvSpPr>
        <p:spPr/>
        <p:txBody>
          <a:bodyPr/>
          <a:lstStyle>
            <a:lvl1pPr>
              <a:defRPr/>
            </a:lvl1pPr>
          </a:lstStyle>
          <a:p>
            <a:pPr>
              <a:defRPr/>
            </a:pPr>
            <a:fld id="{DBC48FFE-D470-A743-A226-960256E4C4AE}"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1E52205C-EA33-1016-B2B1-8D4C15B1D78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02EF7AC-51B9-BD29-1A75-DF0754A2F3EC}"/>
              </a:ext>
            </a:extLst>
          </p:cNvPr>
          <p:cNvSpPr>
            <a:spLocks noGrp="1"/>
          </p:cNvSpPr>
          <p:nvPr>
            <p:ph type="sldNum" sz="quarter" idx="12"/>
          </p:nvPr>
        </p:nvSpPr>
        <p:spPr/>
        <p:txBody>
          <a:bodyPr/>
          <a:lstStyle>
            <a:lvl1pPr>
              <a:defRPr/>
            </a:lvl1pPr>
          </a:lstStyle>
          <a:p>
            <a:pPr>
              <a:defRPr/>
            </a:pPr>
            <a:fld id="{6CF59713-C059-D741-881C-0D331A768CC6}" type="slidenum">
              <a:rPr lang="en-US" altLang="en-US"/>
              <a:pPr>
                <a:defRPr/>
              </a:pPr>
              <a:t>‹#›</a:t>
            </a:fld>
            <a:endParaRPr lang="en-US" altLang="en-US"/>
          </a:p>
        </p:txBody>
      </p:sp>
    </p:spTree>
    <p:extLst>
      <p:ext uri="{BB962C8B-B14F-4D97-AF65-F5344CB8AC3E}">
        <p14:creationId xmlns:p14="http://schemas.microsoft.com/office/powerpoint/2010/main" val="1696472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A8A9286-1F81-35B3-A05C-17B563456D3E}"/>
              </a:ext>
            </a:extLst>
          </p:cNvPr>
          <p:cNvSpPr>
            <a:spLocks noGrp="1"/>
          </p:cNvSpPr>
          <p:nvPr>
            <p:ph type="dt" sz="half" idx="10"/>
          </p:nvPr>
        </p:nvSpPr>
        <p:spPr/>
        <p:txBody>
          <a:bodyPr/>
          <a:lstStyle>
            <a:lvl1pPr>
              <a:defRPr/>
            </a:lvl1pPr>
          </a:lstStyle>
          <a:p>
            <a:pPr>
              <a:defRPr/>
            </a:pPr>
            <a:fld id="{CE19AB30-74EF-9247-94C5-3C3CC9DDDAA5}" type="datetimeFigureOut">
              <a:rPr lang="en-US" altLang="en-US"/>
              <a:pPr>
                <a:defRPr/>
              </a:pPr>
              <a:t>6/2/26</a:t>
            </a:fld>
            <a:endParaRPr lang="en-US" altLang="en-US"/>
          </a:p>
        </p:txBody>
      </p:sp>
      <p:sp>
        <p:nvSpPr>
          <p:cNvPr id="8" name="Footer Placeholder 4">
            <a:extLst>
              <a:ext uri="{FF2B5EF4-FFF2-40B4-BE49-F238E27FC236}">
                <a16:creationId xmlns:a16="http://schemas.microsoft.com/office/drawing/2014/main" id="{E8F3CA86-F296-258F-9976-37F6E320F9D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E35DC3F-79FD-FDBB-C631-BE6A23645C1B}"/>
              </a:ext>
            </a:extLst>
          </p:cNvPr>
          <p:cNvSpPr>
            <a:spLocks noGrp="1"/>
          </p:cNvSpPr>
          <p:nvPr>
            <p:ph type="sldNum" sz="quarter" idx="12"/>
          </p:nvPr>
        </p:nvSpPr>
        <p:spPr/>
        <p:txBody>
          <a:bodyPr/>
          <a:lstStyle>
            <a:lvl1pPr>
              <a:defRPr/>
            </a:lvl1pPr>
          </a:lstStyle>
          <a:p>
            <a:pPr>
              <a:defRPr/>
            </a:pPr>
            <a:fld id="{FE9E971C-1F86-6944-A41B-A7E8472EB138}" type="slidenum">
              <a:rPr lang="en-US" altLang="en-US"/>
              <a:pPr>
                <a:defRPr/>
              </a:pPr>
              <a:t>‹#›</a:t>
            </a:fld>
            <a:endParaRPr lang="en-US" altLang="en-US"/>
          </a:p>
        </p:txBody>
      </p:sp>
    </p:spTree>
    <p:extLst>
      <p:ext uri="{BB962C8B-B14F-4D97-AF65-F5344CB8AC3E}">
        <p14:creationId xmlns:p14="http://schemas.microsoft.com/office/powerpoint/2010/main" val="300184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7E145DF-E625-B368-E3E0-D3CAA910EEB7}"/>
              </a:ext>
            </a:extLst>
          </p:cNvPr>
          <p:cNvSpPr>
            <a:spLocks noGrp="1"/>
          </p:cNvSpPr>
          <p:nvPr>
            <p:ph type="dt" sz="half" idx="10"/>
          </p:nvPr>
        </p:nvSpPr>
        <p:spPr/>
        <p:txBody>
          <a:bodyPr/>
          <a:lstStyle>
            <a:lvl1pPr>
              <a:defRPr/>
            </a:lvl1pPr>
          </a:lstStyle>
          <a:p>
            <a:pPr>
              <a:defRPr/>
            </a:pPr>
            <a:fld id="{253780E0-EB91-D84F-BA28-54BBA5D6B879}" type="datetimeFigureOut">
              <a:rPr lang="en-US" altLang="en-US"/>
              <a:pPr>
                <a:defRPr/>
              </a:pPr>
              <a:t>6/2/26</a:t>
            </a:fld>
            <a:endParaRPr lang="en-US" altLang="en-US"/>
          </a:p>
        </p:txBody>
      </p:sp>
      <p:sp>
        <p:nvSpPr>
          <p:cNvPr id="4" name="Footer Placeholder 4">
            <a:extLst>
              <a:ext uri="{FF2B5EF4-FFF2-40B4-BE49-F238E27FC236}">
                <a16:creationId xmlns:a16="http://schemas.microsoft.com/office/drawing/2014/main" id="{2D87928C-4AD5-7923-9361-A3DF23D997A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DF97A57-FDA2-DFFC-80A1-FD8473608BB0}"/>
              </a:ext>
            </a:extLst>
          </p:cNvPr>
          <p:cNvSpPr>
            <a:spLocks noGrp="1"/>
          </p:cNvSpPr>
          <p:nvPr>
            <p:ph type="sldNum" sz="quarter" idx="12"/>
          </p:nvPr>
        </p:nvSpPr>
        <p:spPr/>
        <p:txBody>
          <a:bodyPr/>
          <a:lstStyle>
            <a:lvl1pPr>
              <a:defRPr/>
            </a:lvl1pPr>
          </a:lstStyle>
          <a:p>
            <a:pPr>
              <a:defRPr/>
            </a:pPr>
            <a:fld id="{54B9F0A7-FAAB-E142-B7D0-DB314D5813E8}" type="slidenum">
              <a:rPr lang="en-US" altLang="en-US"/>
              <a:pPr>
                <a:defRPr/>
              </a:pPr>
              <a:t>‹#›</a:t>
            </a:fld>
            <a:endParaRPr lang="en-US" altLang="en-US"/>
          </a:p>
        </p:txBody>
      </p:sp>
    </p:spTree>
    <p:extLst>
      <p:ext uri="{BB962C8B-B14F-4D97-AF65-F5344CB8AC3E}">
        <p14:creationId xmlns:p14="http://schemas.microsoft.com/office/powerpoint/2010/main" val="1198247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E835C72-539A-3F6C-2FDA-F7689E71AE26}"/>
              </a:ext>
            </a:extLst>
          </p:cNvPr>
          <p:cNvSpPr>
            <a:spLocks noGrp="1"/>
          </p:cNvSpPr>
          <p:nvPr>
            <p:ph type="dt" sz="half" idx="10"/>
          </p:nvPr>
        </p:nvSpPr>
        <p:spPr/>
        <p:txBody>
          <a:bodyPr/>
          <a:lstStyle>
            <a:lvl1pPr>
              <a:defRPr/>
            </a:lvl1pPr>
          </a:lstStyle>
          <a:p>
            <a:pPr>
              <a:defRPr/>
            </a:pPr>
            <a:fld id="{90D454CD-F1A0-E84F-8053-284D437A1AAE}" type="datetimeFigureOut">
              <a:rPr lang="en-US" altLang="en-US"/>
              <a:pPr>
                <a:defRPr/>
              </a:pPr>
              <a:t>6/2/26</a:t>
            </a:fld>
            <a:endParaRPr lang="en-US" altLang="en-US"/>
          </a:p>
        </p:txBody>
      </p:sp>
      <p:sp>
        <p:nvSpPr>
          <p:cNvPr id="3" name="Footer Placeholder 4">
            <a:extLst>
              <a:ext uri="{FF2B5EF4-FFF2-40B4-BE49-F238E27FC236}">
                <a16:creationId xmlns:a16="http://schemas.microsoft.com/office/drawing/2014/main" id="{A69B8300-E62D-3E55-3C58-4512AB5AB60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310F808-761F-BB65-FD6A-7DA2BFEEC636}"/>
              </a:ext>
            </a:extLst>
          </p:cNvPr>
          <p:cNvSpPr>
            <a:spLocks noGrp="1"/>
          </p:cNvSpPr>
          <p:nvPr>
            <p:ph type="sldNum" sz="quarter" idx="12"/>
          </p:nvPr>
        </p:nvSpPr>
        <p:spPr/>
        <p:txBody>
          <a:bodyPr/>
          <a:lstStyle>
            <a:lvl1pPr>
              <a:defRPr/>
            </a:lvl1pPr>
          </a:lstStyle>
          <a:p>
            <a:pPr>
              <a:defRPr/>
            </a:pPr>
            <a:fld id="{A2B64B96-BC5D-8A4D-90B1-FD5C838AB3E8}" type="slidenum">
              <a:rPr lang="en-US" altLang="en-US"/>
              <a:pPr>
                <a:defRPr/>
              </a:pPr>
              <a:t>‹#›</a:t>
            </a:fld>
            <a:endParaRPr lang="en-US" altLang="en-US"/>
          </a:p>
        </p:txBody>
      </p:sp>
    </p:spTree>
    <p:extLst>
      <p:ext uri="{BB962C8B-B14F-4D97-AF65-F5344CB8AC3E}">
        <p14:creationId xmlns:p14="http://schemas.microsoft.com/office/powerpoint/2010/main" val="1164611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C0FD994D-7695-4CD7-0F88-C7FE9EF0DCFE}"/>
              </a:ext>
            </a:extLst>
          </p:cNvPr>
          <p:cNvSpPr>
            <a:spLocks noGrp="1"/>
          </p:cNvSpPr>
          <p:nvPr>
            <p:ph type="dt" sz="half" idx="10"/>
          </p:nvPr>
        </p:nvSpPr>
        <p:spPr/>
        <p:txBody>
          <a:bodyPr/>
          <a:lstStyle>
            <a:lvl1pPr>
              <a:defRPr/>
            </a:lvl1pPr>
          </a:lstStyle>
          <a:p>
            <a:pPr>
              <a:defRPr/>
            </a:pPr>
            <a:fld id="{FA8BE8D3-2F99-2E43-8D3F-6955DC21C7DC}"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1232191F-724D-832E-56CD-6A90AFFA66E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2DB228A-BB4D-3FB7-EC2A-85CB0BF3FDF9}"/>
              </a:ext>
            </a:extLst>
          </p:cNvPr>
          <p:cNvSpPr>
            <a:spLocks noGrp="1"/>
          </p:cNvSpPr>
          <p:nvPr>
            <p:ph type="sldNum" sz="quarter" idx="12"/>
          </p:nvPr>
        </p:nvSpPr>
        <p:spPr/>
        <p:txBody>
          <a:bodyPr/>
          <a:lstStyle>
            <a:lvl1pPr>
              <a:defRPr/>
            </a:lvl1pPr>
          </a:lstStyle>
          <a:p>
            <a:pPr>
              <a:defRPr/>
            </a:pPr>
            <a:fld id="{20CE9C65-1A2D-A44B-820E-2E631667E349}" type="slidenum">
              <a:rPr lang="en-US" altLang="en-US"/>
              <a:pPr>
                <a:defRPr/>
              </a:pPr>
              <a:t>‹#›</a:t>
            </a:fld>
            <a:endParaRPr lang="en-US" altLang="en-US"/>
          </a:p>
        </p:txBody>
      </p:sp>
    </p:spTree>
    <p:extLst>
      <p:ext uri="{BB962C8B-B14F-4D97-AF65-F5344CB8AC3E}">
        <p14:creationId xmlns:p14="http://schemas.microsoft.com/office/powerpoint/2010/main" val="2072340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9D04FF48-69AE-6005-20C5-F467BFFBCD9F}"/>
              </a:ext>
            </a:extLst>
          </p:cNvPr>
          <p:cNvSpPr>
            <a:spLocks noGrp="1"/>
          </p:cNvSpPr>
          <p:nvPr>
            <p:ph type="dt" sz="half" idx="10"/>
          </p:nvPr>
        </p:nvSpPr>
        <p:spPr/>
        <p:txBody>
          <a:bodyPr/>
          <a:lstStyle>
            <a:lvl1pPr>
              <a:defRPr/>
            </a:lvl1pPr>
          </a:lstStyle>
          <a:p>
            <a:pPr>
              <a:defRPr/>
            </a:pPr>
            <a:fld id="{33D73174-DD3F-B14B-BB4B-F541404FC0EA}"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DD17F35E-0999-A092-380E-E9EAD5C40F0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BC5E3BC-0F4F-5674-80D7-43710B7602F3}"/>
              </a:ext>
            </a:extLst>
          </p:cNvPr>
          <p:cNvSpPr>
            <a:spLocks noGrp="1"/>
          </p:cNvSpPr>
          <p:nvPr>
            <p:ph type="sldNum" sz="quarter" idx="12"/>
          </p:nvPr>
        </p:nvSpPr>
        <p:spPr/>
        <p:txBody>
          <a:bodyPr/>
          <a:lstStyle>
            <a:lvl1pPr>
              <a:defRPr/>
            </a:lvl1pPr>
          </a:lstStyle>
          <a:p>
            <a:pPr>
              <a:defRPr/>
            </a:pPr>
            <a:fld id="{AFEFF913-2F56-F947-ADC9-B1E311574F0E}" type="slidenum">
              <a:rPr lang="en-US" altLang="en-US"/>
              <a:pPr>
                <a:defRPr/>
              </a:pPr>
              <a:t>‹#›</a:t>
            </a:fld>
            <a:endParaRPr lang="en-US" altLang="en-US"/>
          </a:p>
        </p:txBody>
      </p:sp>
    </p:spTree>
    <p:extLst>
      <p:ext uri="{BB962C8B-B14F-4D97-AF65-F5344CB8AC3E}">
        <p14:creationId xmlns:p14="http://schemas.microsoft.com/office/powerpoint/2010/main" val="4095788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34F3CE-0869-C613-81DF-27A10FB6290A}"/>
              </a:ext>
            </a:extLst>
          </p:cNvPr>
          <p:cNvSpPr>
            <a:spLocks noGrp="1"/>
          </p:cNvSpPr>
          <p:nvPr>
            <p:ph type="dt" sz="half" idx="10"/>
          </p:nvPr>
        </p:nvSpPr>
        <p:spPr/>
        <p:txBody>
          <a:bodyPr/>
          <a:lstStyle>
            <a:lvl1pPr>
              <a:defRPr/>
            </a:lvl1pPr>
          </a:lstStyle>
          <a:p>
            <a:pPr>
              <a:defRPr/>
            </a:pPr>
            <a:fld id="{7D660CF3-A56E-0E4C-B6BD-C103E2B897A5}"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2DEC4CD3-1BD3-1F87-71B0-E30965802E6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016B6D3-EF4C-810A-8927-B5928868E2FD}"/>
              </a:ext>
            </a:extLst>
          </p:cNvPr>
          <p:cNvSpPr>
            <a:spLocks noGrp="1"/>
          </p:cNvSpPr>
          <p:nvPr>
            <p:ph type="sldNum" sz="quarter" idx="12"/>
          </p:nvPr>
        </p:nvSpPr>
        <p:spPr/>
        <p:txBody>
          <a:bodyPr/>
          <a:lstStyle>
            <a:lvl1pPr>
              <a:defRPr/>
            </a:lvl1pPr>
          </a:lstStyle>
          <a:p>
            <a:pPr>
              <a:defRPr/>
            </a:pPr>
            <a:fld id="{C7C161DC-888B-9D4A-A04D-B0B62EDC2E40}" type="slidenum">
              <a:rPr lang="en-US" altLang="en-US"/>
              <a:pPr>
                <a:defRPr/>
              </a:pPr>
              <a:t>‹#›</a:t>
            </a:fld>
            <a:endParaRPr lang="en-US" altLang="en-US"/>
          </a:p>
        </p:txBody>
      </p:sp>
    </p:spTree>
    <p:extLst>
      <p:ext uri="{BB962C8B-B14F-4D97-AF65-F5344CB8AC3E}">
        <p14:creationId xmlns:p14="http://schemas.microsoft.com/office/powerpoint/2010/main" val="82928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6480-8500-F7A6-C171-284043F8E71D}"/>
              </a:ext>
            </a:extLst>
          </p:cNvPr>
          <p:cNvSpPr>
            <a:spLocks noGrp="1"/>
          </p:cNvSpPr>
          <p:nvPr>
            <p:ph type="dt" sz="half" idx="10"/>
          </p:nvPr>
        </p:nvSpPr>
        <p:spPr/>
        <p:txBody>
          <a:bodyPr/>
          <a:lstStyle>
            <a:lvl1pPr>
              <a:defRPr/>
            </a:lvl1pPr>
          </a:lstStyle>
          <a:p>
            <a:pPr>
              <a:defRPr/>
            </a:pPr>
            <a:fld id="{DFC6F0F4-F46D-3C45-91D2-BF858A160AEE}"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73B38199-5CD2-70E0-0EA0-5EBD1D1BABC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070DB81-39B0-9C8A-19E7-F436914D2DFA}"/>
              </a:ext>
            </a:extLst>
          </p:cNvPr>
          <p:cNvSpPr>
            <a:spLocks noGrp="1"/>
          </p:cNvSpPr>
          <p:nvPr>
            <p:ph type="sldNum" sz="quarter" idx="12"/>
          </p:nvPr>
        </p:nvSpPr>
        <p:spPr/>
        <p:txBody>
          <a:bodyPr/>
          <a:lstStyle>
            <a:lvl1pPr>
              <a:defRPr/>
            </a:lvl1pPr>
          </a:lstStyle>
          <a:p>
            <a:pPr>
              <a:defRPr/>
            </a:pPr>
            <a:fld id="{E7384616-80C7-304F-9415-B7D3FC64E8F4}" type="slidenum">
              <a:rPr lang="en-US" altLang="en-US"/>
              <a:pPr>
                <a:defRPr/>
              </a:pPr>
              <a:t>‹#›</a:t>
            </a:fld>
            <a:endParaRPr lang="en-US" altLang="en-US"/>
          </a:p>
        </p:txBody>
      </p:sp>
    </p:spTree>
    <p:extLst>
      <p:ext uri="{BB962C8B-B14F-4D97-AF65-F5344CB8AC3E}">
        <p14:creationId xmlns:p14="http://schemas.microsoft.com/office/powerpoint/2010/main" val="1400033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114551"/>
            <a:ext cx="7772400" cy="1021556"/>
          </a:xfrm>
        </p:spPr>
        <p:txBody>
          <a:bodyPr anchor="t">
            <a:normAutofit/>
          </a:bodyPr>
          <a:lstStyle>
            <a:lvl1pPr algn="ctr">
              <a:defRPr sz="3300" b="0" cap="all">
                <a:solidFill>
                  <a:schemeClr val="tx1"/>
                </a:solidFill>
                <a:latin typeface="Lucida Sans" panose="020B0602030504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7D962476-53F0-8D36-CA2B-779075CD0535}"/>
              </a:ext>
            </a:extLst>
          </p:cNvPr>
          <p:cNvSpPr>
            <a:spLocks noGrp="1"/>
          </p:cNvSpPr>
          <p:nvPr>
            <p:ph type="dt" sz="half" idx="10"/>
          </p:nvPr>
        </p:nvSpPr>
        <p:spPr/>
        <p:txBody>
          <a:bodyPr/>
          <a:lstStyle>
            <a:lvl1pPr>
              <a:defRPr/>
            </a:lvl1pPr>
          </a:lstStyle>
          <a:p>
            <a:pPr>
              <a:defRPr/>
            </a:pPr>
            <a:fld id="{C7553612-6883-0346-A4B3-BAB97851F8A6}" type="datetime1">
              <a:rPr lang="en-US" altLang="en-US"/>
              <a:pPr>
                <a:defRPr/>
              </a:pPr>
              <a:t>6/2/26</a:t>
            </a:fld>
            <a:endParaRPr lang="en-US" altLang="en-US"/>
          </a:p>
        </p:txBody>
      </p:sp>
      <p:sp>
        <p:nvSpPr>
          <p:cNvPr id="4" name="Footer Placeholder 4">
            <a:extLst>
              <a:ext uri="{FF2B5EF4-FFF2-40B4-BE49-F238E27FC236}">
                <a16:creationId xmlns:a16="http://schemas.microsoft.com/office/drawing/2014/main" id="{D450A72D-A07D-5C6D-48DA-2C831200815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65922B6-6D20-EF08-5771-EC2468C64D87}"/>
              </a:ext>
            </a:extLst>
          </p:cNvPr>
          <p:cNvSpPr>
            <a:spLocks noGrp="1"/>
          </p:cNvSpPr>
          <p:nvPr>
            <p:ph type="sldNum" sz="quarter" idx="12"/>
          </p:nvPr>
        </p:nvSpPr>
        <p:spPr/>
        <p:txBody>
          <a:bodyPr/>
          <a:lstStyle>
            <a:lvl1pPr>
              <a:defRPr/>
            </a:lvl1pPr>
          </a:lstStyle>
          <a:p>
            <a:pPr>
              <a:defRPr/>
            </a:pPr>
            <a:fld id="{DC6B599C-E5D4-E341-AB56-AC836A024040}" type="slidenum">
              <a:rPr lang="en-US" altLang="en-US"/>
              <a:pPr>
                <a:defRPr/>
              </a:pPr>
              <a:t>‹#›</a:t>
            </a:fld>
            <a:endParaRPr lang="en-US" altLang="en-US"/>
          </a:p>
        </p:txBody>
      </p:sp>
    </p:spTree>
    <p:extLst>
      <p:ext uri="{BB962C8B-B14F-4D97-AF65-F5344CB8AC3E}">
        <p14:creationId xmlns:p14="http://schemas.microsoft.com/office/powerpoint/2010/main" val="343600553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114551"/>
            <a:ext cx="7772400" cy="1021556"/>
          </a:xfrm>
        </p:spPr>
        <p:txBody>
          <a:bodyPr anchor="t">
            <a:normAutofit/>
          </a:bodyPr>
          <a:lstStyle>
            <a:lvl1pPr algn="ctr">
              <a:defRPr sz="3300" b="0" cap="all">
                <a:solidFill>
                  <a:schemeClr val="tx1"/>
                </a:solidFill>
                <a:latin typeface="Lucida Sans" panose="020B0602030504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7B212C6E-76E1-D851-9E23-FB455D409DC8}"/>
              </a:ext>
            </a:extLst>
          </p:cNvPr>
          <p:cNvSpPr>
            <a:spLocks noGrp="1"/>
          </p:cNvSpPr>
          <p:nvPr>
            <p:ph type="dt" sz="half" idx="10"/>
          </p:nvPr>
        </p:nvSpPr>
        <p:spPr/>
        <p:txBody>
          <a:bodyPr/>
          <a:lstStyle>
            <a:lvl1pPr>
              <a:defRPr/>
            </a:lvl1pPr>
          </a:lstStyle>
          <a:p>
            <a:pPr>
              <a:defRPr/>
            </a:pPr>
            <a:fld id="{2357280E-3AAD-5646-8ABB-7408D466ADA2}" type="datetime1">
              <a:rPr lang="en-US" altLang="en-US"/>
              <a:pPr>
                <a:defRPr/>
              </a:pPr>
              <a:t>6/2/26</a:t>
            </a:fld>
            <a:endParaRPr lang="en-US" altLang="en-US"/>
          </a:p>
        </p:txBody>
      </p:sp>
      <p:sp>
        <p:nvSpPr>
          <p:cNvPr id="4" name="Footer Placeholder 4">
            <a:extLst>
              <a:ext uri="{FF2B5EF4-FFF2-40B4-BE49-F238E27FC236}">
                <a16:creationId xmlns:a16="http://schemas.microsoft.com/office/drawing/2014/main" id="{A9416B7E-5864-6D79-3348-C9C537EBC25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DF166F3-2DC8-60B1-A8DD-22F01762182F}"/>
              </a:ext>
            </a:extLst>
          </p:cNvPr>
          <p:cNvSpPr>
            <a:spLocks noGrp="1"/>
          </p:cNvSpPr>
          <p:nvPr>
            <p:ph type="sldNum" sz="quarter" idx="12"/>
          </p:nvPr>
        </p:nvSpPr>
        <p:spPr/>
        <p:txBody>
          <a:bodyPr/>
          <a:lstStyle>
            <a:lvl1pPr>
              <a:defRPr/>
            </a:lvl1pPr>
          </a:lstStyle>
          <a:p>
            <a:pPr>
              <a:defRPr/>
            </a:pPr>
            <a:fld id="{BF8E5DC6-9B81-6643-852A-7C0F5F061FAE}" type="slidenum">
              <a:rPr lang="en-US" altLang="en-US"/>
              <a:pPr>
                <a:defRPr/>
              </a:pPr>
              <a:t>‹#›</a:t>
            </a:fld>
            <a:endParaRPr lang="en-US" altLang="en-US"/>
          </a:p>
        </p:txBody>
      </p:sp>
    </p:spTree>
    <p:extLst>
      <p:ext uri="{BB962C8B-B14F-4D97-AF65-F5344CB8AC3E}">
        <p14:creationId xmlns:p14="http://schemas.microsoft.com/office/powerpoint/2010/main" val="394406686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52400" y="217885"/>
            <a:ext cx="8763000" cy="857250"/>
          </a:xfrm>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74A8D5-07BF-3321-50F3-DAB35EF38D5B}"/>
              </a:ext>
            </a:extLst>
          </p:cNvPr>
          <p:cNvSpPr>
            <a:spLocks noGrp="1" noChangeArrowheads="1"/>
          </p:cNvSpPr>
          <p:nvPr>
            <p:ph type="dt" sz="half" idx="10"/>
          </p:nvPr>
        </p:nvSpPr>
        <p:spPr/>
        <p:txBody>
          <a:bodyPr rtlCol="0"/>
          <a:lstStyle>
            <a:lvl1pPr>
              <a:defRPr>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6" name="Footer Placeholder 5">
            <a:extLst>
              <a:ext uri="{FF2B5EF4-FFF2-40B4-BE49-F238E27FC236}">
                <a16:creationId xmlns:a16="http://schemas.microsoft.com/office/drawing/2014/main" id="{4CE97361-8530-04FF-CC4F-AA3443F43ADE}"/>
              </a:ext>
            </a:extLst>
          </p:cNvPr>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6089FB8D-87A2-A108-005D-6995060619A4}"/>
              </a:ext>
            </a:extLst>
          </p:cNvPr>
          <p:cNvSpPr>
            <a:spLocks noGrp="1" noChangeArrowheads="1"/>
          </p:cNvSpPr>
          <p:nvPr>
            <p:ph type="sldNum" sz="quarter" idx="12"/>
          </p:nvPr>
        </p:nvSpPr>
        <p:spPr/>
        <p:txBody>
          <a:bodyPr/>
          <a:lstStyle>
            <a:lvl1pPr>
              <a:defRPr/>
            </a:lvl1pPr>
          </a:lstStyle>
          <a:p>
            <a:pPr>
              <a:defRPr/>
            </a:pPr>
            <a:fld id="{180FED96-1D4E-5840-95FF-156A9B6D2B54}" type="slidenum">
              <a:rPr lang="en-US" altLang="en-US"/>
              <a:pPr>
                <a:defRPr/>
              </a:pPr>
              <a:t>‹#›</a:t>
            </a:fld>
            <a:endParaRPr lang="en-US" altLang="en-US"/>
          </a:p>
        </p:txBody>
      </p:sp>
    </p:spTree>
    <p:extLst>
      <p:ext uri="{BB962C8B-B14F-4D97-AF65-F5344CB8AC3E}">
        <p14:creationId xmlns:p14="http://schemas.microsoft.com/office/powerpoint/2010/main" val="3038010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114551"/>
            <a:ext cx="7772400" cy="1021556"/>
          </a:xfrm>
        </p:spPr>
        <p:txBody>
          <a:bodyPr anchor="t">
            <a:normAutofit/>
          </a:bodyPr>
          <a:lstStyle>
            <a:lvl1pPr algn="ctr">
              <a:defRPr sz="3300" b="0" cap="all">
                <a:solidFill>
                  <a:schemeClr val="tx1"/>
                </a:solidFill>
                <a:latin typeface="Lucida Sans" panose="020B0602030504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B5C4A7E2-7E27-A3FA-0910-2D9C49C063C0}"/>
              </a:ext>
            </a:extLst>
          </p:cNvPr>
          <p:cNvSpPr>
            <a:spLocks noGrp="1"/>
          </p:cNvSpPr>
          <p:nvPr>
            <p:ph type="dt" sz="half" idx="10"/>
          </p:nvPr>
        </p:nvSpPr>
        <p:spPr/>
        <p:txBody>
          <a:bodyPr/>
          <a:lstStyle>
            <a:lvl1pPr>
              <a:defRPr/>
            </a:lvl1pPr>
          </a:lstStyle>
          <a:p>
            <a:pPr>
              <a:defRPr/>
            </a:pPr>
            <a:fld id="{8367C2BC-9F60-F248-9732-BA314E449E5A}" type="datetime1">
              <a:rPr lang="en-US" altLang="en-US"/>
              <a:pPr>
                <a:defRPr/>
              </a:pPr>
              <a:t>6/2/26</a:t>
            </a:fld>
            <a:endParaRPr lang="en-US" altLang="en-US"/>
          </a:p>
        </p:txBody>
      </p:sp>
      <p:sp>
        <p:nvSpPr>
          <p:cNvPr id="4" name="Footer Placeholder 4">
            <a:extLst>
              <a:ext uri="{FF2B5EF4-FFF2-40B4-BE49-F238E27FC236}">
                <a16:creationId xmlns:a16="http://schemas.microsoft.com/office/drawing/2014/main" id="{7B894F03-317A-7568-0559-70E21D8ED07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FC7A8C0-3A78-4AAD-D2E0-0EBD166C3580}"/>
              </a:ext>
            </a:extLst>
          </p:cNvPr>
          <p:cNvSpPr>
            <a:spLocks noGrp="1"/>
          </p:cNvSpPr>
          <p:nvPr>
            <p:ph type="sldNum" sz="quarter" idx="12"/>
          </p:nvPr>
        </p:nvSpPr>
        <p:spPr/>
        <p:txBody>
          <a:bodyPr/>
          <a:lstStyle>
            <a:lvl1pPr>
              <a:defRPr/>
            </a:lvl1pPr>
          </a:lstStyle>
          <a:p>
            <a:pPr>
              <a:defRPr/>
            </a:pPr>
            <a:fld id="{D1259B83-D75E-AD4A-B607-A5C22BC0A75A}" type="slidenum">
              <a:rPr lang="en-US" altLang="en-US"/>
              <a:pPr>
                <a:defRPr/>
              </a:pPr>
              <a:t>‹#›</a:t>
            </a:fld>
            <a:endParaRPr lang="en-US" altLang="en-US"/>
          </a:p>
        </p:txBody>
      </p:sp>
    </p:spTree>
    <p:extLst>
      <p:ext uri="{BB962C8B-B14F-4D97-AF65-F5344CB8AC3E}">
        <p14:creationId xmlns:p14="http://schemas.microsoft.com/office/powerpoint/2010/main" val="238052550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42EFF57-587F-35B7-ED01-DC3F08AD059E}"/>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0688228-1CD2-166A-ACEF-4C2C50B9CEAD}"/>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540C4AC-7A78-586E-BB6B-85848AB7B557}"/>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898989"/>
                </a:solidFill>
              </a:defRPr>
            </a:lvl1pPr>
          </a:lstStyle>
          <a:p>
            <a:pPr>
              <a:defRPr/>
            </a:pPr>
            <a:fld id="{CF691420-29DB-1B41-9D63-7A60FDF9125E}"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10C9293C-EBE1-FC94-F115-C8C1A4C7D237}"/>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1" hangingPunct="1">
              <a:defRPr sz="9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03AB8AC5-BCCB-5418-E089-ABF37DBAF8E7}"/>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FA50AF5C-68BC-BB43-B78F-C8A1BEE85BE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Lst>
  <p:txStyles>
    <p:titleStyle>
      <a:lvl1pPr algn="ctr" defTabSz="342900" rtl="0" eaLnBrk="0" fontAlgn="base" hangingPunct="0">
        <a:spcBef>
          <a:spcPct val="0"/>
        </a:spcBef>
        <a:spcAft>
          <a:spcPct val="0"/>
        </a:spcAft>
        <a:defRPr sz="3300" kern="1200">
          <a:solidFill>
            <a:schemeClr val="tx1"/>
          </a:solidFill>
          <a:latin typeface="+mj-lt"/>
          <a:ea typeface="ＭＳ Ｐゴシック" panose="020B0600070205080204" pitchFamily="34" charset="-128"/>
          <a:cs typeface="+mj-cs"/>
        </a:defRPr>
      </a:lvl1pPr>
      <a:lvl2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2pPr>
      <a:lvl3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3pPr>
      <a:lvl4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4pPr>
      <a:lvl5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5pPr>
      <a:lvl6pPr marL="3429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6pPr>
      <a:lvl7pPr marL="6858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7pPr>
      <a:lvl8pPr marL="10287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8pPr>
      <a:lvl9pPr marL="13716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anose="020B0600070205080204" pitchFamily="34" charset="-128"/>
          <a:cs typeface="+mn-cs"/>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ＭＳ Ｐゴシック" panose="020B0600070205080204" pitchFamily="34" charset="-128"/>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ＭＳ Ｐゴシック" panose="020B0600070205080204" pitchFamily="34" charset="-128"/>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cs.berkeley.edu/~nweaver/sapphire/sql-before.gif"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hyperlink" Target="http://www.cs.berkeley.edu/~nweaver/sapphire/sql-after.gif"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962B73AA-E9AA-E48A-1E73-BD2265F8595A}"/>
              </a:ext>
            </a:extLst>
          </p:cNvPr>
          <p:cNvSpPr>
            <a:spLocks noGrp="1"/>
          </p:cNvSpPr>
          <p:nvPr>
            <p:ph type="ctrTitle"/>
          </p:nvPr>
        </p:nvSpPr>
        <p:spPr>
          <a:xfrm>
            <a:off x="198438" y="841375"/>
            <a:ext cx="8353425" cy="1192213"/>
          </a:xfrm>
        </p:spPr>
        <p:txBody>
          <a:bodyPr/>
          <a:lstStyle/>
          <a:p>
            <a:pPr eaLnBrk="1" hangingPunct="1"/>
            <a:r>
              <a:rPr lang="en-US" altLang="en-US" sz="3600"/>
              <a:t>Worms and Botnets</a:t>
            </a:r>
          </a:p>
        </p:txBody>
      </p:sp>
      <p:sp>
        <p:nvSpPr>
          <p:cNvPr id="6" name="Subtitle 2">
            <a:extLst>
              <a:ext uri="{FF2B5EF4-FFF2-40B4-BE49-F238E27FC236}">
                <a16:creationId xmlns:a16="http://schemas.microsoft.com/office/drawing/2014/main" id="{F6F9BC54-3FA7-601B-E43A-063F57C0AA1B}"/>
              </a:ext>
            </a:extLst>
          </p:cNvPr>
          <p:cNvSpPr txBox="1">
            <a:spLocks noGrp="1"/>
          </p:cNvSpPr>
          <p:nvPr>
            <p:ph type="subTitle" idx="1"/>
          </p:nvPr>
        </p:nvSpPr>
        <p:spPr/>
        <p:txBody>
          <a:bodyPr lIns="51435" tIns="25718" rIns="51435" bIns="25718" rtlCol="0">
            <a:normAutofit fontScale="92500" lnSpcReduction="10000"/>
          </a:bodyPr>
          <a:lstStyle>
            <a:lvl1pPr marL="0" indent="0" algn="ctr" defTabSz="3429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defRPr/>
            </a:pPr>
            <a:r>
              <a:rPr lang="en-US" dirty="0">
                <a:solidFill>
                  <a:schemeClr val="bg1">
                    <a:lumMod val="65000"/>
                  </a:schemeClr>
                </a:solidFill>
              </a:rPr>
              <a:t>Security, Privacy, and Consumer Protection</a:t>
            </a:r>
            <a:br>
              <a:rPr lang="en-US" dirty="0">
                <a:solidFill>
                  <a:schemeClr val="bg1">
                    <a:lumMod val="65000"/>
                  </a:schemeClr>
                </a:solidFill>
              </a:rPr>
            </a:br>
            <a:br>
              <a:rPr lang="en-US" dirty="0">
                <a:solidFill>
                  <a:schemeClr val="bg1">
                    <a:lumMod val="65000"/>
                  </a:schemeClr>
                </a:solidFill>
              </a:rPr>
            </a:br>
            <a:r>
              <a:rPr lang="en-US" dirty="0">
                <a:solidFill>
                  <a:schemeClr val="bg1">
                    <a:lumMod val="65000"/>
                  </a:schemeClr>
                </a:solidFill>
              </a:rPr>
              <a:t>Nick Feamster</a:t>
            </a:r>
            <a:br>
              <a:rPr lang="en-US" dirty="0">
                <a:solidFill>
                  <a:schemeClr val="bg1">
                    <a:lumMod val="65000"/>
                  </a:schemeClr>
                </a:solidFill>
              </a:rPr>
            </a:br>
            <a:r>
              <a:rPr lang="en-US" dirty="0">
                <a:solidFill>
                  <a:schemeClr val="bg1">
                    <a:lumMod val="65000"/>
                  </a:schemeClr>
                </a:solidFill>
              </a:rPr>
              <a:t>University of Chicago</a:t>
            </a:r>
          </a:p>
          <a:p>
            <a:pPr>
              <a:defRPr/>
            </a:pPr>
            <a:endParaRPr lang="en-US" dirty="0">
              <a:solidFill>
                <a:schemeClr val="bg1">
                  <a:lumMod val="6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2043C47-EC53-D348-BB57-645EAE94595A}"/>
              </a:ext>
            </a:extLst>
          </p:cNvPr>
          <p:cNvSpPr>
            <a:spLocks noGrp="1"/>
          </p:cNvSpPr>
          <p:nvPr>
            <p:ph type="title"/>
          </p:nvPr>
        </p:nvSpPr>
        <p:spPr>
          <a:xfrm>
            <a:off x="1916113" y="231775"/>
            <a:ext cx="5829300" cy="746125"/>
          </a:xfrm>
        </p:spPr>
        <p:txBody>
          <a:bodyPr/>
          <a:lstStyle/>
          <a:p>
            <a:pPr eaLnBrk="1" hangingPunct="1"/>
            <a:r>
              <a:rPr lang="en-US" altLang="en-US"/>
              <a:t>Viruses</a:t>
            </a:r>
          </a:p>
        </p:txBody>
      </p:sp>
      <p:sp>
        <p:nvSpPr>
          <p:cNvPr id="19458" name="Rectangle 3">
            <a:extLst>
              <a:ext uri="{FF2B5EF4-FFF2-40B4-BE49-F238E27FC236}">
                <a16:creationId xmlns:a16="http://schemas.microsoft.com/office/drawing/2014/main" id="{0AF05998-88CF-A7F7-5BDD-752FBA292FCB}"/>
              </a:ext>
            </a:extLst>
          </p:cNvPr>
          <p:cNvSpPr>
            <a:spLocks noGrp="1"/>
          </p:cNvSpPr>
          <p:nvPr>
            <p:ph idx="1"/>
          </p:nvPr>
        </p:nvSpPr>
        <p:spPr>
          <a:xfrm>
            <a:off x="1927225" y="1127125"/>
            <a:ext cx="5727700" cy="3465513"/>
          </a:xfrm>
        </p:spPr>
        <p:txBody>
          <a:bodyPr/>
          <a:lstStyle/>
          <a:p>
            <a:pPr eaLnBrk="1" hangingPunct="1"/>
            <a:r>
              <a:rPr lang="ja-JP" altLang="en-US">
                <a:latin typeface="Arial" panose="020B0604020202020204" pitchFamily="34" charset="0"/>
              </a:rPr>
              <a:t>“</a:t>
            </a:r>
            <a:r>
              <a:rPr lang="en-US" altLang="ja-JP"/>
              <a:t>Infect</a:t>
            </a:r>
            <a:r>
              <a:rPr lang="ja-JP" altLang="en-US">
                <a:latin typeface="Arial" panose="020B0604020202020204" pitchFamily="34" charset="0"/>
              </a:rPr>
              <a:t>”</a:t>
            </a:r>
            <a:r>
              <a:rPr lang="en-US" altLang="ja-JP"/>
              <a:t> a program by modifying it</a:t>
            </a:r>
          </a:p>
          <a:p>
            <a:pPr eaLnBrk="1" hangingPunct="1"/>
            <a:r>
              <a:rPr lang="en-US" altLang="en-US"/>
              <a:t>Self-copied into the program to spread</a:t>
            </a:r>
          </a:p>
          <a:p>
            <a:pPr eaLnBrk="1" hangingPunct="1"/>
            <a:r>
              <a:rPr lang="en-US" altLang="en-US"/>
              <a:t>Four stages:</a:t>
            </a:r>
          </a:p>
          <a:p>
            <a:pPr lvl="1" eaLnBrk="1" hangingPunct="1"/>
            <a:r>
              <a:rPr lang="en-US" altLang="en-US"/>
              <a:t>dormant phase</a:t>
            </a:r>
          </a:p>
          <a:p>
            <a:pPr lvl="1" eaLnBrk="1" hangingPunct="1"/>
            <a:r>
              <a:rPr lang="en-US" altLang="en-US"/>
              <a:t>propagation phase</a:t>
            </a:r>
          </a:p>
          <a:p>
            <a:pPr lvl="2" eaLnBrk="1" hangingPunct="1"/>
            <a:r>
              <a:rPr lang="en-US" altLang="en-US"/>
              <a:t>E.g., attachment to email</a:t>
            </a:r>
          </a:p>
          <a:p>
            <a:pPr lvl="1" eaLnBrk="1" hangingPunct="1"/>
            <a:r>
              <a:rPr lang="en-US" altLang="en-US"/>
              <a:t>triggering phase</a:t>
            </a:r>
          </a:p>
          <a:p>
            <a:pPr lvl="1" eaLnBrk="1" hangingPunct="1"/>
            <a:r>
              <a:rPr lang="en-US" altLang="en-US"/>
              <a:t>execution phase</a:t>
            </a:r>
          </a:p>
        </p:txBody>
      </p:sp>
      <p:sp>
        <p:nvSpPr>
          <p:cNvPr id="19459" name="Slide Number Placeholder 5">
            <a:extLst>
              <a:ext uri="{FF2B5EF4-FFF2-40B4-BE49-F238E27FC236}">
                <a16:creationId xmlns:a16="http://schemas.microsoft.com/office/drawing/2014/main" id="{528F8154-6FFC-6C52-865E-5CF9B772946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18EA671E-E720-934D-AB26-DD0C4192FABE}" type="slidenum">
              <a:rPr lang="en-US" altLang="en-US" sz="900" smtClean="0">
                <a:solidFill>
                  <a:srgbClr val="898989"/>
                </a:solidFill>
                <a:latin typeface="Arial" panose="020B0604020202020204" pitchFamily="34" charset="0"/>
              </a:rPr>
              <a:pPr>
                <a:spcBef>
                  <a:spcPct val="0"/>
                </a:spcBef>
                <a:buFontTx/>
                <a:buNone/>
              </a:pPr>
              <a:t>2</a:t>
            </a:fld>
            <a:endParaRPr lang="en-US" altLang="en-US" sz="900">
              <a:solidFill>
                <a:srgbClr val="89898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2B7EC8A5-753E-DE8A-306B-92CC448EA272}"/>
              </a:ext>
            </a:extLst>
          </p:cNvPr>
          <p:cNvSpPr>
            <a:spLocks noGrp="1"/>
          </p:cNvSpPr>
          <p:nvPr>
            <p:ph type="title"/>
          </p:nvPr>
        </p:nvSpPr>
        <p:spPr>
          <a:xfrm>
            <a:off x="1925638" y="111125"/>
            <a:ext cx="5829300" cy="746125"/>
          </a:xfrm>
        </p:spPr>
        <p:txBody>
          <a:bodyPr/>
          <a:lstStyle/>
          <a:p>
            <a:pPr eaLnBrk="1" hangingPunct="1"/>
            <a:r>
              <a:rPr lang="en-US" altLang="en-US"/>
              <a:t>Virus Structure</a:t>
            </a:r>
          </a:p>
        </p:txBody>
      </p:sp>
      <p:sp>
        <p:nvSpPr>
          <p:cNvPr id="18435" name="Rectangle 3">
            <a:extLst>
              <a:ext uri="{FF2B5EF4-FFF2-40B4-BE49-F238E27FC236}">
                <a16:creationId xmlns:a16="http://schemas.microsoft.com/office/drawing/2014/main" id="{BE27C307-AA00-7CA6-9E5B-5A8E5A0971B0}"/>
              </a:ext>
            </a:extLst>
          </p:cNvPr>
          <p:cNvSpPr>
            <a:spLocks noGrp="1" noChangeArrowheads="1"/>
          </p:cNvSpPr>
          <p:nvPr>
            <p:ph idx="1"/>
          </p:nvPr>
        </p:nvSpPr>
        <p:spPr>
          <a:xfrm>
            <a:off x="1828800" y="904875"/>
            <a:ext cx="5870575" cy="3983038"/>
          </a:xfrm>
        </p:spPr>
        <p:txBody>
          <a:bodyPr>
            <a:normAutofit/>
          </a:bodyPr>
          <a:lstStyle/>
          <a:p>
            <a:pPr eaLnBrk="1" hangingPunct="1">
              <a:defRPr/>
            </a:pPr>
            <a:r>
              <a:rPr lang="en-US" altLang="en-US" sz="2250"/>
              <a:t>First line: go to </a:t>
            </a:r>
            <a:r>
              <a:rPr lang="ja-JP" altLang="en-US" sz="2250">
                <a:latin typeface="Arial" panose="020B0604020202020204" pitchFamily="34" charset="0"/>
              </a:rPr>
              <a:t>“</a:t>
            </a:r>
            <a:r>
              <a:rPr lang="en-US" altLang="ja-JP" sz="2250"/>
              <a:t>main</a:t>
            </a:r>
            <a:r>
              <a:rPr lang="ja-JP" altLang="en-US" sz="2250">
                <a:latin typeface="Arial" panose="020B0604020202020204" pitchFamily="34" charset="0"/>
              </a:rPr>
              <a:t>”</a:t>
            </a:r>
            <a:r>
              <a:rPr lang="en-US" altLang="ja-JP" sz="2250"/>
              <a:t> of virus program</a:t>
            </a:r>
          </a:p>
          <a:p>
            <a:pPr eaLnBrk="1" hangingPunct="1">
              <a:defRPr/>
            </a:pPr>
            <a:r>
              <a:rPr lang="en-US" altLang="en-US" sz="2250"/>
              <a:t>Second line: a special mark (infected or not)</a:t>
            </a:r>
          </a:p>
          <a:p>
            <a:pPr eaLnBrk="1" hangingPunct="1">
              <a:defRPr/>
            </a:pPr>
            <a:r>
              <a:rPr lang="en-US" altLang="en-US" sz="2250"/>
              <a:t>Main:</a:t>
            </a:r>
          </a:p>
          <a:p>
            <a:pPr lvl="1" eaLnBrk="1" hangingPunct="1">
              <a:defRPr/>
            </a:pPr>
            <a:r>
              <a:rPr lang="en-US" altLang="en-US" sz="1950"/>
              <a:t>find uninfected programs</a:t>
            </a:r>
          </a:p>
          <a:p>
            <a:pPr lvl="2" eaLnBrk="1" hangingPunct="1">
              <a:defRPr/>
            </a:pPr>
            <a:r>
              <a:rPr lang="en-US" altLang="en-US" sz="1650"/>
              <a:t>infect and mark them</a:t>
            </a:r>
          </a:p>
          <a:p>
            <a:pPr lvl="1" eaLnBrk="1" hangingPunct="1">
              <a:defRPr/>
            </a:pPr>
            <a:r>
              <a:rPr lang="en-US" altLang="en-US" sz="1950"/>
              <a:t>do something damaging to the system</a:t>
            </a:r>
          </a:p>
          <a:p>
            <a:pPr lvl="1" eaLnBrk="1" hangingPunct="1">
              <a:defRPr/>
            </a:pPr>
            <a:r>
              <a:rPr lang="en-US" altLang="en-US" sz="1950"/>
              <a:t>now </a:t>
            </a:r>
            <a:r>
              <a:rPr lang="ja-JP" altLang="en-US" sz="1950">
                <a:latin typeface="Arial" panose="020B0604020202020204" pitchFamily="34" charset="0"/>
              </a:rPr>
              <a:t>“</a:t>
            </a:r>
            <a:r>
              <a:rPr lang="en-US" altLang="ja-JP" sz="1950"/>
              <a:t>go to</a:t>
            </a:r>
            <a:r>
              <a:rPr lang="ja-JP" altLang="en-US" sz="1950">
                <a:latin typeface="Arial" panose="020B0604020202020204" pitchFamily="34" charset="0"/>
              </a:rPr>
              <a:t>”</a:t>
            </a:r>
            <a:r>
              <a:rPr lang="en-US" altLang="ja-JP" sz="1950"/>
              <a:t> the first line of the original program</a:t>
            </a:r>
          </a:p>
          <a:p>
            <a:pPr lvl="2" eaLnBrk="1" hangingPunct="1">
              <a:defRPr/>
            </a:pPr>
            <a:r>
              <a:rPr lang="en-US" altLang="en-US" sz="1650"/>
              <a:t>appear to do the normal work</a:t>
            </a:r>
          </a:p>
          <a:p>
            <a:pPr eaLnBrk="1" hangingPunct="1">
              <a:defRPr/>
            </a:pPr>
            <a:r>
              <a:rPr lang="en-US" altLang="en-US" sz="2250"/>
              <a:t>Avoid detection by looking at size of program:</a:t>
            </a:r>
          </a:p>
          <a:p>
            <a:pPr lvl="1" eaLnBrk="1" hangingPunct="1">
              <a:defRPr/>
            </a:pPr>
            <a:r>
              <a:rPr lang="en-US" altLang="en-US" sz="1950"/>
              <a:t>compress/decompress the original program</a:t>
            </a:r>
          </a:p>
        </p:txBody>
      </p:sp>
      <p:sp>
        <p:nvSpPr>
          <p:cNvPr id="21507" name="Slide Number Placeholder 5">
            <a:extLst>
              <a:ext uri="{FF2B5EF4-FFF2-40B4-BE49-F238E27FC236}">
                <a16:creationId xmlns:a16="http://schemas.microsoft.com/office/drawing/2014/main" id="{51C49D70-A69F-99B2-D1CC-A38959A48E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5910C251-D135-1F46-B8C2-DBC48A96B30A}" type="slidenum">
              <a:rPr lang="en-US" altLang="en-US" sz="900" smtClean="0">
                <a:solidFill>
                  <a:srgbClr val="898989"/>
                </a:solidFill>
                <a:latin typeface="Arial" panose="020B0604020202020204" pitchFamily="34" charset="0"/>
              </a:rPr>
              <a:pPr>
                <a:spcBef>
                  <a:spcPct val="0"/>
                </a:spcBef>
                <a:buFontTx/>
                <a:buNone/>
              </a:pPr>
              <a:t>3</a:t>
            </a:fld>
            <a:endParaRPr lang="en-US" altLang="en-US" sz="900">
              <a:solidFill>
                <a:srgbClr val="89898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5FF07200-D5D3-9DB1-D22C-DBA5814930CE}"/>
              </a:ext>
            </a:extLst>
          </p:cNvPr>
          <p:cNvSpPr>
            <a:spLocks noGrp="1"/>
          </p:cNvSpPr>
          <p:nvPr>
            <p:ph type="title"/>
          </p:nvPr>
        </p:nvSpPr>
        <p:spPr>
          <a:xfrm>
            <a:off x="1935163" y="157163"/>
            <a:ext cx="5829300" cy="746125"/>
          </a:xfrm>
        </p:spPr>
        <p:txBody>
          <a:bodyPr/>
          <a:lstStyle/>
          <a:p>
            <a:pPr eaLnBrk="1" hangingPunct="1"/>
            <a:r>
              <a:rPr lang="en-US" altLang="en-US"/>
              <a:t>Types of Viruses</a:t>
            </a:r>
          </a:p>
        </p:txBody>
      </p:sp>
      <p:sp>
        <p:nvSpPr>
          <p:cNvPr id="23554" name="Rectangle 3">
            <a:extLst>
              <a:ext uri="{FF2B5EF4-FFF2-40B4-BE49-F238E27FC236}">
                <a16:creationId xmlns:a16="http://schemas.microsoft.com/office/drawing/2014/main" id="{745A9EAD-5C44-BA0F-E64D-0045C9EBBB2F}"/>
              </a:ext>
            </a:extLst>
          </p:cNvPr>
          <p:cNvSpPr>
            <a:spLocks noGrp="1"/>
          </p:cNvSpPr>
          <p:nvPr>
            <p:ph idx="1"/>
          </p:nvPr>
        </p:nvSpPr>
        <p:spPr>
          <a:xfrm>
            <a:off x="1960563" y="868363"/>
            <a:ext cx="5694362" cy="4129087"/>
          </a:xfrm>
        </p:spPr>
        <p:txBody>
          <a:bodyPr/>
          <a:lstStyle/>
          <a:p>
            <a:pPr eaLnBrk="1" hangingPunct="1"/>
            <a:r>
              <a:rPr lang="en-US" altLang="en-US"/>
              <a:t>Parasitic virus</a:t>
            </a:r>
          </a:p>
          <a:p>
            <a:pPr lvl="1" eaLnBrk="1" hangingPunct="1"/>
            <a:r>
              <a:rPr lang="en-US" altLang="en-US"/>
              <a:t>search and infect executable files</a:t>
            </a:r>
          </a:p>
          <a:p>
            <a:pPr eaLnBrk="1" hangingPunct="1"/>
            <a:r>
              <a:rPr lang="en-US" altLang="en-US"/>
              <a:t>Memory-resident virus</a:t>
            </a:r>
          </a:p>
          <a:p>
            <a:pPr lvl="1" eaLnBrk="1" hangingPunct="1"/>
            <a:r>
              <a:rPr lang="en-US" altLang="en-US"/>
              <a:t>infect running programs</a:t>
            </a:r>
          </a:p>
          <a:p>
            <a:pPr eaLnBrk="1" hangingPunct="1"/>
            <a:r>
              <a:rPr lang="en-US" altLang="en-US"/>
              <a:t>Boot sector virus</a:t>
            </a:r>
          </a:p>
          <a:p>
            <a:pPr lvl="1" eaLnBrk="1" hangingPunct="1"/>
            <a:r>
              <a:rPr lang="en-US" altLang="en-US"/>
              <a:t>spreads whenever the system is booted</a:t>
            </a:r>
          </a:p>
          <a:p>
            <a:pPr eaLnBrk="1" hangingPunct="1"/>
            <a:r>
              <a:rPr lang="en-US" altLang="en-US"/>
              <a:t>Stealth virus</a:t>
            </a:r>
          </a:p>
          <a:p>
            <a:pPr eaLnBrk="1" hangingPunct="1"/>
            <a:r>
              <a:rPr lang="en-US" altLang="en-US"/>
              <a:t>Polymorphic virus</a:t>
            </a:r>
          </a:p>
          <a:p>
            <a:pPr lvl="1" eaLnBrk="1" hangingPunct="1"/>
            <a:r>
              <a:rPr lang="en-US" altLang="en-US"/>
              <a:t>encrypt part of the virus program using randomly generated key</a:t>
            </a:r>
          </a:p>
        </p:txBody>
      </p:sp>
      <p:sp>
        <p:nvSpPr>
          <p:cNvPr id="23555" name="Slide Number Placeholder 5">
            <a:extLst>
              <a:ext uri="{FF2B5EF4-FFF2-40B4-BE49-F238E27FC236}">
                <a16:creationId xmlns:a16="http://schemas.microsoft.com/office/drawing/2014/main" id="{AB09CC58-4D5F-B08F-A21D-7121A34D12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5746110E-9B52-7C48-9DD4-2C39B4B840A7}" type="slidenum">
              <a:rPr lang="en-US" altLang="en-US" sz="900" smtClean="0">
                <a:solidFill>
                  <a:srgbClr val="898989"/>
                </a:solidFill>
                <a:latin typeface="Arial" panose="020B0604020202020204" pitchFamily="34" charset="0"/>
              </a:rPr>
              <a:pPr>
                <a:spcBef>
                  <a:spcPct val="0"/>
                </a:spcBef>
                <a:buFontTx/>
                <a:buNone/>
              </a:pPr>
              <a:t>4</a:t>
            </a:fld>
            <a:endParaRPr lang="en-US" altLang="en-US" sz="900">
              <a:solidFill>
                <a:srgbClr val="898989"/>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52196CCF-E179-0712-9EDB-1FD197805D84}"/>
              </a:ext>
            </a:extLst>
          </p:cNvPr>
          <p:cNvSpPr>
            <a:spLocks noGrp="1"/>
          </p:cNvSpPr>
          <p:nvPr>
            <p:ph type="title"/>
          </p:nvPr>
        </p:nvSpPr>
        <p:spPr/>
        <p:txBody>
          <a:bodyPr/>
          <a:lstStyle/>
          <a:p>
            <a:pPr eaLnBrk="1" hangingPunct="1"/>
            <a:r>
              <a:rPr lang="en-US" altLang="en-US" sz="2700"/>
              <a:t>What is a Worm?</a:t>
            </a:r>
            <a:endParaRPr lang="en-US" altLang="en-US"/>
          </a:p>
        </p:txBody>
      </p:sp>
      <p:sp>
        <p:nvSpPr>
          <p:cNvPr id="25602" name="Rectangle 3">
            <a:extLst>
              <a:ext uri="{FF2B5EF4-FFF2-40B4-BE49-F238E27FC236}">
                <a16:creationId xmlns:a16="http://schemas.microsoft.com/office/drawing/2014/main" id="{27CF8DCF-4F6B-9600-2F1F-E40B2EC425F6}"/>
              </a:ext>
            </a:extLst>
          </p:cNvPr>
          <p:cNvSpPr>
            <a:spLocks noGrp="1"/>
          </p:cNvSpPr>
          <p:nvPr>
            <p:ph idx="1"/>
          </p:nvPr>
        </p:nvSpPr>
        <p:spPr/>
        <p:txBody>
          <a:bodyPr/>
          <a:lstStyle/>
          <a:p>
            <a:pPr eaLnBrk="1" hangingPunct="1"/>
            <a:r>
              <a:rPr lang="en-US" altLang="en-US" sz="1800"/>
              <a:t>Code that replicates and propagates across the network</a:t>
            </a:r>
          </a:p>
          <a:p>
            <a:pPr lvl="1" eaLnBrk="1" hangingPunct="1"/>
            <a:r>
              <a:rPr lang="en-US" altLang="en-US" sz="1500"/>
              <a:t>Often carries a </a:t>
            </a:r>
            <a:r>
              <a:rPr lang="ja-JP" altLang="en-US" sz="1500">
                <a:latin typeface="Arial" panose="020B0604020202020204" pitchFamily="34" charset="0"/>
              </a:rPr>
              <a:t>“</a:t>
            </a:r>
            <a:r>
              <a:rPr lang="en-US" altLang="ja-JP" sz="1500"/>
              <a:t>payload</a:t>
            </a:r>
            <a:r>
              <a:rPr lang="ja-JP" altLang="en-US" sz="1500">
                <a:latin typeface="Arial" panose="020B0604020202020204" pitchFamily="34" charset="0"/>
              </a:rPr>
              <a:t>”</a:t>
            </a:r>
            <a:endParaRPr lang="en-US" altLang="ja-JP" sz="1500"/>
          </a:p>
          <a:p>
            <a:pPr eaLnBrk="1" hangingPunct="1"/>
            <a:endParaRPr lang="en-US" altLang="en-US" sz="1800"/>
          </a:p>
          <a:p>
            <a:pPr eaLnBrk="1" hangingPunct="1"/>
            <a:r>
              <a:rPr lang="en-US" altLang="en-US" sz="1800"/>
              <a:t>Usually spread via exploiting flaws in open services</a:t>
            </a:r>
          </a:p>
          <a:p>
            <a:pPr lvl="1" eaLnBrk="1" hangingPunct="1"/>
            <a:r>
              <a:rPr lang="ja-JP" altLang="en-US" sz="1500">
                <a:latin typeface="Arial" panose="020B0604020202020204" pitchFamily="34" charset="0"/>
              </a:rPr>
              <a:t>“</a:t>
            </a:r>
            <a:r>
              <a:rPr lang="en-US" altLang="ja-JP" sz="1500"/>
              <a:t>Viruses</a:t>
            </a:r>
            <a:r>
              <a:rPr lang="ja-JP" altLang="en-US" sz="1500">
                <a:latin typeface="Arial" panose="020B0604020202020204" pitchFamily="34" charset="0"/>
              </a:rPr>
              <a:t>”</a:t>
            </a:r>
            <a:r>
              <a:rPr lang="en-US" altLang="ja-JP" sz="1500"/>
              <a:t> require user action to spread</a:t>
            </a:r>
          </a:p>
          <a:p>
            <a:pPr lvl="1" eaLnBrk="1" hangingPunct="1"/>
            <a:endParaRPr lang="en-US" altLang="en-US" sz="1500"/>
          </a:p>
          <a:p>
            <a:pPr eaLnBrk="1" hangingPunct="1"/>
            <a:r>
              <a:rPr lang="en-US" altLang="en-US" sz="1800" b="1">
                <a:solidFill>
                  <a:srgbClr val="FF0000"/>
                </a:solidFill>
              </a:rPr>
              <a:t>First worm:</a:t>
            </a:r>
            <a:r>
              <a:rPr lang="en-US" altLang="en-US" sz="1800"/>
              <a:t> Robert Morris, November 1988</a:t>
            </a:r>
          </a:p>
          <a:p>
            <a:pPr lvl="1" eaLnBrk="1" hangingPunct="1"/>
            <a:r>
              <a:rPr lang="en-US" altLang="en-US" sz="1500"/>
              <a:t>6-10% of all Internet hosts infected (!)</a:t>
            </a:r>
          </a:p>
          <a:p>
            <a:pPr lvl="1" eaLnBrk="1" hangingPunct="1"/>
            <a:endParaRPr lang="en-US" altLang="en-US" sz="1500"/>
          </a:p>
          <a:p>
            <a:pPr eaLnBrk="1" hangingPunct="1"/>
            <a:r>
              <a:rPr lang="en-US" altLang="en-US" sz="1800"/>
              <a:t>Many more since, but none on that scale until July 2001</a:t>
            </a:r>
          </a:p>
        </p:txBody>
      </p:sp>
      <p:sp>
        <p:nvSpPr>
          <p:cNvPr id="25603" name="Slide Number Placeholder 5">
            <a:extLst>
              <a:ext uri="{FF2B5EF4-FFF2-40B4-BE49-F238E27FC236}">
                <a16:creationId xmlns:a16="http://schemas.microsoft.com/office/drawing/2014/main" id="{E9C44CA3-B09C-0DFD-9415-4E009A8AECE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700564C-8ADD-254C-9F53-618A67733511}" type="slidenum">
              <a:rPr lang="en-US" altLang="en-US" sz="900" smtClean="0">
                <a:solidFill>
                  <a:srgbClr val="898989"/>
                </a:solidFill>
                <a:latin typeface="Arial" panose="020B0604020202020204" pitchFamily="34" charset="0"/>
              </a:rPr>
              <a:pPr>
                <a:spcBef>
                  <a:spcPct val="0"/>
                </a:spcBef>
                <a:buFontTx/>
                <a:buNone/>
              </a:pPr>
              <a:t>5</a:t>
            </a:fld>
            <a:endParaRPr lang="en-US" altLang="en-US" sz="900">
              <a:solidFill>
                <a:srgbClr val="898989"/>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0BF575-145B-CA7D-CFCE-969C7AC4C7FC}"/>
              </a:ext>
            </a:extLst>
          </p:cNvPr>
          <p:cNvSpPr>
            <a:spLocks noGrp="1"/>
          </p:cNvSpPr>
          <p:nvPr>
            <p:ph type="title"/>
          </p:nvPr>
        </p:nvSpPr>
        <p:spPr>
          <a:xfrm>
            <a:off x="722313" y="2114550"/>
            <a:ext cx="7772400" cy="1022350"/>
          </a:xfrm>
        </p:spPr>
        <p:txBody>
          <a:bodyPr rtlCol="0"/>
          <a:lstStyle/>
          <a:p>
            <a:pPr eaLnBrk="1" fontAlgn="auto" hangingPunct="1">
              <a:spcAft>
                <a:spcPts val="0"/>
              </a:spcAft>
              <a:defRPr/>
            </a:pPr>
            <a:r>
              <a:rPr lang="en-US" dirty="0">
                <a:ea typeface="+mj-ea"/>
              </a:rPr>
              <a:t>Worms: then and now</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57E1ED49-5EA1-7102-61FA-1099888FE561}"/>
              </a:ext>
            </a:extLst>
          </p:cNvPr>
          <p:cNvSpPr>
            <a:spLocks noGrp="1"/>
          </p:cNvSpPr>
          <p:nvPr>
            <p:ph type="title"/>
          </p:nvPr>
        </p:nvSpPr>
        <p:spPr/>
        <p:txBody>
          <a:bodyPr/>
          <a:lstStyle/>
          <a:p>
            <a:pPr eaLnBrk="1" hangingPunct="1"/>
            <a:r>
              <a:rPr lang="en-US" altLang="en-US"/>
              <a:t>Morris Worm</a:t>
            </a:r>
          </a:p>
        </p:txBody>
      </p:sp>
      <p:sp>
        <p:nvSpPr>
          <p:cNvPr id="3" name="Content Placeholder 2">
            <a:extLst>
              <a:ext uri="{FF2B5EF4-FFF2-40B4-BE49-F238E27FC236}">
                <a16:creationId xmlns:a16="http://schemas.microsoft.com/office/drawing/2014/main" id="{7AC0976F-14F6-BF11-E5BD-1ECBEAD758AF}"/>
              </a:ext>
            </a:extLst>
          </p:cNvPr>
          <p:cNvSpPr>
            <a:spLocks noGrp="1"/>
          </p:cNvSpPr>
          <p:nvPr>
            <p:ph idx="1"/>
          </p:nvPr>
        </p:nvSpPr>
        <p:spPr>
          <a:xfrm>
            <a:off x="1485900" y="1200150"/>
            <a:ext cx="4714875" cy="3394075"/>
          </a:xfrm>
        </p:spPr>
        <p:txBody>
          <a:bodyPr>
            <a:normAutofit/>
          </a:bodyPr>
          <a:lstStyle/>
          <a:p>
            <a:pPr marL="0" indent="0" eaLnBrk="1" hangingPunct="1">
              <a:buFont typeface="Arial" panose="020B0604020202020204" pitchFamily="34" charset="0"/>
              <a:buNone/>
              <a:defRPr/>
            </a:pPr>
            <a:r>
              <a:rPr lang="en-US" altLang="en-US" sz="1950"/>
              <a:t>Nov 2, 1988 – First major worm</a:t>
            </a:r>
          </a:p>
          <a:p>
            <a:pPr marL="0" indent="0" eaLnBrk="1" hangingPunct="1">
              <a:buFont typeface="Arial" panose="020B0604020202020204" pitchFamily="34" charset="0"/>
              <a:buNone/>
              <a:defRPr/>
            </a:pPr>
            <a:r>
              <a:rPr lang="en-US" altLang="en-US" sz="1950"/>
              <a:t>∼10% of Internet-connected machines affected</a:t>
            </a:r>
          </a:p>
          <a:p>
            <a:pPr marL="0" indent="0" eaLnBrk="1" hangingPunct="1">
              <a:defRPr/>
            </a:pPr>
            <a:endParaRPr lang="en-US" altLang="en-US" sz="1950"/>
          </a:p>
          <a:p>
            <a:pPr marL="0" indent="0" eaLnBrk="1" hangingPunct="1">
              <a:buFont typeface="Arial" panose="020B0604020202020204" pitchFamily="34" charset="0"/>
              <a:buNone/>
              <a:defRPr/>
            </a:pPr>
            <a:r>
              <a:rPr lang="en-US" altLang="en-US" sz="1950"/>
              <a:t>Robert Tappan Morris</a:t>
            </a:r>
          </a:p>
          <a:p>
            <a:pPr lvl="1" eaLnBrk="1" hangingPunct="1">
              <a:defRPr/>
            </a:pPr>
            <a:r>
              <a:rPr lang="en-US" altLang="en-US" sz="1650"/>
              <a:t>Cornell student</a:t>
            </a:r>
          </a:p>
          <a:p>
            <a:pPr lvl="1" eaLnBrk="1" hangingPunct="1">
              <a:defRPr/>
            </a:pPr>
            <a:r>
              <a:rPr lang="en-US" altLang="en-US" sz="1650"/>
              <a:t>Son of computer security expert</a:t>
            </a:r>
          </a:p>
          <a:p>
            <a:pPr lvl="1" eaLnBrk="1" hangingPunct="1">
              <a:defRPr/>
            </a:pPr>
            <a:r>
              <a:rPr lang="en-US" altLang="en-US" sz="1650"/>
              <a:t>Motivated by curiosity</a:t>
            </a:r>
          </a:p>
          <a:p>
            <a:pPr lvl="1" eaLnBrk="1" hangingPunct="1">
              <a:defRPr/>
            </a:pPr>
            <a:r>
              <a:rPr lang="en-US" altLang="en-US" sz="1650"/>
              <a:t>First CFAA prosecution</a:t>
            </a:r>
          </a:p>
          <a:p>
            <a:pPr lvl="1" eaLnBrk="1" hangingPunct="1">
              <a:defRPr/>
            </a:pPr>
            <a:r>
              <a:rPr lang="en-US" altLang="en-US" sz="1650"/>
              <a:t>Now part of YCombinator</a:t>
            </a:r>
          </a:p>
          <a:p>
            <a:pPr lvl="1" eaLnBrk="1" hangingPunct="1">
              <a:defRPr/>
            </a:pPr>
            <a:endParaRPr lang="en-US" altLang="en-US" sz="1650"/>
          </a:p>
        </p:txBody>
      </p:sp>
      <p:pic>
        <p:nvPicPr>
          <p:cNvPr id="1026" name="Picture 2" descr="Robert Morris. (Photo by Intel Free Press)">
            <a:extLst>
              <a:ext uri="{FF2B5EF4-FFF2-40B4-BE49-F238E27FC236}">
                <a16:creationId xmlns:a16="http://schemas.microsoft.com/office/drawing/2014/main" id="{77058DE2-E57C-D9EB-DEB4-872374B33729}"/>
              </a:ext>
            </a:extLst>
          </p:cNvPr>
          <p:cNvPicPr>
            <a:picLocks noChangeAspect="1" noChangeArrowheads="1"/>
          </p:cNvPicPr>
          <p:nvPr/>
        </p:nvPicPr>
        <p:blipFill>
          <a:blip r:embed="rId3"/>
          <a:srcRect/>
          <a:stretch>
            <a:fillRect/>
          </a:stretch>
        </p:blipFill>
        <p:spPr bwMode="auto">
          <a:xfrm>
            <a:off x="5543550" y="1195388"/>
            <a:ext cx="2197100" cy="3371850"/>
          </a:xfrm>
          <a:prstGeom prst="rect">
            <a:avLst/>
          </a:prstGeom>
          <a:noFill/>
          <a:ln>
            <a:noFill/>
          </a:ln>
          <a:effectLst>
            <a:outerShdw blurRad="292100" dist="139700" dir="2700000" algn="tl" rotWithShape="0">
              <a:srgbClr val="333333">
                <a:alpha val="64999"/>
              </a:srgbClr>
            </a:outerShdw>
          </a:effec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980D4286-DAAF-A0D8-D292-060197436447}"/>
              </a:ext>
            </a:extLst>
          </p:cNvPr>
          <p:cNvSpPr>
            <a:spLocks noGrp="1"/>
          </p:cNvSpPr>
          <p:nvPr>
            <p:ph type="title"/>
          </p:nvPr>
        </p:nvSpPr>
        <p:spPr/>
        <p:txBody>
          <a:bodyPr/>
          <a:lstStyle/>
          <a:p>
            <a:pPr eaLnBrk="1" hangingPunct="1"/>
            <a:r>
              <a:rPr lang="en-US" altLang="en-US"/>
              <a:t>Morris Internet Worm</a:t>
            </a:r>
          </a:p>
        </p:txBody>
      </p:sp>
      <p:sp>
        <p:nvSpPr>
          <p:cNvPr id="31746" name="Rectangle 3">
            <a:extLst>
              <a:ext uri="{FF2B5EF4-FFF2-40B4-BE49-F238E27FC236}">
                <a16:creationId xmlns:a16="http://schemas.microsoft.com/office/drawing/2014/main" id="{FD40BDD6-AB47-DD35-B6CA-8C1B1848B379}"/>
              </a:ext>
            </a:extLst>
          </p:cNvPr>
          <p:cNvSpPr>
            <a:spLocks noGrp="1"/>
          </p:cNvSpPr>
          <p:nvPr>
            <p:ph idx="1"/>
          </p:nvPr>
        </p:nvSpPr>
        <p:spPr>
          <a:xfrm>
            <a:off x="1714500" y="1314450"/>
            <a:ext cx="5829300" cy="3398838"/>
          </a:xfrm>
        </p:spPr>
        <p:txBody>
          <a:bodyPr/>
          <a:lstStyle/>
          <a:p>
            <a:pPr eaLnBrk="1" hangingPunct="1">
              <a:lnSpc>
                <a:spcPct val="80000"/>
              </a:lnSpc>
            </a:pPr>
            <a:r>
              <a:rPr lang="en-US" altLang="en-US"/>
              <a:t>What it did</a:t>
            </a:r>
          </a:p>
          <a:p>
            <a:pPr lvl="1" eaLnBrk="1" hangingPunct="1">
              <a:lnSpc>
                <a:spcPct val="80000"/>
              </a:lnSpc>
            </a:pPr>
            <a:r>
              <a:rPr lang="en-US" altLang="en-US"/>
              <a:t>Determine where it could spread</a:t>
            </a:r>
          </a:p>
          <a:p>
            <a:pPr lvl="1" eaLnBrk="1" hangingPunct="1">
              <a:lnSpc>
                <a:spcPct val="80000"/>
              </a:lnSpc>
            </a:pPr>
            <a:r>
              <a:rPr lang="en-US" altLang="en-US"/>
              <a:t>Spread its infection</a:t>
            </a:r>
          </a:p>
          <a:p>
            <a:pPr lvl="1" eaLnBrk="1" hangingPunct="1">
              <a:lnSpc>
                <a:spcPct val="80000"/>
              </a:lnSpc>
            </a:pPr>
            <a:r>
              <a:rPr lang="en-US" altLang="en-US"/>
              <a:t>Remain undiscovered and undiscoverable</a:t>
            </a:r>
          </a:p>
          <a:p>
            <a:pPr lvl="1" eaLnBrk="1" hangingPunct="1">
              <a:lnSpc>
                <a:spcPct val="80000"/>
              </a:lnSpc>
            </a:pPr>
            <a:endParaRPr lang="en-US" altLang="en-US"/>
          </a:p>
          <a:p>
            <a:pPr eaLnBrk="1" hangingPunct="1">
              <a:lnSpc>
                <a:spcPct val="80000"/>
              </a:lnSpc>
            </a:pPr>
            <a:r>
              <a:rPr lang="en-US" altLang="en-US"/>
              <a:t>Effect</a:t>
            </a:r>
          </a:p>
          <a:p>
            <a:pPr lvl="1" eaLnBrk="1" hangingPunct="1">
              <a:lnSpc>
                <a:spcPct val="80000"/>
              </a:lnSpc>
            </a:pPr>
            <a:r>
              <a:rPr lang="en-US" altLang="en-US"/>
              <a:t>Resource exhaustion – repeated infection due to a programming bug</a:t>
            </a:r>
          </a:p>
          <a:p>
            <a:pPr lvl="1" eaLnBrk="1" hangingPunct="1">
              <a:lnSpc>
                <a:spcPct val="80000"/>
              </a:lnSpc>
            </a:pPr>
            <a:r>
              <a:rPr lang="en-US" altLang="en-US"/>
              <a:t>Servers are disconnected from the Internet by sys admin to stop infection</a:t>
            </a:r>
          </a:p>
        </p:txBody>
      </p:sp>
      <p:sp>
        <p:nvSpPr>
          <p:cNvPr id="31747" name="Slide Number Placeholder 5">
            <a:extLst>
              <a:ext uri="{FF2B5EF4-FFF2-40B4-BE49-F238E27FC236}">
                <a16:creationId xmlns:a16="http://schemas.microsoft.com/office/drawing/2014/main" id="{E1FC5753-E4DC-AF40-4603-E2BCFF3963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9F799DB8-831B-1242-87D3-897B5ACDFA90}" type="slidenum">
              <a:rPr lang="en-US" altLang="en-US" sz="900" smtClean="0">
                <a:solidFill>
                  <a:srgbClr val="898989"/>
                </a:solidFill>
                <a:latin typeface="Arial" panose="020B0604020202020204" pitchFamily="34" charset="0"/>
              </a:rPr>
              <a:pPr>
                <a:spcBef>
                  <a:spcPct val="0"/>
                </a:spcBef>
                <a:buFontTx/>
                <a:buNone/>
              </a:pPr>
              <a:t>8</a:t>
            </a:fld>
            <a:endParaRPr lang="en-US" altLang="en-US" sz="900">
              <a:solidFill>
                <a:srgbClr val="898989"/>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22A3E4C0-E372-F550-872F-3035FB4612E7}"/>
              </a:ext>
            </a:extLst>
          </p:cNvPr>
          <p:cNvSpPr>
            <a:spLocks noGrp="1"/>
          </p:cNvSpPr>
          <p:nvPr>
            <p:ph type="title"/>
          </p:nvPr>
        </p:nvSpPr>
        <p:spPr>
          <a:xfrm>
            <a:off x="1989138" y="188913"/>
            <a:ext cx="5829300" cy="857250"/>
          </a:xfrm>
        </p:spPr>
        <p:txBody>
          <a:bodyPr/>
          <a:lstStyle/>
          <a:p>
            <a:pPr eaLnBrk="1" hangingPunct="1"/>
            <a:r>
              <a:rPr lang="en-US" altLang="en-US"/>
              <a:t>Morris Internet Worm</a:t>
            </a:r>
          </a:p>
        </p:txBody>
      </p:sp>
      <p:sp>
        <p:nvSpPr>
          <p:cNvPr id="33794" name="Rectangle 3">
            <a:extLst>
              <a:ext uri="{FF2B5EF4-FFF2-40B4-BE49-F238E27FC236}">
                <a16:creationId xmlns:a16="http://schemas.microsoft.com/office/drawing/2014/main" id="{3AA05149-1DDF-F9FD-8F27-E00E171BCA9E}"/>
              </a:ext>
            </a:extLst>
          </p:cNvPr>
          <p:cNvSpPr>
            <a:spLocks noGrp="1"/>
          </p:cNvSpPr>
          <p:nvPr>
            <p:ph idx="1"/>
          </p:nvPr>
        </p:nvSpPr>
        <p:spPr>
          <a:xfrm>
            <a:off x="1771650" y="1020763"/>
            <a:ext cx="5829300" cy="3863975"/>
          </a:xfrm>
        </p:spPr>
        <p:txBody>
          <a:bodyPr/>
          <a:lstStyle/>
          <a:p>
            <a:pPr eaLnBrk="1" hangingPunct="1">
              <a:lnSpc>
                <a:spcPct val="90000"/>
              </a:lnSpc>
            </a:pPr>
            <a:r>
              <a:rPr lang="en-US" altLang="en-US"/>
              <a:t>How it worked</a:t>
            </a:r>
          </a:p>
          <a:p>
            <a:pPr lvl="1" eaLnBrk="1" hangingPunct="1">
              <a:lnSpc>
                <a:spcPct val="90000"/>
              </a:lnSpc>
            </a:pPr>
            <a:r>
              <a:rPr lang="en-US" altLang="en-US"/>
              <a:t>Where to spread</a:t>
            </a:r>
          </a:p>
          <a:p>
            <a:pPr lvl="2" eaLnBrk="1" hangingPunct="1">
              <a:lnSpc>
                <a:spcPct val="90000"/>
              </a:lnSpc>
            </a:pPr>
            <a:r>
              <a:rPr lang="en-US" altLang="en-US"/>
              <a:t>Exploit security flaws</a:t>
            </a:r>
          </a:p>
          <a:p>
            <a:pPr lvl="3" eaLnBrk="1" hangingPunct="1">
              <a:lnSpc>
                <a:spcPct val="90000"/>
              </a:lnSpc>
            </a:pPr>
            <a:r>
              <a:rPr lang="en-US" altLang="en-US"/>
              <a:t>Guess password (encrypted passwd file readable)</a:t>
            </a:r>
          </a:p>
          <a:p>
            <a:pPr lvl="3" eaLnBrk="1" hangingPunct="1">
              <a:lnSpc>
                <a:spcPct val="90000"/>
              </a:lnSpc>
            </a:pPr>
            <a:r>
              <a:rPr lang="en-US" altLang="en-US"/>
              <a:t>fingerd: buffer overflow</a:t>
            </a:r>
          </a:p>
          <a:p>
            <a:pPr lvl="3" eaLnBrk="1" hangingPunct="1">
              <a:lnSpc>
                <a:spcPct val="90000"/>
              </a:lnSpc>
            </a:pPr>
            <a:r>
              <a:rPr lang="en-US" altLang="en-US"/>
              <a:t>sendmail: trapdoor (accepts shell commands)</a:t>
            </a:r>
          </a:p>
          <a:p>
            <a:pPr lvl="1" eaLnBrk="1" hangingPunct="1">
              <a:lnSpc>
                <a:spcPct val="90000"/>
              </a:lnSpc>
            </a:pPr>
            <a:r>
              <a:rPr lang="en-US" altLang="en-US"/>
              <a:t>Spread</a:t>
            </a:r>
          </a:p>
          <a:p>
            <a:pPr lvl="2" eaLnBrk="1" hangingPunct="1">
              <a:lnSpc>
                <a:spcPct val="90000"/>
              </a:lnSpc>
            </a:pPr>
            <a:r>
              <a:rPr lang="en-US" altLang="en-US"/>
              <a:t>Bootstrap loader to target machine, then fetch rest of code (password authenticated)</a:t>
            </a:r>
          </a:p>
          <a:p>
            <a:pPr lvl="1" eaLnBrk="1" hangingPunct="1">
              <a:lnSpc>
                <a:spcPct val="90000"/>
              </a:lnSpc>
            </a:pPr>
            <a:r>
              <a:rPr lang="en-US" altLang="en-US"/>
              <a:t>Remain undiscoverable</a:t>
            </a:r>
          </a:p>
          <a:p>
            <a:pPr lvl="2" eaLnBrk="1" hangingPunct="1">
              <a:lnSpc>
                <a:spcPct val="90000"/>
              </a:lnSpc>
            </a:pPr>
            <a:r>
              <a:rPr lang="en-US" altLang="en-US"/>
              <a:t>Load code in memory, encrypt, remove file</a:t>
            </a:r>
          </a:p>
          <a:p>
            <a:pPr lvl="2" eaLnBrk="1" hangingPunct="1">
              <a:lnSpc>
                <a:spcPct val="90000"/>
              </a:lnSpc>
            </a:pPr>
            <a:r>
              <a:rPr lang="en-US" altLang="en-US"/>
              <a:t>Periodically changed name and process ID</a:t>
            </a:r>
          </a:p>
        </p:txBody>
      </p:sp>
      <p:sp>
        <p:nvSpPr>
          <p:cNvPr id="33795" name="Slide Number Placeholder 5">
            <a:extLst>
              <a:ext uri="{FF2B5EF4-FFF2-40B4-BE49-F238E27FC236}">
                <a16:creationId xmlns:a16="http://schemas.microsoft.com/office/drawing/2014/main" id="{F02EF51B-8549-8E29-3FB0-2CB9EA1880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621BDC6F-845E-0C46-B5A1-DD23169BF0F6}" type="slidenum">
              <a:rPr lang="en-US" altLang="en-US" sz="900" smtClean="0">
                <a:solidFill>
                  <a:srgbClr val="898989"/>
                </a:solidFill>
                <a:latin typeface="Arial" panose="020B0604020202020204" pitchFamily="34" charset="0"/>
              </a:rPr>
              <a:pPr>
                <a:spcBef>
                  <a:spcPct val="0"/>
                </a:spcBef>
                <a:buFontTx/>
                <a:buNone/>
              </a:pPr>
              <a:t>9</a:t>
            </a:fld>
            <a:endParaRPr lang="en-US" altLang="en-US" sz="900">
              <a:solidFill>
                <a:srgbClr val="898989"/>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A072C2AD-ADEC-B912-9518-37D4598549BF}"/>
              </a:ext>
            </a:extLst>
          </p:cNvPr>
          <p:cNvSpPr>
            <a:spLocks noGrp="1"/>
          </p:cNvSpPr>
          <p:nvPr>
            <p:ph type="title"/>
          </p:nvPr>
        </p:nvSpPr>
        <p:spPr>
          <a:xfrm>
            <a:off x="1447800" y="171450"/>
            <a:ext cx="6096000" cy="685800"/>
          </a:xfrm>
        </p:spPr>
        <p:txBody>
          <a:bodyPr/>
          <a:lstStyle/>
          <a:p>
            <a:pPr eaLnBrk="1" hangingPunct="1"/>
            <a:r>
              <a:rPr lang="en-US" altLang="en-US"/>
              <a:t>Morris Worm Redux</a:t>
            </a:r>
          </a:p>
        </p:txBody>
      </p:sp>
      <p:sp>
        <p:nvSpPr>
          <p:cNvPr id="35842" name="Rectangle 3">
            <a:extLst>
              <a:ext uri="{FF2B5EF4-FFF2-40B4-BE49-F238E27FC236}">
                <a16:creationId xmlns:a16="http://schemas.microsoft.com/office/drawing/2014/main" id="{DF94A1FA-EAAA-5434-5AB2-3F0ACE0F4B87}"/>
              </a:ext>
            </a:extLst>
          </p:cNvPr>
          <p:cNvSpPr>
            <a:spLocks noGrp="1"/>
          </p:cNvSpPr>
          <p:nvPr>
            <p:ph idx="1"/>
          </p:nvPr>
        </p:nvSpPr>
        <p:spPr>
          <a:xfrm>
            <a:off x="1543050" y="1200150"/>
            <a:ext cx="6343650" cy="3829050"/>
          </a:xfrm>
        </p:spPr>
        <p:txBody>
          <a:bodyPr/>
          <a:lstStyle/>
          <a:p>
            <a:pPr eaLnBrk="1" hangingPunct="1"/>
            <a:r>
              <a:rPr lang="en-US" altLang="en-US" sz="1800"/>
              <a:t>1988: No malicious payload, but bogged down infected machines by uncontrolled spawning</a:t>
            </a:r>
          </a:p>
          <a:p>
            <a:pPr lvl="1" eaLnBrk="1" hangingPunct="1"/>
            <a:r>
              <a:rPr lang="en-US" altLang="en-US" sz="1500"/>
              <a:t>Infected 10% of all Internet hosts at the time</a:t>
            </a:r>
          </a:p>
          <a:p>
            <a:pPr eaLnBrk="1" hangingPunct="1"/>
            <a:r>
              <a:rPr lang="en-US" altLang="en-US" sz="1800"/>
              <a:t>Multiple propagation vectors</a:t>
            </a:r>
          </a:p>
          <a:p>
            <a:pPr lvl="1" eaLnBrk="1" hangingPunct="1"/>
            <a:r>
              <a:rPr lang="en-US" altLang="en-US" sz="1500"/>
              <a:t>Remote execution using rsh and cracked passwords</a:t>
            </a:r>
          </a:p>
          <a:p>
            <a:pPr lvl="2" eaLnBrk="1" hangingPunct="1"/>
            <a:r>
              <a:rPr lang="en-US" altLang="en-US" sz="1500"/>
              <a:t>Tried to crack passwords using small dictionary and publicly readable password file; targeted hosts from /etc/hosts.equiv</a:t>
            </a:r>
          </a:p>
          <a:p>
            <a:pPr lvl="1" eaLnBrk="1" hangingPunct="1"/>
            <a:r>
              <a:rPr lang="en-US" altLang="en-US" sz="1500"/>
              <a:t>Buffer overflow in fingerd on VAX</a:t>
            </a:r>
          </a:p>
          <a:p>
            <a:pPr lvl="2" eaLnBrk="1" hangingPunct="1"/>
            <a:r>
              <a:rPr lang="en-US" altLang="en-US" sz="1500"/>
              <a:t>Standard stack smashing exploit</a:t>
            </a:r>
          </a:p>
          <a:p>
            <a:pPr lvl="1" eaLnBrk="1" hangingPunct="1"/>
            <a:r>
              <a:rPr lang="en-US" altLang="en-US" sz="1500"/>
              <a:t>DEBUG command in Sendmail</a:t>
            </a:r>
          </a:p>
          <a:p>
            <a:pPr lvl="2" eaLnBrk="1" hangingPunct="1"/>
            <a:r>
              <a:rPr lang="en-US" altLang="en-US" sz="1500"/>
              <a:t>In early Sendmail versions, possible to execute a command on a remote machine by sending an SMTP (mail transfer) message</a:t>
            </a:r>
          </a:p>
        </p:txBody>
      </p:sp>
      <p:sp>
        <p:nvSpPr>
          <p:cNvPr id="35843" name="Slide Number Placeholder 5">
            <a:extLst>
              <a:ext uri="{FF2B5EF4-FFF2-40B4-BE49-F238E27FC236}">
                <a16:creationId xmlns:a16="http://schemas.microsoft.com/office/drawing/2014/main" id="{290ADE69-F6C6-2577-4BFE-B0752651BAF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675A225-B426-7E48-9406-56652B7DBBBF}" type="slidenum">
              <a:rPr lang="en-US" altLang="en-US" sz="900" smtClean="0">
                <a:solidFill>
                  <a:srgbClr val="898989"/>
                </a:solidFill>
                <a:latin typeface="Arial" panose="020B0604020202020204" pitchFamily="34" charset="0"/>
              </a:rPr>
              <a:pPr>
                <a:spcBef>
                  <a:spcPct val="0"/>
                </a:spcBef>
                <a:buFontTx/>
                <a:buNone/>
              </a:pPr>
              <a:t>10</a:t>
            </a:fld>
            <a:endParaRPr lang="en-US" altLang="en-US" sz="900">
              <a:solidFill>
                <a:srgbClr val="898989"/>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3">
            <a:extLst>
              <a:ext uri="{FF2B5EF4-FFF2-40B4-BE49-F238E27FC236}">
                <a16:creationId xmlns:a16="http://schemas.microsoft.com/office/drawing/2014/main" id="{CB0A4579-98F5-7C2F-FEC1-E90EC58219A6}"/>
              </a:ext>
            </a:extLst>
          </p:cNvPr>
          <p:cNvSpPr>
            <a:spLocks noGrp="1"/>
          </p:cNvSpPr>
          <p:nvPr>
            <p:ph type="title"/>
          </p:nvPr>
        </p:nvSpPr>
        <p:spPr>
          <a:xfrm>
            <a:off x="1543050" y="2286000"/>
            <a:ext cx="6172200" cy="857250"/>
          </a:xfrm>
        </p:spPr>
        <p:txBody>
          <a:bodyPr/>
          <a:lstStyle/>
          <a:p>
            <a:pPr eaLnBrk="1" hangingPunct="1"/>
            <a:r>
              <a:rPr lang="en-US" altLang="en-US"/>
              <a:t>2000s: Worms Go “Mainstream”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3D7E37C2-2535-13F1-C708-EB72A93F3CC1}"/>
              </a:ext>
            </a:extLst>
          </p:cNvPr>
          <p:cNvSpPr>
            <a:spLocks noGrp="1"/>
          </p:cNvSpPr>
          <p:nvPr>
            <p:ph type="title"/>
          </p:nvPr>
        </p:nvSpPr>
        <p:spPr/>
        <p:txBody>
          <a:bodyPr/>
          <a:lstStyle/>
          <a:p>
            <a:pPr eaLnBrk="1" hangingPunct="1"/>
            <a:r>
              <a:rPr lang="en-US" altLang="en-US"/>
              <a:t>Summer of 2001</a:t>
            </a:r>
          </a:p>
        </p:txBody>
      </p:sp>
      <p:sp>
        <p:nvSpPr>
          <p:cNvPr id="38914" name="Slide Number Placeholder 6">
            <a:extLst>
              <a:ext uri="{FF2B5EF4-FFF2-40B4-BE49-F238E27FC236}">
                <a16:creationId xmlns:a16="http://schemas.microsoft.com/office/drawing/2014/main" id="{E9C49F0B-9E1B-1F83-490D-A9BDCA2279F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3C03692E-8947-144A-93EF-672B07B0C96D}" type="slidenum">
              <a:rPr lang="en-US" altLang="en-US" sz="900" smtClean="0">
                <a:solidFill>
                  <a:srgbClr val="898989"/>
                </a:solidFill>
                <a:latin typeface="Arial" panose="020B0604020202020204" pitchFamily="34" charset="0"/>
              </a:rPr>
              <a:pPr>
                <a:spcBef>
                  <a:spcPct val="0"/>
                </a:spcBef>
                <a:buFontTx/>
                <a:buNone/>
              </a:pPr>
              <a:t>12</a:t>
            </a:fld>
            <a:endParaRPr lang="en-US" altLang="en-US" sz="900">
              <a:solidFill>
                <a:srgbClr val="898989"/>
              </a:solidFill>
              <a:latin typeface="Arial" panose="020B0604020202020204" pitchFamily="34" charset="0"/>
            </a:endParaRPr>
          </a:p>
        </p:txBody>
      </p:sp>
      <p:pic>
        <p:nvPicPr>
          <p:cNvPr id="38915" name="Picture 3" descr="worm2001">
            <a:extLst>
              <a:ext uri="{FF2B5EF4-FFF2-40B4-BE49-F238E27FC236}">
                <a16:creationId xmlns:a16="http://schemas.microsoft.com/office/drawing/2014/main" id="{8AC26141-0EFA-503C-8298-225F3CC2A0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1657350"/>
            <a:ext cx="4286250"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 Box 5">
            <a:extLst>
              <a:ext uri="{FF2B5EF4-FFF2-40B4-BE49-F238E27FC236}">
                <a16:creationId xmlns:a16="http://schemas.microsoft.com/office/drawing/2014/main" id="{86FA6B77-DD90-D209-F6E6-CDE6F71AF1FE}"/>
              </a:ext>
            </a:extLst>
          </p:cNvPr>
          <p:cNvSpPr txBox="1">
            <a:spLocks noChangeArrowheads="1"/>
          </p:cNvSpPr>
          <p:nvPr/>
        </p:nvSpPr>
        <p:spPr bwMode="auto">
          <a:xfrm>
            <a:off x="1554163" y="4171950"/>
            <a:ext cx="17653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20000"/>
              </a:spcBef>
              <a:buClr>
                <a:schemeClr val="accent2"/>
              </a:buClr>
            </a:pPr>
            <a:r>
              <a:rPr lang="en-US" altLang="en-US" sz="1500">
                <a:solidFill>
                  <a:srgbClr val="FF0000"/>
                </a:solidFill>
                <a:latin typeface="Tahoma" panose="020B0604030504040204" pitchFamily="34" charset="0"/>
              </a:rPr>
              <a:t>Three major worm</a:t>
            </a:r>
          </a:p>
          <a:p>
            <a:pPr>
              <a:lnSpc>
                <a:spcPct val="80000"/>
              </a:lnSpc>
              <a:spcBef>
                <a:spcPct val="20000"/>
              </a:spcBef>
              <a:buClr>
                <a:schemeClr val="accent2"/>
              </a:buClr>
            </a:pPr>
            <a:r>
              <a:rPr lang="en-US" altLang="en-US" sz="1500">
                <a:solidFill>
                  <a:srgbClr val="FF0000"/>
                </a:solidFill>
                <a:latin typeface="Tahoma" panose="020B0604030504040204" pitchFamily="34" charset="0"/>
              </a:rPr>
              <a:t>outbreaks</a:t>
            </a:r>
          </a:p>
        </p:txBody>
      </p:sp>
      <p:sp>
        <p:nvSpPr>
          <p:cNvPr id="38917" name="Line 6">
            <a:extLst>
              <a:ext uri="{FF2B5EF4-FFF2-40B4-BE49-F238E27FC236}">
                <a16:creationId xmlns:a16="http://schemas.microsoft.com/office/drawing/2014/main" id="{6F38AB22-66C3-4BA0-CA55-39BDFC8C07C3}"/>
              </a:ext>
            </a:extLst>
          </p:cNvPr>
          <p:cNvSpPr>
            <a:spLocks noChangeShapeType="1"/>
          </p:cNvSpPr>
          <p:nvPr/>
        </p:nvSpPr>
        <p:spPr bwMode="auto">
          <a:xfrm flipV="1">
            <a:off x="2800350" y="3143250"/>
            <a:ext cx="171450" cy="1028700"/>
          </a:xfrm>
          <a:prstGeom prst="line">
            <a:avLst/>
          </a:prstGeom>
          <a:noFill/>
          <a:ln w="28575">
            <a:solidFill>
              <a:srgbClr val="FF0000"/>
            </a:solidFill>
            <a:round/>
            <a:headEnd type="none" w="lg" len="lg"/>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8918" name="Line 7">
            <a:extLst>
              <a:ext uri="{FF2B5EF4-FFF2-40B4-BE49-F238E27FC236}">
                <a16:creationId xmlns:a16="http://schemas.microsoft.com/office/drawing/2014/main" id="{6F04125C-0526-9F4C-BD37-389F102B6E20}"/>
              </a:ext>
            </a:extLst>
          </p:cNvPr>
          <p:cNvSpPr>
            <a:spLocks noChangeShapeType="1"/>
          </p:cNvSpPr>
          <p:nvPr/>
        </p:nvSpPr>
        <p:spPr bwMode="auto">
          <a:xfrm flipV="1">
            <a:off x="2800350" y="2857500"/>
            <a:ext cx="628650" cy="1314450"/>
          </a:xfrm>
          <a:prstGeom prst="line">
            <a:avLst/>
          </a:prstGeom>
          <a:noFill/>
          <a:ln w="28575">
            <a:solidFill>
              <a:srgbClr val="FF0000"/>
            </a:solidFill>
            <a:round/>
            <a:headEnd type="none" w="lg" len="lg"/>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8919" name="Line 8">
            <a:extLst>
              <a:ext uri="{FF2B5EF4-FFF2-40B4-BE49-F238E27FC236}">
                <a16:creationId xmlns:a16="http://schemas.microsoft.com/office/drawing/2014/main" id="{45AC875E-C389-E44F-06BC-72E3DD038A2A}"/>
              </a:ext>
            </a:extLst>
          </p:cNvPr>
          <p:cNvSpPr>
            <a:spLocks noChangeShapeType="1"/>
          </p:cNvSpPr>
          <p:nvPr/>
        </p:nvSpPr>
        <p:spPr bwMode="auto">
          <a:xfrm flipV="1">
            <a:off x="3028950" y="3600450"/>
            <a:ext cx="2228850" cy="571500"/>
          </a:xfrm>
          <a:prstGeom prst="line">
            <a:avLst/>
          </a:prstGeom>
          <a:noFill/>
          <a:ln w="28575">
            <a:solidFill>
              <a:srgbClr val="FF0000"/>
            </a:solidFill>
            <a:round/>
            <a:headEnd type="none" w="lg" len="lg"/>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8920" name="Line 9">
            <a:extLst>
              <a:ext uri="{FF2B5EF4-FFF2-40B4-BE49-F238E27FC236}">
                <a16:creationId xmlns:a16="http://schemas.microsoft.com/office/drawing/2014/main" id="{6D6266EA-2062-CED6-385E-58EE104BBEA9}"/>
              </a:ext>
            </a:extLst>
          </p:cNvPr>
          <p:cNvSpPr>
            <a:spLocks noChangeShapeType="1"/>
          </p:cNvSpPr>
          <p:nvPr/>
        </p:nvSpPr>
        <p:spPr bwMode="auto">
          <a:xfrm flipV="1">
            <a:off x="2914650" y="3257550"/>
            <a:ext cx="628650" cy="914400"/>
          </a:xfrm>
          <a:prstGeom prst="line">
            <a:avLst/>
          </a:prstGeom>
          <a:noFill/>
          <a:ln w="28575">
            <a:solidFill>
              <a:srgbClr val="FF0000"/>
            </a:solidFill>
            <a:round/>
            <a:headEnd type="none" w="lg" len="lg"/>
            <a:tailEnd type="stealth" w="lg" len="lg"/>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BE3F37F2-0BDC-BE3C-877A-D938D19AA5AC}"/>
              </a:ext>
            </a:extLst>
          </p:cNvPr>
          <p:cNvSpPr>
            <a:spLocks noGrp="1"/>
          </p:cNvSpPr>
          <p:nvPr>
            <p:ph type="title"/>
          </p:nvPr>
        </p:nvSpPr>
        <p:spPr>
          <a:xfrm>
            <a:off x="1485900" y="228600"/>
            <a:ext cx="5829300" cy="857250"/>
          </a:xfrm>
        </p:spPr>
        <p:txBody>
          <a:bodyPr/>
          <a:lstStyle/>
          <a:p>
            <a:pPr eaLnBrk="1" hangingPunct="1"/>
            <a:r>
              <a:rPr lang="en-US" altLang="en-US"/>
              <a:t>Example Worm: Code Red</a:t>
            </a:r>
          </a:p>
        </p:txBody>
      </p:sp>
      <p:sp>
        <p:nvSpPr>
          <p:cNvPr id="40962" name="Rectangle 3">
            <a:extLst>
              <a:ext uri="{FF2B5EF4-FFF2-40B4-BE49-F238E27FC236}">
                <a16:creationId xmlns:a16="http://schemas.microsoft.com/office/drawing/2014/main" id="{3624F976-4C4B-F824-FBE5-D1060A57BE20}"/>
              </a:ext>
            </a:extLst>
          </p:cNvPr>
          <p:cNvSpPr>
            <a:spLocks noGrp="1"/>
          </p:cNvSpPr>
          <p:nvPr>
            <p:ph idx="1"/>
          </p:nvPr>
        </p:nvSpPr>
        <p:spPr>
          <a:xfrm>
            <a:off x="1657350" y="1257300"/>
            <a:ext cx="5829300" cy="3543300"/>
          </a:xfrm>
        </p:spPr>
        <p:txBody>
          <a:bodyPr/>
          <a:lstStyle/>
          <a:p>
            <a:pPr eaLnBrk="1" hangingPunct="1"/>
            <a:r>
              <a:rPr lang="en-US" altLang="en-US" sz="1800"/>
              <a:t>Initial version: July 13, 2001</a:t>
            </a:r>
          </a:p>
          <a:p>
            <a:pPr eaLnBrk="1" hangingPunct="1"/>
            <a:endParaRPr lang="en-US" altLang="en-US" sz="1800"/>
          </a:p>
          <a:p>
            <a:pPr eaLnBrk="1" hangingPunct="1"/>
            <a:r>
              <a:rPr lang="en-US" altLang="en-US" sz="1800"/>
              <a:t>Exploited known ISAPI vulnerability in Microsoft IIS Web servers</a:t>
            </a:r>
          </a:p>
          <a:p>
            <a:pPr eaLnBrk="1" hangingPunct="1"/>
            <a:endParaRPr lang="en-US" altLang="en-US" sz="1800"/>
          </a:p>
          <a:p>
            <a:pPr eaLnBrk="1" hangingPunct="1"/>
            <a:r>
              <a:rPr lang="en-US" altLang="en-US" sz="1800"/>
              <a:t>1</a:t>
            </a:r>
            <a:r>
              <a:rPr lang="en-US" altLang="en-US" sz="1800" baseline="30000"/>
              <a:t>st</a:t>
            </a:r>
            <a:r>
              <a:rPr lang="en-US" altLang="en-US" sz="1800"/>
              <a:t> through 20</a:t>
            </a:r>
            <a:r>
              <a:rPr lang="en-US" altLang="en-US" sz="1800" baseline="30000"/>
              <a:t>th</a:t>
            </a:r>
            <a:r>
              <a:rPr lang="en-US" altLang="en-US" sz="1800"/>
              <a:t> of each month: spread</a:t>
            </a:r>
            <a:br>
              <a:rPr lang="en-US" altLang="en-US" sz="1800"/>
            </a:br>
            <a:r>
              <a:rPr lang="en-US" altLang="en-US" sz="1800"/>
              <a:t>20</a:t>
            </a:r>
            <a:r>
              <a:rPr lang="en-US" altLang="en-US" sz="1800" baseline="30000"/>
              <a:t>th</a:t>
            </a:r>
            <a:r>
              <a:rPr lang="en-US" altLang="en-US" sz="1800"/>
              <a:t> through end of each month: attack</a:t>
            </a:r>
          </a:p>
          <a:p>
            <a:pPr eaLnBrk="1" hangingPunct="1"/>
            <a:endParaRPr lang="en-US" altLang="en-US" sz="1800"/>
          </a:p>
          <a:p>
            <a:pPr eaLnBrk="1" hangingPunct="1"/>
            <a:r>
              <a:rPr lang="en-US" altLang="en-US" sz="1800" b="1">
                <a:solidFill>
                  <a:srgbClr val="FF0000"/>
                </a:solidFill>
              </a:rPr>
              <a:t>Payload:</a:t>
            </a:r>
            <a:r>
              <a:rPr lang="en-US" altLang="en-US" sz="1800"/>
              <a:t> Web site defacement</a:t>
            </a:r>
          </a:p>
          <a:p>
            <a:pPr eaLnBrk="1" hangingPunct="1"/>
            <a:r>
              <a:rPr lang="en-US" altLang="en-US" sz="1800" b="1">
                <a:solidFill>
                  <a:srgbClr val="FF0000"/>
                </a:solidFill>
              </a:rPr>
              <a:t>Scanning:</a:t>
            </a:r>
            <a:r>
              <a:rPr lang="en-US" altLang="en-US" sz="1800"/>
              <a:t> Random IP addresses</a:t>
            </a:r>
          </a:p>
          <a:p>
            <a:pPr eaLnBrk="1" hangingPunct="1"/>
            <a:r>
              <a:rPr lang="en-US" altLang="en-US" sz="1800" b="1">
                <a:solidFill>
                  <a:srgbClr val="FF0000"/>
                </a:solidFill>
              </a:rPr>
              <a:t>Bug:</a:t>
            </a:r>
            <a:r>
              <a:rPr lang="en-US" altLang="en-US" sz="1800"/>
              <a:t> failure to seed random number generator</a:t>
            </a:r>
          </a:p>
        </p:txBody>
      </p:sp>
      <p:sp>
        <p:nvSpPr>
          <p:cNvPr id="40963" name="Slide Number Placeholder 5">
            <a:extLst>
              <a:ext uri="{FF2B5EF4-FFF2-40B4-BE49-F238E27FC236}">
                <a16:creationId xmlns:a16="http://schemas.microsoft.com/office/drawing/2014/main" id="{FFDA9720-DF7E-90A5-F233-4BC0F86C4C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968FCF8D-6E57-0F4A-9D7D-A4843E65413E}" type="slidenum">
              <a:rPr lang="en-US" altLang="en-US" sz="900" smtClean="0">
                <a:solidFill>
                  <a:srgbClr val="898989"/>
                </a:solidFill>
                <a:latin typeface="Arial" panose="020B0604020202020204" pitchFamily="34" charset="0"/>
              </a:rPr>
              <a:pPr>
                <a:spcBef>
                  <a:spcPct val="0"/>
                </a:spcBef>
                <a:buFontTx/>
                <a:buNone/>
              </a:pPr>
              <a:t>13</a:t>
            </a:fld>
            <a:endParaRPr lang="en-US" altLang="en-US" sz="900">
              <a:solidFill>
                <a:srgbClr val="898989"/>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B7639DBA-FBE8-2B31-6E79-683E837EBDDF}"/>
              </a:ext>
            </a:extLst>
          </p:cNvPr>
          <p:cNvSpPr>
            <a:spLocks noGrp="1"/>
          </p:cNvSpPr>
          <p:nvPr>
            <p:ph type="title"/>
          </p:nvPr>
        </p:nvSpPr>
        <p:spPr>
          <a:xfrm>
            <a:off x="1447800" y="171450"/>
            <a:ext cx="6553200" cy="685800"/>
          </a:xfrm>
        </p:spPr>
        <p:txBody>
          <a:bodyPr/>
          <a:lstStyle/>
          <a:p>
            <a:pPr eaLnBrk="1" hangingPunct="1"/>
            <a:r>
              <a:rPr lang="en-US" altLang="en-US"/>
              <a:t>Code Red I</a:t>
            </a:r>
          </a:p>
        </p:txBody>
      </p:sp>
      <p:sp>
        <p:nvSpPr>
          <p:cNvPr id="132099" name="Rectangle 3">
            <a:extLst>
              <a:ext uri="{FF2B5EF4-FFF2-40B4-BE49-F238E27FC236}">
                <a16:creationId xmlns:a16="http://schemas.microsoft.com/office/drawing/2014/main" id="{169FC69C-FB8E-DE07-1F23-E7D50D5C8013}"/>
              </a:ext>
            </a:extLst>
          </p:cNvPr>
          <p:cNvSpPr>
            <a:spLocks noGrp="1" noChangeArrowheads="1"/>
          </p:cNvSpPr>
          <p:nvPr>
            <p:ph idx="1"/>
          </p:nvPr>
        </p:nvSpPr>
        <p:spPr>
          <a:xfrm>
            <a:off x="1485900" y="1085850"/>
            <a:ext cx="6286500" cy="3829050"/>
          </a:xfrm>
        </p:spPr>
        <p:txBody>
          <a:bodyPr>
            <a:normAutofit/>
          </a:bodyPr>
          <a:lstStyle/>
          <a:p>
            <a:pPr eaLnBrk="1" hangingPunct="1">
              <a:lnSpc>
                <a:spcPct val="80000"/>
              </a:lnSpc>
              <a:defRPr/>
            </a:pPr>
            <a:r>
              <a:rPr lang="en-US" altLang="en-US" sz="2250"/>
              <a:t>July 13, 2001: First worm of the modern era</a:t>
            </a:r>
          </a:p>
          <a:p>
            <a:pPr eaLnBrk="1" hangingPunct="1">
              <a:lnSpc>
                <a:spcPct val="80000"/>
              </a:lnSpc>
              <a:defRPr/>
            </a:pPr>
            <a:r>
              <a:rPr lang="en-US" altLang="en-US" sz="2250"/>
              <a:t>Exploited buffer overflow in Microsoft</a:t>
            </a:r>
            <a:r>
              <a:rPr lang="ja-JP" altLang="en-US" sz="2250">
                <a:latin typeface="Arial" panose="020B0604020202020204" pitchFamily="34" charset="0"/>
              </a:rPr>
              <a:t>’</a:t>
            </a:r>
            <a:r>
              <a:rPr lang="en-US" altLang="ja-JP" sz="2250"/>
              <a:t>s Internet Information Server (IIS)</a:t>
            </a:r>
          </a:p>
          <a:p>
            <a:pPr eaLnBrk="1" hangingPunct="1">
              <a:lnSpc>
                <a:spcPct val="80000"/>
              </a:lnSpc>
              <a:defRPr/>
            </a:pPr>
            <a:r>
              <a:rPr lang="en-US" altLang="en-US" sz="2250"/>
              <a:t> 1</a:t>
            </a:r>
            <a:r>
              <a:rPr lang="en-US" altLang="en-US" sz="2250" baseline="30000"/>
              <a:t>st</a:t>
            </a:r>
            <a:r>
              <a:rPr lang="en-US" altLang="en-US" sz="2250"/>
              <a:t> through 20</a:t>
            </a:r>
            <a:r>
              <a:rPr lang="en-US" altLang="en-US" sz="2250" baseline="30000"/>
              <a:t>th</a:t>
            </a:r>
            <a:r>
              <a:rPr lang="en-US" altLang="en-US" sz="2250"/>
              <a:t> of each month: spread</a:t>
            </a:r>
          </a:p>
          <a:p>
            <a:pPr lvl="1" eaLnBrk="1" hangingPunct="1">
              <a:lnSpc>
                <a:spcPct val="80000"/>
              </a:lnSpc>
              <a:defRPr/>
            </a:pPr>
            <a:r>
              <a:rPr lang="en-US" altLang="en-US" sz="1950"/>
              <a:t>Find new targets by random scan of IP address space</a:t>
            </a:r>
          </a:p>
          <a:p>
            <a:pPr lvl="2" eaLnBrk="1" hangingPunct="1">
              <a:lnSpc>
                <a:spcPct val="80000"/>
              </a:lnSpc>
              <a:defRPr/>
            </a:pPr>
            <a:r>
              <a:rPr lang="en-US" altLang="en-US" sz="1650"/>
              <a:t>Spawn 99 threads to generate addresses and look for IIS</a:t>
            </a:r>
          </a:p>
          <a:p>
            <a:pPr lvl="1" eaLnBrk="1" hangingPunct="1">
              <a:lnSpc>
                <a:spcPct val="80000"/>
              </a:lnSpc>
              <a:defRPr/>
            </a:pPr>
            <a:r>
              <a:rPr lang="en-US" altLang="en-US" sz="1950"/>
              <a:t>Creator forgot to seed the random number generator, and every copy scanned the same set of addresses </a:t>
            </a:r>
            <a:r>
              <a:rPr lang="en-US" altLang="en-US" sz="1950">
                <a:sym typeface="Wingdings" pitchFamily="2" charset="2"/>
              </a:rPr>
              <a:t></a:t>
            </a:r>
          </a:p>
          <a:p>
            <a:pPr eaLnBrk="1" hangingPunct="1">
              <a:lnSpc>
                <a:spcPct val="80000"/>
              </a:lnSpc>
              <a:defRPr/>
            </a:pPr>
            <a:r>
              <a:rPr lang="en-US" altLang="en-US" sz="2250"/>
              <a:t>21</a:t>
            </a:r>
            <a:r>
              <a:rPr lang="en-US" altLang="en-US" sz="2250" baseline="30000"/>
              <a:t>st</a:t>
            </a:r>
            <a:r>
              <a:rPr lang="en-US" altLang="en-US" sz="2250"/>
              <a:t> through the end of each month: attack</a:t>
            </a:r>
          </a:p>
          <a:p>
            <a:pPr lvl="1" eaLnBrk="1" hangingPunct="1">
              <a:lnSpc>
                <a:spcPct val="80000"/>
              </a:lnSpc>
              <a:defRPr/>
            </a:pPr>
            <a:r>
              <a:rPr lang="en-US" altLang="en-US" sz="1950"/>
              <a:t>Deface websites with </a:t>
            </a:r>
            <a:r>
              <a:rPr lang="ja-JP" altLang="en-US" sz="1950" b="1">
                <a:solidFill>
                  <a:schemeClr val="accent2"/>
                </a:solidFill>
                <a:latin typeface="Arial" panose="020B0604020202020204" pitchFamily="34" charset="0"/>
              </a:rPr>
              <a:t>“</a:t>
            </a:r>
            <a:r>
              <a:rPr lang="en-US" altLang="ja-JP" sz="1950" b="1">
                <a:solidFill>
                  <a:schemeClr val="accent2"/>
                </a:solidFill>
                <a:latin typeface="Courier New" panose="02070309020205020404" pitchFamily="49" charset="0"/>
              </a:rPr>
              <a:t>HELLO! Welcome to http://www.worm.com! Hacked by Chinese!</a:t>
            </a:r>
            <a:r>
              <a:rPr lang="ja-JP" altLang="en-US" sz="1950" b="1">
                <a:solidFill>
                  <a:schemeClr val="accent2"/>
                </a:solidFill>
                <a:latin typeface="Arial" panose="020B0604020202020204" pitchFamily="34" charset="0"/>
              </a:rPr>
              <a:t>”</a:t>
            </a:r>
            <a:endParaRPr lang="en-US" altLang="en-US" sz="1950" b="1">
              <a:solidFill>
                <a:schemeClr val="accent2"/>
              </a:solidFill>
              <a:latin typeface="Courier New" panose="02070309020205020404" pitchFamily="49" charset="0"/>
            </a:endParaRPr>
          </a:p>
        </p:txBody>
      </p:sp>
      <p:sp>
        <p:nvSpPr>
          <p:cNvPr id="43011" name="Slide Number Placeholder 5">
            <a:extLst>
              <a:ext uri="{FF2B5EF4-FFF2-40B4-BE49-F238E27FC236}">
                <a16:creationId xmlns:a16="http://schemas.microsoft.com/office/drawing/2014/main" id="{572679E1-D208-5B6B-5207-080AB1C38BF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BE22CBC-CC94-8A4D-98DA-966A6CC9BEB7}" type="slidenum">
              <a:rPr lang="en-US" altLang="en-US" sz="900" smtClean="0">
                <a:solidFill>
                  <a:srgbClr val="898989"/>
                </a:solidFill>
                <a:latin typeface="Arial" panose="020B0604020202020204" pitchFamily="34" charset="0"/>
              </a:rPr>
              <a:pPr>
                <a:spcBef>
                  <a:spcPct val="0"/>
                </a:spcBef>
                <a:buFontTx/>
                <a:buNone/>
              </a:pPr>
              <a:t>14</a:t>
            </a:fld>
            <a:endParaRPr lang="en-US" altLang="en-US" sz="900">
              <a:solidFill>
                <a:srgbClr val="898989"/>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AD76FC37-54F3-63D4-34F1-CC8B56934FD3}"/>
              </a:ext>
            </a:extLst>
          </p:cNvPr>
          <p:cNvSpPr>
            <a:spLocks noGrp="1"/>
          </p:cNvSpPr>
          <p:nvPr>
            <p:ph type="title"/>
          </p:nvPr>
        </p:nvSpPr>
        <p:spPr/>
        <p:txBody>
          <a:bodyPr/>
          <a:lstStyle/>
          <a:p>
            <a:pPr eaLnBrk="1" hangingPunct="1"/>
            <a:r>
              <a:rPr lang="en-US" altLang="en-US" sz="2700"/>
              <a:t>Code Red: Revisions</a:t>
            </a:r>
            <a:endParaRPr lang="en-US" altLang="en-US"/>
          </a:p>
        </p:txBody>
      </p:sp>
      <p:sp>
        <p:nvSpPr>
          <p:cNvPr id="50179" name="Rectangle 3">
            <a:extLst>
              <a:ext uri="{FF2B5EF4-FFF2-40B4-BE49-F238E27FC236}">
                <a16:creationId xmlns:a16="http://schemas.microsoft.com/office/drawing/2014/main" id="{549C70E0-1317-DD96-25CC-95344868F59A}"/>
              </a:ext>
            </a:extLst>
          </p:cNvPr>
          <p:cNvSpPr>
            <a:spLocks noGrp="1" noChangeArrowheads="1"/>
          </p:cNvSpPr>
          <p:nvPr>
            <p:ph idx="1"/>
          </p:nvPr>
        </p:nvSpPr>
        <p:spPr>
          <a:xfrm>
            <a:off x="1485900" y="1200150"/>
            <a:ext cx="6515100" cy="3394075"/>
          </a:xfrm>
        </p:spPr>
        <p:txBody>
          <a:bodyPr rtlCol="0">
            <a:normAutofit fontScale="92500"/>
          </a:bodyPr>
          <a:lstStyle/>
          <a:p>
            <a:pPr eaLnBrk="1" fontAlgn="auto" hangingPunct="1">
              <a:spcAft>
                <a:spcPts val="0"/>
              </a:spcAft>
              <a:buFont typeface="Arial"/>
              <a:buChar char="•"/>
              <a:defRPr/>
            </a:pPr>
            <a:r>
              <a:rPr lang="en-US">
                <a:ea typeface="+mn-ea"/>
              </a:rPr>
              <a:t>Released July 19, 2001</a:t>
            </a:r>
          </a:p>
          <a:p>
            <a:pPr eaLnBrk="1" fontAlgn="auto" hangingPunct="1">
              <a:spcAft>
                <a:spcPts val="0"/>
              </a:spcAft>
              <a:buFont typeface="Arial"/>
              <a:buChar char="•"/>
              <a:defRPr/>
            </a:pPr>
            <a:endParaRPr lang="en-US">
              <a:ea typeface="+mn-ea"/>
            </a:endParaRPr>
          </a:p>
          <a:p>
            <a:pPr eaLnBrk="1" fontAlgn="auto" hangingPunct="1">
              <a:spcAft>
                <a:spcPts val="0"/>
              </a:spcAft>
              <a:buFont typeface="Arial"/>
              <a:buChar char="•"/>
              <a:defRPr/>
            </a:pPr>
            <a:r>
              <a:rPr lang="en-US" b="1">
                <a:solidFill>
                  <a:srgbClr val="FF0000"/>
                </a:solidFill>
                <a:ea typeface="+mn-ea"/>
              </a:rPr>
              <a:t>Payload:</a:t>
            </a:r>
            <a:r>
              <a:rPr lang="en-US">
                <a:ea typeface="+mn-ea"/>
              </a:rPr>
              <a:t> flooding attack on w</a:t>
            </a:r>
            <a:r>
              <a:rPr lang="en-US">
                <a:latin typeface="American Typewriter" charset="0"/>
                <a:ea typeface="+mn-ea"/>
              </a:rPr>
              <a:t>ww.whitehouse.gov</a:t>
            </a:r>
          </a:p>
          <a:p>
            <a:pPr lvl="1" eaLnBrk="1" fontAlgn="auto" hangingPunct="1">
              <a:spcAft>
                <a:spcPts val="0"/>
              </a:spcAft>
              <a:buFont typeface="Arial"/>
              <a:buChar char="–"/>
              <a:defRPr/>
            </a:pPr>
            <a:r>
              <a:rPr lang="en-US">
                <a:ea typeface="+mn-ea"/>
              </a:rPr>
              <a:t>Attack was mounted at the </a:t>
            </a:r>
            <a:r>
              <a:rPr lang="en-US" i="1">
                <a:ea typeface="+mn-ea"/>
              </a:rPr>
              <a:t>IP address of the Web site</a:t>
            </a:r>
          </a:p>
          <a:p>
            <a:pPr lvl="1" eaLnBrk="1" fontAlgn="auto" hangingPunct="1">
              <a:spcAft>
                <a:spcPts val="0"/>
              </a:spcAft>
              <a:buFont typeface="Arial"/>
              <a:buChar char="–"/>
              <a:defRPr/>
            </a:pPr>
            <a:endParaRPr lang="en-US">
              <a:ea typeface="+mn-ea"/>
            </a:endParaRPr>
          </a:p>
          <a:p>
            <a:pPr eaLnBrk="1" fontAlgn="auto" hangingPunct="1">
              <a:spcAft>
                <a:spcPts val="0"/>
              </a:spcAft>
              <a:buFont typeface="Arial"/>
              <a:buChar char="•"/>
              <a:defRPr/>
            </a:pPr>
            <a:r>
              <a:rPr lang="en-US" b="1">
                <a:solidFill>
                  <a:srgbClr val="FF0000"/>
                </a:solidFill>
                <a:ea typeface="+mn-ea"/>
              </a:rPr>
              <a:t>Bug:</a:t>
            </a:r>
            <a:r>
              <a:rPr lang="en-US">
                <a:ea typeface="+mn-ea"/>
              </a:rPr>
              <a:t> died after 20</a:t>
            </a:r>
            <a:r>
              <a:rPr lang="en-US" baseline="30000">
                <a:ea typeface="+mn-ea"/>
              </a:rPr>
              <a:t>th</a:t>
            </a:r>
            <a:r>
              <a:rPr lang="en-US">
                <a:ea typeface="+mn-ea"/>
              </a:rPr>
              <a:t> of each month</a:t>
            </a:r>
          </a:p>
          <a:p>
            <a:pPr eaLnBrk="1" fontAlgn="auto" hangingPunct="1">
              <a:spcAft>
                <a:spcPts val="0"/>
              </a:spcAft>
              <a:buFont typeface="Arial"/>
              <a:buChar char="•"/>
              <a:defRPr/>
            </a:pPr>
            <a:endParaRPr lang="en-US">
              <a:ea typeface="+mn-ea"/>
            </a:endParaRPr>
          </a:p>
          <a:p>
            <a:pPr eaLnBrk="1" fontAlgn="auto" hangingPunct="1">
              <a:spcAft>
                <a:spcPts val="0"/>
              </a:spcAft>
              <a:buFont typeface="Arial"/>
              <a:buChar char="•"/>
              <a:defRPr/>
            </a:pPr>
            <a:r>
              <a:rPr lang="en-US">
                <a:ea typeface="+mn-ea"/>
              </a:rPr>
              <a:t>Random number generator for IP scanning fixed</a:t>
            </a:r>
          </a:p>
        </p:txBody>
      </p:sp>
      <p:sp>
        <p:nvSpPr>
          <p:cNvPr id="45059" name="Slide Number Placeholder 5">
            <a:extLst>
              <a:ext uri="{FF2B5EF4-FFF2-40B4-BE49-F238E27FC236}">
                <a16:creationId xmlns:a16="http://schemas.microsoft.com/office/drawing/2014/main" id="{6A4E52DC-8085-315D-90F1-25E0DF23D02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52860F14-BD81-024F-8A00-7D855D6B2FE1}" type="slidenum">
              <a:rPr lang="en-US" altLang="en-US" sz="900" smtClean="0">
                <a:solidFill>
                  <a:srgbClr val="898989"/>
                </a:solidFill>
                <a:latin typeface="Arial" panose="020B0604020202020204" pitchFamily="34" charset="0"/>
              </a:rPr>
              <a:pPr>
                <a:spcBef>
                  <a:spcPct val="0"/>
                </a:spcBef>
                <a:buFontTx/>
                <a:buNone/>
              </a:pPr>
              <a:t>15</a:t>
            </a:fld>
            <a:endParaRPr lang="en-US" altLang="en-US" sz="900">
              <a:solidFill>
                <a:srgbClr val="898989"/>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6C579B85-BAE4-D5AD-8FC6-FBEAA9122B73}"/>
              </a:ext>
            </a:extLst>
          </p:cNvPr>
          <p:cNvSpPr>
            <a:spLocks noGrp="1"/>
          </p:cNvSpPr>
          <p:nvPr>
            <p:ph type="title"/>
          </p:nvPr>
        </p:nvSpPr>
        <p:spPr/>
        <p:txBody>
          <a:bodyPr/>
          <a:lstStyle/>
          <a:p>
            <a:pPr eaLnBrk="1" hangingPunct="1"/>
            <a:r>
              <a:rPr lang="en-US" altLang="en-US"/>
              <a:t>Code Red: Host Infection Rate</a:t>
            </a:r>
          </a:p>
        </p:txBody>
      </p:sp>
      <p:sp>
        <p:nvSpPr>
          <p:cNvPr id="47106" name="Slide Number Placeholder 4">
            <a:extLst>
              <a:ext uri="{FF2B5EF4-FFF2-40B4-BE49-F238E27FC236}">
                <a16:creationId xmlns:a16="http://schemas.microsoft.com/office/drawing/2014/main" id="{DE4025E5-13DB-8BB4-F85D-C5016C89BF5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F63669F0-9A8F-0048-9734-F48889727430}" type="slidenum">
              <a:rPr lang="en-US" altLang="en-US" sz="900" smtClean="0">
                <a:solidFill>
                  <a:srgbClr val="898989"/>
                </a:solidFill>
                <a:latin typeface="Arial" panose="020B0604020202020204" pitchFamily="34" charset="0"/>
              </a:rPr>
              <a:pPr>
                <a:spcBef>
                  <a:spcPct val="0"/>
                </a:spcBef>
                <a:buFontTx/>
                <a:buNone/>
              </a:pPr>
              <a:t>16</a:t>
            </a:fld>
            <a:endParaRPr lang="en-US" altLang="en-US" sz="900">
              <a:solidFill>
                <a:srgbClr val="898989"/>
              </a:solidFill>
              <a:latin typeface="Arial" panose="020B0604020202020204" pitchFamily="34" charset="0"/>
            </a:endParaRPr>
          </a:p>
        </p:txBody>
      </p:sp>
      <p:pic>
        <p:nvPicPr>
          <p:cNvPr id="47107" name="Picture 3" descr="cumulative-ts">
            <a:extLst>
              <a:ext uri="{FF2B5EF4-FFF2-40B4-BE49-F238E27FC236}">
                <a16:creationId xmlns:a16="http://schemas.microsoft.com/office/drawing/2014/main" id="{AE65E62F-1229-D446-1640-7445F1C8C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700" y="142875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4">
            <a:extLst>
              <a:ext uri="{FF2B5EF4-FFF2-40B4-BE49-F238E27FC236}">
                <a16:creationId xmlns:a16="http://schemas.microsoft.com/office/drawing/2014/main" id="{601E6F82-2018-BD98-B2EB-C07596641BE8}"/>
              </a:ext>
            </a:extLst>
          </p:cNvPr>
          <p:cNvSpPr txBox="1">
            <a:spLocks noChangeArrowheads="1"/>
          </p:cNvSpPr>
          <p:nvPr/>
        </p:nvSpPr>
        <p:spPr bwMode="auto">
          <a:xfrm>
            <a:off x="1714500" y="2411413"/>
            <a:ext cx="3086100" cy="368300"/>
          </a:xfrm>
          <a:prstGeom prst="rect">
            <a:avLst/>
          </a:prstGeom>
          <a:solidFill>
            <a:srgbClr val="F7F5A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b="1">
                <a:solidFill>
                  <a:srgbClr val="FF0000"/>
                </a:solidFill>
              </a:rPr>
              <a:t>Exponential infection rate</a:t>
            </a:r>
          </a:p>
        </p:txBody>
      </p:sp>
      <p:sp>
        <p:nvSpPr>
          <p:cNvPr id="47109" name="Line 5">
            <a:extLst>
              <a:ext uri="{FF2B5EF4-FFF2-40B4-BE49-F238E27FC236}">
                <a16:creationId xmlns:a16="http://schemas.microsoft.com/office/drawing/2014/main" id="{D54F30A0-7079-735E-E1F8-30905A29212C}"/>
              </a:ext>
            </a:extLst>
          </p:cNvPr>
          <p:cNvSpPr>
            <a:spLocks noChangeShapeType="1"/>
          </p:cNvSpPr>
          <p:nvPr/>
        </p:nvSpPr>
        <p:spPr bwMode="auto">
          <a:xfrm>
            <a:off x="3543300" y="2743200"/>
            <a:ext cx="971550" cy="148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E611F5FA-EF7E-3456-9658-CA21C56B1DED}"/>
              </a:ext>
            </a:extLst>
          </p:cNvPr>
          <p:cNvSpPr>
            <a:spLocks noGrp="1"/>
          </p:cNvSpPr>
          <p:nvPr>
            <p:ph type="title"/>
          </p:nvPr>
        </p:nvSpPr>
        <p:spPr/>
        <p:txBody>
          <a:bodyPr/>
          <a:lstStyle/>
          <a:p>
            <a:pPr eaLnBrk="1" hangingPunct="1"/>
            <a:r>
              <a:rPr lang="en-US" altLang="en-US"/>
              <a:t>Modeling the Spread of Code Red</a:t>
            </a:r>
          </a:p>
        </p:txBody>
      </p:sp>
      <p:sp>
        <p:nvSpPr>
          <p:cNvPr id="49154" name="Rectangle 3">
            <a:extLst>
              <a:ext uri="{FF2B5EF4-FFF2-40B4-BE49-F238E27FC236}">
                <a16:creationId xmlns:a16="http://schemas.microsoft.com/office/drawing/2014/main" id="{302EC600-521C-FEBC-12FE-E2F3484678B2}"/>
              </a:ext>
            </a:extLst>
          </p:cNvPr>
          <p:cNvSpPr>
            <a:spLocks noGrp="1"/>
          </p:cNvSpPr>
          <p:nvPr>
            <p:ph idx="1"/>
          </p:nvPr>
        </p:nvSpPr>
        <p:spPr/>
        <p:txBody>
          <a:bodyPr/>
          <a:lstStyle/>
          <a:p>
            <a:pPr eaLnBrk="1" hangingPunct="1"/>
            <a:r>
              <a:rPr lang="en-US" altLang="en-US"/>
              <a:t>Random Constant Spread model</a:t>
            </a:r>
          </a:p>
          <a:p>
            <a:pPr lvl="1" eaLnBrk="1" hangingPunct="1"/>
            <a:r>
              <a:rPr lang="en-US" altLang="en-US" i="1"/>
              <a:t>K: initial</a:t>
            </a:r>
            <a:r>
              <a:rPr lang="en-US" altLang="en-US"/>
              <a:t> compromise rate</a:t>
            </a:r>
          </a:p>
          <a:p>
            <a:pPr lvl="1" eaLnBrk="1" hangingPunct="1"/>
            <a:r>
              <a:rPr lang="en-US" altLang="en-US" i="1"/>
              <a:t>N:</a:t>
            </a:r>
            <a:r>
              <a:rPr lang="en-US" altLang="en-US"/>
              <a:t> number of vulnerable hosts</a:t>
            </a:r>
          </a:p>
          <a:p>
            <a:pPr lvl="1" eaLnBrk="1" hangingPunct="1"/>
            <a:r>
              <a:rPr lang="en-US" altLang="en-US" i="1"/>
              <a:t>a</a:t>
            </a:r>
            <a:r>
              <a:rPr lang="en-US" altLang="en-US"/>
              <a:t>: fraction of vulnerable machines already compromised</a:t>
            </a:r>
            <a:endParaRPr lang="en-US" altLang="en-US" i="1"/>
          </a:p>
        </p:txBody>
      </p:sp>
      <p:sp>
        <p:nvSpPr>
          <p:cNvPr id="49155" name="Slide Number Placeholder 5">
            <a:extLst>
              <a:ext uri="{FF2B5EF4-FFF2-40B4-BE49-F238E27FC236}">
                <a16:creationId xmlns:a16="http://schemas.microsoft.com/office/drawing/2014/main" id="{719DB97F-E257-1766-2360-3464ACC8FFC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1E846B18-422C-A941-AE8F-066E4908984B}" type="slidenum">
              <a:rPr lang="en-US" altLang="en-US" sz="900" smtClean="0">
                <a:solidFill>
                  <a:srgbClr val="898989"/>
                </a:solidFill>
                <a:latin typeface="Arial" panose="020B0604020202020204" pitchFamily="34" charset="0"/>
              </a:rPr>
              <a:pPr>
                <a:spcBef>
                  <a:spcPct val="0"/>
                </a:spcBef>
                <a:buFontTx/>
                <a:buNone/>
              </a:pPr>
              <a:t>17</a:t>
            </a:fld>
            <a:endParaRPr lang="en-US" altLang="en-US" sz="900">
              <a:solidFill>
                <a:srgbClr val="898989"/>
              </a:solidFill>
              <a:latin typeface="Arial" panose="020B0604020202020204" pitchFamily="34" charset="0"/>
            </a:endParaRPr>
          </a:p>
        </p:txBody>
      </p:sp>
      <p:pic>
        <p:nvPicPr>
          <p:cNvPr id="49156" name="Picture 4">
            <a:extLst>
              <a:ext uri="{FF2B5EF4-FFF2-40B4-BE49-F238E27FC236}">
                <a16:creationId xmlns:a16="http://schemas.microsoft.com/office/drawing/2014/main" id="{6D162142-E76E-7C09-0DB4-67488DEAC4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0350" y="2971800"/>
            <a:ext cx="3022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Line 5">
            <a:extLst>
              <a:ext uri="{FF2B5EF4-FFF2-40B4-BE49-F238E27FC236}">
                <a16:creationId xmlns:a16="http://schemas.microsoft.com/office/drawing/2014/main" id="{47ADB712-4E8F-B041-987D-9D4D013604AA}"/>
              </a:ext>
            </a:extLst>
          </p:cNvPr>
          <p:cNvSpPr>
            <a:spLocks noChangeShapeType="1"/>
          </p:cNvSpPr>
          <p:nvPr/>
        </p:nvSpPr>
        <p:spPr bwMode="auto">
          <a:xfrm flipV="1">
            <a:off x="2857500" y="3429000"/>
            <a:ext cx="171450" cy="285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58" name="Text Box 6">
            <a:extLst>
              <a:ext uri="{FF2B5EF4-FFF2-40B4-BE49-F238E27FC236}">
                <a16:creationId xmlns:a16="http://schemas.microsoft.com/office/drawing/2014/main" id="{0AFE3C17-836E-D3BE-023D-A94B646A362F}"/>
              </a:ext>
            </a:extLst>
          </p:cNvPr>
          <p:cNvSpPr txBox="1">
            <a:spLocks noChangeArrowheads="1"/>
          </p:cNvSpPr>
          <p:nvPr/>
        </p:nvSpPr>
        <p:spPr bwMode="auto">
          <a:xfrm>
            <a:off x="1371600" y="3771900"/>
            <a:ext cx="1485900" cy="1200150"/>
          </a:xfrm>
          <a:prstGeom prst="rect">
            <a:avLst/>
          </a:prstGeom>
          <a:solidFill>
            <a:srgbClr val="F7F5A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b="1">
                <a:solidFill>
                  <a:srgbClr val="FF0000"/>
                </a:solidFill>
              </a:rPr>
              <a:t>Newly infected machines in </a:t>
            </a:r>
            <a:r>
              <a:rPr lang="en-US" altLang="en-US" b="1" i="1">
                <a:solidFill>
                  <a:srgbClr val="FF0000"/>
                </a:solidFill>
              </a:rPr>
              <a:t>dt</a:t>
            </a:r>
            <a:endParaRPr lang="en-US" altLang="en-US" b="1">
              <a:solidFill>
                <a:srgbClr val="FF0000"/>
              </a:solidFill>
            </a:endParaRPr>
          </a:p>
        </p:txBody>
      </p:sp>
      <p:sp>
        <p:nvSpPr>
          <p:cNvPr id="49159" name="Text Box 7">
            <a:extLst>
              <a:ext uri="{FF2B5EF4-FFF2-40B4-BE49-F238E27FC236}">
                <a16:creationId xmlns:a16="http://schemas.microsoft.com/office/drawing/2014/main" id="{CBE73B8A-28E9-A96F-B411-250B448D7D57}"/>
              </a:ext>
            </a:extLst>
          </p:cNvPr>
          <p:cNvSpPr txBox="1">
            <a:spLocks noChangeArrowheads="1"/>
          </p:cNvSpPr>
          <p:nvPr/>
        </p:nvSpPr>
        <p:spPr bwMode="auto">
          <a:xfrm>
            <a:off x="3086100" y="3771900"/>
            <a:ext cx="1485900" cy="923925"/>
          </a:xfrm>
          <a:prstGeom prst="rect">
            <a:avLst/>
          </a:prstGeom>
          <a:solidFill>
            <a:srgbClr val="F7F5A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b="1">
                <a:solidFill>
                  <a:srgbClr val="FF0000"/>
                </a:solidFill>
              </a:rPr>
              <a:t>Machines already infected</a:t>
            </a:r>
          </a:p>
        </p:txBody>
      </p:sp>
      <p:sp>
        <p:nvSpPr>
          <p:cNvPr id="49160" name="Line 8">
            <a:extLst>
              <a:ext uri="{FF2B5EF4-FFF2-40B4-BE49-F238E27FC236}">
                <a16:creationId xmlns:a16="http://schemas.microsoft.com/office/drawing/2014/main" id="{1A11FE3C-1D2F-7897-D3F6-E9996DD60B02}"/>
              </a:ext>
            </a:extLst>
          </p:cNvPr>
          <p:cNvSpPr>
            <a:spLocks noChangeShapeType="1"/>
          </p:cNvSpPr>
          <p:nvPr/>
        </p:nvSpPr>
        <p:spPr bwMode="auto">
          <a:xfrm flipV="1">
            <a:off x="4114800" y="3371850"/>
            <a:ext cx="0" cy="342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1" name="Text Box 9">
            <a:extLst>
              <a:ext uri="{FF2B5EF4-FFF2-40B4-BE49-F238E27FC236}">
                <a16:creationId xmlns:a16="http://schemas.microsoft.com/office/drawing/2014/main" id="{12B7C460-C3EC-0C2B-C095-170D7169539C}"/>
              </a:ext>
            </a:extLst>
          </p:cNvPr>
          <p:cNvSpPr txBox="1">
            <a:spLocks noChangeArrowheads="1"/>
          </p:cNvSpPr>
          <p:nvPr/>
        </p:nvSpPr>
        <p:spPr bwMode="auto">
          <a:xfrm>
            <a:off x="4686300" y="3771900"/>
            <a:ext cx="2743200" cy="923925"/>
          </a:xfrm>
          <a:prstGeom prst="rect">
            <a:avLst/>
          </a:prstGeom>
          <a:solidFill>
            <a:srgbClr val="F7F5A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b="1">
                <a:solidFill>
                  <a:srgbClr val="FF0000"/>
                </a:solidFill>
              </a:rPr>
              <a:t>Rate at which uninfected machines are compromised</a:t>
            </a:r>
          </a:p>
        </p:txBody>
      </p:sp>
      <p:sp>
        <p:nvSpPr>
          <p:cNvPr id="49162" name="AutoShape 10">
            <a:extLst>
              <a:ext uri="{FF2B5EF4-FFF2-40B4-BE49-F238E27FC236}">
                <a16:creationId xmlns:a16="http://schemas.microsoft.com/office/drawing/2014/main" id="{194D37FA-3457-0EFA-5386-30F497A5203A}"/>
              </a:ext>
            </a:extLst>
          </p:cNvPr>
          <p:cNvSpPr>
            <a:spLocks/>
          </p:cNvSpPr>
          <p:nvPr/>
        </p:nvSpPr>
        <p:spPr bwMode="auto">
          <a:xfrm rot="-5400000">
            <a:off x="4743450" y="3028950"/>
            <a:ext cx="342900" cy="914400"/>
          </a:xfrm>
          <a:prstGeom prst="leftBrace">
            <a:avLst>
              <a:gd name="adj1" fmla="val 2222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C5DAC3F3-7380-9DBF-103A-C069C890B924}"/>
              </a:ext>
            </a:extLst>
          </p:cNvPr>
          <p:cNvSpPr>
            <a:spLocks noGrp="1"/>
          </p:cNvSpPr>
          <p:nvPr>
            <p:ph type="title"/>
          </p:nvPr>
        </p:nvSpPr>
        <p:spPr/>
        <p:txBody>
          <a:bodyPr/>
          <a:lstStyle/>
          <a:p>
            <a:pPr eaLnBrk="1" hangingPunct="1"/>
            <a:r>
              <a:rPr lang="en-US" altLang="en-US"/>
              <a:t>Modeling the Spread of Code Red</a:t>
            </a:r>
          </a:p>
        </p:txBody>
      </p:sp>
      <p:sp>
        <p:nvSpPr>
          <p:cNvPr id="51202" name="AutoShape 3">
            <a:extLst>
              <a:ext uri="{FF2B5EF4-FFF2-40B4-BE49-F238E27FC236}">
                <a16:creationId xmlns:a16="http://schemas.microsoft.com/office/drawing/2014/main" id="{1224B9C5-1BDB-9933-5426-3B5255A32EF9}"/>
              </a:ext>
            </a:extLst>
          </p:cNvPr>
          <p:cNvSpPr>
            <a:spLocks noGrp="1" noChangeAspect="1"/>
          </p:cNvSpPr>
          <p:nvPr>
            <p:ph idx="1"/>
          </p:nvPr>
        </p:nvSpPr>
        <p:spPr>
          <a:xfrm>
            <a:off x="1485900" y="2686050"/>
            <a:ext cx="6172200" cy="1908175"/>
          </a:xfrm>
        </p:spPr>
        <p:txBody>
          <a:bodyPr/>
          <a:lstStyle/>
          <a:p>
            <a:pPr eaLnBrk="1" hangingPunct="1"/>
            <a:r>
              <a:rPr lang="en-US" altLang="en-US"/>
              <a:t>Growth rate depends only on </a:t>
            </a:r>
            <a:r>
              <a:rPr lang="en-US" altLang="en-US" i="1"/>
              <a:t>K</a:t>
            </a:r>
          </a:p>
          <a:p>
            <a:pPr eaLnBrk="1" hangingPunct="1"/>
            <a:r>
              <a:rPr lang="en-US" altLang="en-US"/>
              <a:t>Curve-fitting: </a:t>
            </a:r>
            <a:r>
              <a:rPr lang="en-US" altLang="en-US" i="1"/>
              <a:t>K ~ </a:t>
            </a:r>
            <a:r>
              <a:rPr lang="en-US" altLang="en-US"/>
              <a:t>1.8</a:t>
            </a:r>
          </a:p>
          <a:p>
            <a:pPr eaLnBrk="1" hangingPunct="1"/>
            <a:r>
              <a:rPr lang="en-US" altLang="en-US"/>
              <a:t>Peak scanning rate was about 500k/hour</a:t>
            </a:r>
          </a:p>
        </p:txBody>
      </p:sp>
      <p:sp>
        <p:nvSpPr>
          <p:cNvPr id="51203" name="Slide Number Placeholder 5">
            <a:extLst>
              <a:ext uri="{FF2B5EF4-FFF2-40B4-BE49-F238E27FC236}">
                <a16:creationId xmlns:a16="http://schemas.microsoft.com/office/drawing/2014/main" id="{16219FBE-F537-01BB-6A97-B5A8A482D2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F75283E5-F314-4B48-846B-485B8124A731}" type="slidenum">
              <a:rPr lang="en-US" altLang="en-US" sz="900" smtClean="0">
                <a:solidFill>
                  <a:srgbClr val="898989"/>
                </a:solidFill>
                <a:latin typeface="Arial" panose="020B0604020202020204" pitchFamily="34" charset="0"/>
              </a:rPr>
              <a:pPr>
                <a:spcBef>
                  <a:spcPct val="0"/>
                </a:spcBef>
                <a:buFontTx/>
                <a:buNone/>
              </a:pPr>
              <a:t>18</a:t>
            </a:fld>
            <a:endParaRPr lang="en-US" altLang="en-US" sz="900">
              <a:solidFill>
                <a:srgbClr val="898989"/>
              </a:solidFill>
              <a:latin typeface="Arial" panose="020B0604020202020204" pitchFamily="34" charset="0"/>
            </a:endParaRPr>
          </a:p>
        </p:txBody>
      </p:sp>
      <p:pic>
        <p:nvPicPr>
          <p:cNvPr id="51204" name="Picture 4">
            <a:extLst>
              <a:ext uri="{FF2B5EF4-FFF2-40B4-BE49-F238E27FC236}">
                <a16:creationId xmlns:a16="http://schemas.microsoft.com/office/drawing/2014/main" id="{4CAF51D8-F767-CCA5-A87D-67BE81554C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543050"/>
            <a:ext cx="1450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DD469D0-F54C-40B5-DF2F-51C24B8E0CDA}"/>
              </a:ext>
            </a:extLst>
          </p:cNvPr>
          <p:cNvSpPr>
            <a:spLocks noGrp="1"/>
          </p:cNvSpPr>
          <p:nvPr>
            <p:ph type="title"/>
          </p:nvPr>
        </p:nvSpPr>
        <p:spPr/>
        <p:txBody>
          <a:bodyPr/>
          <a:lstStyle/>
          <a:p>
            <a:pPr eaLnBrk="1" hangingPunct="1"/>
            <a:r>
              <a:rPr lang="en-US" altLang="en-US"/>
              <a:t>Designing Fast-Spreading Worms</a:t>
            </a:r>
          </a:p>
        </p:txBody>
      </p:sp>
      <p:sp>
        <p:nvSpPr>
          <p:cNvPr id="53250" name="Rectangle 3">
            <a:extLst>
              <a:ext uri="{FF2B5EF4-FFF2-40B4-BE49-F238E27FC236}">
                <a16:creationId xmlns:a16="http://schemas.microsoft.com/office/drawing/2014/main" id="{BDE3B2B2-C16A-0B14-BD64-B5F12D5EF7C2}"/>
              </a:ext>
            </a:extLst>
          </p:cNvPr>
          <p:cNvSpPr>
            <a:spLocks noGrp="1"/>
          </p:cNvSpPr>
          <p:nvPr>
            <p:ph idx="1"/>
          </p:nvPr>
        </p:nvSpPr>
        <p:spPr/>
        <p:txBody>
          <a:bodyPr/>
          <a:lstStyle/>
          <a:p>
            <a:pPr eaLnBrk="1" hangingPunct="1">
              <a:lnSpc>
                <a:spcPct val="90000"/>
              </a:lnSpc>
            </a:pPr>
            <a:r>
              <a:rPr lang="en-US" altLang="en-US" sz="1800" b="1">
                <a:solidFill>
                  <a:srgbClr val="FF0000"/>
                </a:solidFill>
              </a:rPr>
              <a:t>Hit-list scanning</a:t>
            </a:r>
          </a:p>
          <a:p>
            <a:pPr lvl="1" eaLnBrk="1" hangingPunct="1">
              <a:lnSpc>
                <a:spcPct val="90000"/>
              </a:lnSpc>
            </a:pPr>
            <a:r>
              <a:rPr lang="en-US" altLang="en-US" sz="1500"/>
              <a:t>Time to infect first 10k hosts dominates infection time</a:t>
            </a:r>
          </a:p>
          <a:p>
            <a:pPr lvl="1" eaLnBrk="1" hangingPunct="1">
              <a:lnSpc>
                <a:spcPct val="90000"/>
              </a:lnSpc>
            </a:pPr>
            <a:r>
              <a:rPr lang="en-US" altLang="en-US" sz="1500" b="1">
                <a:solidFill>
                  <a:srgbClr val="FF0000"/>
                </a:solidFill>
              </a:rPr>
              <a:t>Solution:</a:t>
            </a:r>
            <a:r>
              <a:rPr lang="en-US" altLang="en-US" sz="1500"/>
              <a:t> Reconnaissance (stealthy scans, etc.)</a:t>
            </a:r>
          </a:p>
          <a:p>
            <a:pPr lvl="1" eaLnBrk="1" hangingPunct="1">
              <a:lnSpc>
                <a:spcPct val="90000"/>
              </a:lnSpc>
            </a:pPr>
            <a:endParaRPr lang="en-US" altLang="en-US" sz="1500"/>
          </a:p>
          <a:p>
            <a:pPr eaLnBrk="1" hangingPunct="1">
              <a:lnSpc>
                <a:spcPct val="90000"/>
              </a:lnSpc>
            </a:pPr>
            <a:r>
              <a:rPr lang="en-US" altLang="en-US" sz="1800" b="1">
                <a:solidFill>
                  <a:srgbClr val="FF0000"/>
                </a:solidFill>
              </a:rPr>
              <a:t>Permutation scanning</a:t>
            </a:r>
          </a:p>
          <a:p>
            <a:pPr lvl="1" eaLnBrk="1" hangingPunct="1">
              <a:lnSpc>
                <a:spcPct val="90000"/>
              </a:lnSpc>
            </a:pPr>
            <a:r>
              <a:rPr lang="en-US" altLang="en-US" sz="1500" b="1">
                <a:solidFill>
                  <a:srgbClr val="FF0000"/>
                </a:solidFill>
              </a:rPr>
              <a:t>Observation: </a:t>
            </a:r>
            <a:r>
              <a:rPr lang="en-US" altLang="en-US" sz="1500"/>
              <a:t>Most scanning is redundant</a:t>
            </a:r>
          </a:p>
          <a:p>
            <a:pPr lvl="1" eaLnBrk="1" hangingPunct="1">
              <a:lnSpc>
                <a:spcPct val="90000"/>
              </a:lnSpc>
            </a:pPr>
            <a:r>
              <a:rPr lang="en-US" altLang="en-US" sz="1500" b="1">
                <a:solidFill>
                  <a:srgbClr val="FF0000"/>
                </a:solidFill>
              </a:rPr>
              <a:t>Idea:</a:t>
            </a:r>
            <a:r>
              <a:rPr lang="en-US" altLang="en-US" sz="1500"/>
              <a:t> Shared permutation of address space.  Start scanning from own IP address.  Re-randomize when another infected machine is found.</a:t>
            </a:r>
            <a:endParaRPr lang="en-US" altLang="en-US" sz="1500" b="1"/>
          </a:p>
          <a:p>
            <a:pPr eaLnBrk="1" hangingPunct="1">
              <a:lnSpc>
                <a:spcPct val="90000"/>
              </a:lnSpc>
            </a:pPr>
            <a:endParaRPr lang="en-US" altLang="en-US" sz="1800" b="1"/>
          </a:p>
          <a:p>
            <a:pPr eaLnBrk="1" hangingPunct="1">
              <a:lnSpc>
                <a:spcPct val="90000"/>
              </a:lnSpc>
            </a:pPr>
            <a:r>
              <a:rPr lang="en-US" altLang="en-US" sz="1800" b="1">
                <a:solidFill>
                  <a:srgbClr val="FF0000"/>
                </a:solidFill>
              </a:rPr>
              <a:t>Internet-scale hit lists</a:t>
            </a:r>
          </a:p>
          <a:p>
            <a:pPr lvl="1" eaLnBrk="1" hangingPunct="1">
              <a:lnSpc>
                <a:spcPct val="90000"/>
              </a:lnSpc>
            </a:pPr>
            <a:r>
              <a:rPr lang="en-US" altLang="en-US" sz="1500" i="1"/>
              <a:t>Flash worm:</a:t>
            </a:r>
            <a:r>
              <a:rPr lang="en-US" altLang="en-US" sz="1500"/>
              <a:t> complete infection within 30 seconds</a:t>
            </a:r>
          </a:p>
        </p:txBody>
      </p:sp>
      <p:sp>
        <p:nvSpPr>
          <p:cNvPr id="53251" name="Slide Number Placeholder 5">
            <a:extLst>
              <a:ext uri="{FF2B5EF4-FFF2-40B4-BE49-F238E27FC236}">
                <a16:creationId xmlns:a16="http://schemas.microsoft.com/office/drawing/2014/main" id="{290DA872-FD8B-E84D-F7FB-76D3A1B9878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97F64892-50AB-B14C-AC6F-912C6B516B23}" type="slidenum">
              <a:rPr lang="en-US" altLang="en-US" sz="900" smtClean="0">
                <a:solidFill>
                  <a:srgbClr val="898989"/>
                </a:solidFill>
                <a:latin typeface="Arial" panose="020B0604020202020204" pitchFamily="34" charset="0"/>
              </a:rPr>
              <a:pPr>
                <a:spcBef>
                  <a:spcPct val="0"/>
                </a:spcBef>
                <a:buFontTx/>
                <a:buNone/>
              </a:pPr>
              <a:t>19</a:t>
            </a:fld>
            <a:endParaRPr lang="en-US" altLang="en-US" sz="900">
              <a:solidFill>
                <a:srgbClr val="898989"/>
              </a:solidFill>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B2E14F30-8F42-B2FE-ADBE-8E806C946219}"/>
              </a:ext>
            </a:extLst>
          </p:cNvPr>
          <p:cNvSpPr>
            <a:spLocks noGrp="1"/>
          </p:cNvSpPr>
          <p:nvPr>
            <p:ph type="title"/>
          </p:nvPr>
        </p:nvSpPr>
        <p:spPr>
          <a:xfrm>
            <a:off x="1447800" y="171450"/>
            <a:ext cx="6210300" cy="685800"/>
          </a:xfrm>
        </p:spPr>
        <p:txBody>
          <a:bodyPr/>
          <a:lstStyle/>
          <a:p>
            <a:pPr eaLnBrk="1" hangingPunct="1"/>
            <a:r>
              <a:rPr lang="en-US" altLang="en-US"/>
              <a:t>Code Red I v2</a:t>
            </a:r>
          </a:p>
        </p:txBody>
      </p:sp>
      <p:sp>
        <p:nvSpPr>
          <p:cNvPr id="136195" name="Rectangle 3">
            <a:extLst>
              <a:ext uri="{FF2B5EF4-FFF2-40B4-BE49-F238E27FC236}">
                <a16:creationId xmlns:a16="http://schemas.microsoft.com/office/drawing/2014/main" id="{B67F16CB-CB9C-0E83-A7F0-DAE72F2CB6FF}"/>
              </a:ext>
            </a:extLst>
          </p:cNvPr>
          <p:cNvSpPr>
            <a:spLocks noGrp="1" noChangeArrowheads="1"/>
          </p:cNvSpPr>
          <p:nvPr>
            <p:ph idx="1"/>
          </p:nvPr>
        </p:nvSpPr>
        <p:spPr>
          <a:xfrm>
            <a:off x="1428750" y="1085850"/>
            <a:ext cx="6457950" cy="3829050"/>
          </a:xfrm>
        </p:spPr>
        <p:txBody>
          <a:bodyPr>
            <a:normAutofit/>
          </a:bodyPr>
          <a:lstStyle/>
          <a:p>
            <a:pPr eaLnBrk="1" hangingPunct="1">
              <a:defRPr/>
            </a:pPr>
            <a:r>
              <a:rPr lang="en-US" altLang="en-US" sz="2250"/>
              <a:t>July 19, 2001: Same codebase as Code Red I, but fixed the bug in random IP address generation</a:t>
            </a:r>
          </a:p>
          <a:p>
            <a:pPr lvl="1" eaLnBrk="1" hangingPunct="1">
              <a:defRPr/>
            </a:pPr>
            <a:r>
              <a:rPr lang="en-US" altLang="en-US" sz="1950"/>
              <a:t>Compromised </a:t>
            </a:r>
            <a:r>
              <a:rPr lang="en-US" altLang="en-US" sz="1950">
                <a:solidFill>
                  <a:schemeClr val="hlink"/>
                </a:solidFill>
              </a:rPr>
              <a:t>all</a:t>
            </a:r>
            <a:r>
              <a:rPr lang="en-US" altLang="en-US" sz="1950"/>
              <a:t> vulnerable IIS servers on the Internet</a:t>
            </a:r>
          </a:p>
          <a:p>
            <a:pPr lvl="1" eaLnBrk="1" hangingPunct="1">
              <a:defRPr/>
            </a:pPr>
            <a:r>
              <a:rPr lang="en-US" altLang="en-US" sz="1950"/>
              <a:t>Large vulnerable population meant fast worm spread</a:t>
            </a:r>
          </a:p>
          <a:p>
            <a:pPr lvl="2" eaLnBrk="1" hangingPunct="1">
              <a:defRPr/>
            </a:pPr>
            <a:r>
              <a:rPr lang="en-US" altLang="en-US" sz="1650"/>
              <a:t>Scanned address space grew exponentially</a:t>
            </a:r>
          </a:p>
          <a:p>
            <a:pPr lvl="2" eaLnBrk="1" hangingPunct="1">
              <a:defRPr/>
            </a:pPr>
            <a:r>
              <a:rPr lang="en-US" altLang="en-US" sz="1650"/>
              <a:t>350,000 hosts infected in 14 hours!!</a:t>
            </a:r>
          </a:p>
          <a:p>
            <a:pPr eaLnBrk="1" hangingPunct="1">
              <a:defRPr/>
            </a:pPr>
            <a:r>
              <a:rPr lang="en-US" altLang="en-US" sz="2250"/>
              <a:t>Payload: distributed packet flooding (denial of service) attack on </a:t>
            </a:r>
            <a:r>
              <a:rPr lang="en-US" altLang="en-US" sz="2250">
                <a:solidFill>
                  <a:schemeClr val="folHlink"/>
                </a:solidFill>
              </a:rPr>
              <a:t>www.whitehouse.gov</a:t>
            </a:r>
          </a:p>
          <a:p>
            <a:pPr lvl="1" eaLnBrk="1" hangingPunct="1">
              <a:defRPr/>
            </a:pPr>
            <a:r>
              <a:rPr lang="en-US" altLang="en-US" sz="1950"/>
              <a:t>Coding bug causes it to die on the 20</a:t>
            </a:r>
            <a:r>
              <a:rPr lang="en-US" altLang="en-US" sz="1950" baseline="30000"/>
              <a:t>th</a:t>
            </a:r>
            <a:r>
              <a:rPr lang="en-US" altLang="en-US" sz="1950"/>
              <a:t> of each month… but if victim</a:t>
            </a:r>
            <a:r>
              <a:rPr lang="ja-JP" altLang="en-US" sz="1950">
                <a:latin typeface="Arial" panose="020B0604020202020204" pitchFamily="34" charset="0"/>
              </a:rPr>
              <a:t>’</a:t>
            </a:r>
            <a:r>
              <a:rPr lang="en-US" altLang="ja-JP" sz="1950"/>
              <a:t>s clock is wrong, resurrects on the 1</a:t>
            </a:r>
            <a:r>
              <a:rPr lang="en-US" altLang="ja-JP" sz="1950" baseline="30000"/>
              <a:t>st</a:t>
            </a:r>
            <a:endParaRPr lang="en-US" altLang="en-US" sz="1950"/>
          </a:p>
        </p:txBody>
      </p:sp>
      <p:sp>
        <p:nvSpPr>
          <p:cNvPr id="55299" name="Slide Number Placeholder 5">
            <a:extLst>
              <a:ext uri="{FF2B5EF4-FFF2-40B4-BE49-F238E27FC236}">
                <a16:creationId xmlns:a16="http://schemas.microsoft.com/office/drawing/2014/main" id="{99D57AEF-5344-37D5-E52C-9F66A9D1045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EAB6EB51-E59F-5542-81C1-C62341F9AED9}" type="slidenum">
              <a:rPr lang="en-US" altLang="en-US" sz="900" smtClean="0">
                <a:solidFill>
                  <a:srgbClr val="898989"/>
                </a:solidFill>
                <a:latin typeface="Arial" panose="020B0604020202020204" pitchFamily="34" charset="0"/>
              </a:rPr>
              <a:pPr>
                <a:spcBef>
                  <a:spcPct val="0"/>
                </a:spcBef>
                <a:buFontTx/>
                <a:buNone/>
              </a:pPr>
              <a:t>20</a:t>
            </a:fld>
            <a:endParaRPr lang="en-US" altLang="en-US" sz="900">
              <a:solidFill>
                <a:srgbClr val="898989"/>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a:extLst>
              <a:ext uri="{FF2B5EF4-FFF2-40B4-BE49-F238E27FC236}">
                <a16:creationId xmlns:a16="http://schemas.microsoft.com/office/drawing/2014/main" id="{5F3FC263-EDFC-D06E-8A54-06E3DFD3E3B1}"/>
              </a:ext>
            </a:extLst>
          </p:cNvPr>
          <p:cNvSpPr>
            <a:spLocks noGrp="1"/>
          </p:cNvSpPr>
          <p:nvPr>
            <p:ph type="title"/>
          </p:nvPr>
        </p:nvSpPr>
        <p:spPr/>
        <p:txBody>
          <a:bodyPr/>
          <a:lstStyle/>
          <a:p>
            <a:pPr eaLnBrk="1" hangingPunct="1"/>
            <a:r>
              <a:rPr lang="en-US" altLang="en-US"/>
              <a:t>Code Red II</a:t>
            </a:r>
          </a:p>
        </p:txBody>
      </p:sp>
      <p:sp>
        <p:nvSpPr>
          <p:cNvPr id="138242" name="Rectangle 2">
            <a:extLst>
              <a:ext uri="{FF2B5EF4-FFF2-40B4-BE49-F238E27FC236}">
                <a16:creationId xmlns:a16="http://schemas.microsoft.com/office/drawing/2014/main" id="{F49D5D59-2D59-F2FC-17F3-00F803AB9962}"/>
              </a:ext>
            </a:extLst>
          </p:cNvPr>
          <p:cNvSpPr>
            <a:spLocks noGrp="1" noChangeArrowheads="1"/>
          </p:cNvSpPr>
          <p:nvPr>
            <p:ph idx="1"/>
          </p:nvPr>
        </p:nvSpPr>
        <p:spPr>
          <a:xfrm>
            <a:off x="1485900" y="1200150"/>
            <a:ext cx="6286500" cy="3829050"/>
          </a:xfrm>
        </p:spPr>
        <p:txBody>
          <a:bodyPr>
            <a:normAutofit/>
          </a:bodyPr>
          <a:lstStyle/>
          <a:p>
            <a:pPr eaLnBrk="1" hangingPunct="1">
              <a:lnSpc>
                <a:spcPct val="90000"/>
              </a:lnSpc>
              <a:defRPr/>
            </a:pPr>
            <a:r>
              <a:rPr lang="en-US" altLang="en-US" sz="2250"/>
              <a:t>August 4, 2001: Same IIS vulnerability, completely different code, </a:t>
            </a:r>
            <a:r>
              <a:rPr lang="en-US" altLang="en-US" sz="2250">
                <a:solidFill>
                  <a:schemeClr val="hlink"/>
                </a:solidFill>
              </a:rPr>
              <a:t>kills Code Red I</a:t>
            </a:r>
          </a:p>
          <a:p>
            <a:pPr lvl="1" eaLnBrk="1" hangingPunct="1">
              <a:lnSpc>
                <a:spcPct val="90000"/>
              </a:lnSpc>
              <a:defRPr/>
            </a:pPr>
            <a:r>
              <a:rPr lang="en-US" altLang="en-US" sz="1950"/>
              <a:t>Known as </a:t>
            </a:r>
            <a:r>
              <a:rPr lang="ja-JP" altLang="en-US" sz="1950">
                <a:latin typeface="Arial" panose="020B0604020202020204" pitchFamily="34" charset="0"/>
              </a:rPr>
              <a:t>“</a:t>
            </a:r>
            <a:r>
              <a:rPr lang="en-US" altLang="ja-JP" sz="1950"/>
              <a:t>Code Red II</a:t>
            </a:r>
            <a:r>
              <a:rPr lang="ja-JP" altLang="en-US" sz="1950">
                <a:latin typeface="Arial" panose="020B0604020202020204" pitchFamily="34" charset="0"/>
              </a:rPr>
              <a:t>”</a:t>
            </a:r>
            <a:r>
              <a:rPr lang="en-US" altLang="ja-JP" sz="1950"/>
              <a:t> because of comment in code</a:t>
            </a:r>
          </a:p>
          <a:p>
            <a:pPr lvl="1" eaLnBrk="1" hangingPunct="1">
              <a:lnSpc>
                <a:spcPct val="90000"/>
              </a:lnSpc>
              <a:defRPr/>
            </a:pPr>
            <a:r>
              <a:rPr lang="en-US" altLang="en-US" sz="1950"/>
              <a:t>Worked only on Windows 2000, crashed NT</a:t>
            </a:r>
          </a:p>
          <a:p>
            <a:pPr eaLnBrk="1" hangingPunct="1">
              <a:lnSpc>
                <a:spcPct val="90000"/>
              </a:lnSpc>
              <a:defRPr/>
            </a:pPr>
            <a:r>
              <a:rPr lang="en-US" altLang="en-US" sz="2250"/>
              <a:t>Scanning algorithm preferred nearby addresses</a:t>
            </a:r>
          </a:p>
          <a:p>
            <a:pPr lvl="1" eaLnBrk="1" hangingPunct="1">
              <a:lnSpc>
                <a:spcPct val="90000"/>
              </a:lnSpc>
              <a:defRPr/>
            </a:pPr>
            <a:r>
              <a:rPr lang="en-US" altLang="en-US" sz="1950"/>
              <a:t>Chose addresses from same class A with probability ½, same class B with probability 3/8, and randomly from the entire Internet with probability 1/8 </a:t>
            </a:r>
          </a:p>
          <a:p>
            <a:pPr eaLnBrk="1" hangingPunct="1">
              <a:lnSpc>
                <a:spcPct val="90000"/>
              </a:lnSpc>
              <a:defRPr/>
            </a:pPr>
            <a:r>
              <a:rPr lang="en-US" altLang="en-US" sz="2250"/>
              <a:t>Payload: installed root backdoor in IIS servers for unrestricted remote access</a:t>
            </a:r>
            <a:endParaRPr lang="en-US" altLang="en-US" sz="2250" i="1">
              <a:solidFill>
                <a:schemeClr val="folHlink"/>
              </a:solidFill>
            </a:endParaRPr>
          </a:p>
          <a:p>
            <a:pPr eaLnBrk="1" hangingPunct="1">
              <a:lnSpc>
                <a:spcPct val="90000"/>
              </a:lnSpc>
              <a:defRPr/>
            </a:pPr>
            <a:r>
              <a:rPr lang="en-US" altLang="en-US" sz="2250"/>
              <a:t>Died by design on October 1, 2001</a:t>
            </a:r>
          </a:p>
        </p:txBody>
      </p:sp>
      <p:sp>
        <p:nvSpPr>
          <p:cNvPr id="57347" name="Slide Number Placeholder 5">
            <a:extLst>
              <a:ext uri="{FF2B5EF4-FFF2-40B4-BE49-F238E27FC236}">
                <a16:creationId xmlns:a16="http://schemas.microsoft.com/office/drawing/2014/main" id="{0EBD1461-F1F1-3303-8F0A-6CB089E54B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33B5BBF-5B26-8244-B83E-776D5BC1E69E}" type="slidenum">
              <a:rPr lang="en-US" altLang="en-US" sz="900" smtClean="0">
                <a:solidFill>
                  <a:srgbClr val="898989"/>
                </a:solidFill>
                <a:latin typeface="Arial" panose="020B0604020202020204" pitchFamily="34" charset="0"/>
              </a:rPr>
              <a:pPr>
                <a:spcBef>
                  <a:spcPct val="0"/>
                </a:spcBef>
                <a:buFontTx/>
                <a:buNone/>
              </a:pPr>
              <a:t>21</a:t>
            </a:fld>
            <a:endParaRPr lang="en-US" altLang="en-US" sz="900">
              <a:solidFill>
                <a:srgbClr val="898989"/>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3">
            <a:extLst>
              <a:ext uri="{FF2B5EF4-FFF2-40B4-BE49-F238E27FC236}">
                <a16:creationId xmlns:a16="http://schemas.microsoft.com/office/drawing/2014/main" id="{E72C6431-DC7A-8D9C-2ECD-B463749FF44D}"/>
              </a:ext>
            </a:extLst>
          </p:cNvPr>
          <p:cNvSpPr>
            <a:spLocks noGrp="1"/>
          </p:cNvSpPr>
          <p:nvPr>
            <p:ph type="title"/>
          </p:nvPr>
        </p:nvSpPr>
        <p:spPr/>
        <p:txBody>
          <a:bodyPr/>
          <a:lstStyle/>
          <a:p>
            <a:pPr eaLnBrk="1" hangingPunct="1"/>
            <a:r>
              <a:rPr lang="en-US" altLang="en-US"/>
              <a:t>Nimda</a:t>
            </a:r>
          </a:p>
        </p:txBody>
      </p:sp>
      <p:sp>
        <p:nvSpPr>
          <p:cNvPr id="140290" name="Rectangle 2">
            <a:extLst>
              <a:ext uri="{FF2B5EF4-FFF2-40B4-BE49-F238E27FC236}">
                <a16:creationId xmlns:a16="http://schemas.microsoft.com/office/drawing/2014/main" id="{CAB4E097-605C-58BA-F5B8-BA2069DBA253}"/>
              </a:ext>
            </a:extLst>
          </p:cNvPr>
          <p:cNvSpPr>
            <a:spLocks noGrp="1" noChangeArrowheads="1"/>
          </p:cNvSpPr>
          <p:nvPr>
            <p:ph idx="1"/>
          </p:nvPr>
        </p:nvSpPr>
        <p:spPr>
          <a:xfrm>
            <a:off x="1485900" y="1200150"/>
            <a:ext cx="6286500" cy="3829050"/>
          </a:xfrm>
        </p:spPr>
        <p:txBody>
          <a:bodyPr rtlCol="0">
            <a:normAutofit fontScale="92500"/>
          </a:bodyPr>
          <a:lstStyle/>
          <a:p>
            <a:pPr eaLnBrk="1" fontAlgn="auto" hangingPunct="1">
              <a:spcAft>
                <a:spcPts val="0"/>
              </a:spcAft>
              <a:buFont typeface="Arial"/>
              <a:buChar char="•"/>
              <a:defRPr/>
            </a:pPr>
            <a:r>
              <a:rPr lang="en-US">
                <a:ea typeface="+mn-ea"/>
              </a:rPr>
              <a:t>September 18, 2001: </a:t>
            </a:r>
            <a:r>
              <a:rPr lang="en-US">
                <a:solidFill>
                  <a:schemeClr val="hlink"/>
                </a:solidFill>
                <a:ea typeface="+mn-ea"/>
              </a:rPr>
              <a:t>Multi-modal</a:t>
            </a:r>
            <a:r>
              <a:rPr lang="en-US">
                <a:ea typeface="+mn-ea"/>
              </a:rPr>
              <a:t> worm using several propagation vectors</a:t>
            </a:r>
          </a:p>
          <a:p>
            <a:pPr lvl="1" eaLnBrk="1" fontAlgn="auto" hangingPunct="1">
              <a:spcAft>
                <a:spcPts val="0"/>
              </a:spcAft>
              <a:buFont typeface="Arial"/>
              <a:buChar char="–"/>
              <a:defRPr/>
            </a:pPr>
            <a:r>
              <a:rPr lang="en-US">
                <a:ea typeface="+mn-ea"/>
              </a:rPr>
              <a:t>Exploit same IIS buffer overflow as Code Red I and II</a:t>
            </a:r>
          </a:p>
          <a:p>
            <a:pPr lvl="1" eaLnBrk="1" fontAlgn="auto" hangingPunct="1">
              <a:spcAft>
                <a:spcPts val="0"/>
              </a:spcAft>
              <a:buFont typeface="Arial"/>
              <a:buChar char="–"/>
              <a:defRPr/>
            </a:pPr>
            <a:r>
              <a:rPr lang="en-US">
                <a:ea typeface="+mn-ea"/>
              </a:rPr>
              <a:t>Bulk-email itself as an attachment to email addresses harvested from infected machines </a:t>
            </a:r>
          </a:p>
          <a:p>
            <a:pPr lvl="1" eaLnBrk="1" fontAlgn="auto" hangingPunct="1">
              <a:spcAft>
                <a:spcPts val="0"/>
              </a:spcAft>
              <a:buFont typeface="Arial"/>
              <a:buChar char="–"/>
              <a:defRPr/>
            </a:pPr>
            <a:r>
              <a:rPr lang="en-US">
                <a:ea typeface="+mn-ea"/>
              </a:rPr>
              <a:t>Copy itself across open network shares</a:t>
            </a:r>
          </a:p>
          <a:p>
            <a:pPr lvl="1" eaLnBrk="1" fontAlgn="auto" hangingPunct="1">
              <a:spcAft>
                <a:spcPts val="0"/>
              </a:spcAft>
              <a:buFont typeface="Arial"/>
              <a:buChar char="–"/>
              <a:defRPr/>
            </a:pPr>
            <a:r>
              <a:rPr lang="en-US">
                <a:ea typeface="+mn-ea"/>
              </a:rPr>
              <a:t>Add exploit code to Web pages on compromised sites to infect visiting browsers</a:t>
            </a:r>
          </a:p>
          <a:p>
            <a:pPr lvl="1" eaLnBrk="1" fontAlgn="auto" hangingPunct="1">
              <a:spcAft>
                <a:spcPts val="0"/>
              </a:spcAft>
              <a:buFont typeface="Arial"/>
              <a:buChar char="–"/>
              <a:defRPr/>
            </a:pPr>
            <a:r>
              <a:rPr lang="en-US">
                <a:ea typeface="+mn-ea"/>
              </a:rPr>
              <a:t>Scan for backdoors left by Code Red II</a:t>
            </a:r>
          </a:p>
          <a:p>
            <a:pPr eaLnBrk="1" fontAlgn="auto" hangingPunct="1">
              <a:spcAft>
                <a:spcPts val="0"/>
              </a:spcAft>
              <a:buFont typeface="Arial"/>
              <a:buChar char="•"/>
              <a:defRPr/>
            </a:pPr>
            <a:r>
              <a:rPr lang="en-US">
                <a:ea typeface="+mn-ea"/>
              </a:rPr>
              <a:t>Payload: turned-off code deleting all data on hard drives of infected machines</a:t>
            </a:r>
            <a:endParaRPr lang="en-US" i="1">
              <a:solidFill>
                <a:schemeClr val="folHlink"/>
              </a:solidFill>
              <a:ea typeface="+mn-ea"/>
            </a:endParaRPr>
          </a:p>
        </p:txBody>
      </p:sp>
      <p:sp>
        <p:nvSpPr>
          <p:cNvPr id="59395" name="Slide Number Placeholder 5">
            <a:extLst>
              <a:ext uri="{FF2B5EF4-FFF2-40B4-BE49-F238E27FC236}">
                <a16:creationId xmlns:a16="http://schemas.microsoft.com/office/drawing/2014/main" id="{8E872E37-8108-4AE4-EA20-EFB5F6A0FE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3A75EC4D-E9C3-6B43-B466-860BDEFF6FFF}" type="slidenum">
              <a:rPr lang="en-US" altLang="en-US" sz="900" smtClean="0">
                <a:solidFill>
                  <a:srgbClr val="898989"/>
                </a:solidFill>
                <a:latin typeface="Arial" panose="020B0604020202020204" pitchFamily="34" charset="0"/>
              </a:rPr>
              <a:pPr>
                <a:spcBef>
                  <a:spcPct val="0"/>
                </a:spcBef>
                <a:buFontTx/>
                <a:buNone/>
              </a:pPr>
              <a:t>22</a:t>
            </a:fld>
            <a:endParaRPr lang="en-US" altLang="en-US" sz="900">
              <a:solidFill>
                <a:srgbClr val="898989"/>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8F116FA5-2534-B4BC-CA91-F468D592FF74}"/>
              </a:ext>
            </a:extLst>
          </p:cNvPr>
          <p:cNvSpPr>
            <a:spLocks noGrp="1"/>
          </p:cNvSpPr>
          <p:nvPr>
            <p:ph type="title"/>
          </p:nvPr>
        </p:nvSpPr>
        <p:spPr>
          <a:xfrm>
            <a:off x="1447800" y="342900"/>
            <a:ext cx="6438900" cy="685800"/>
          </a:xfrm>
        </p:spPr>
        <p:txBody>
          <a:bodyPr/>
          <a:lstStyle/>
          <a:p>
            <a:pPr eaLnBrk="1" hangingPunct="1"/>
            <a:r>
              <a:rPr lang="en-US" altLang="en-US" sz="2700"/>
              <a:t>Signature-Based Defenses Don’t Help</a:t>
            </a:r>
          </a:p>
        </p:txBody>
      </p:sp>
      <p:sp>
        <p:nvSpPr>
          <p:cNvPr id="142339" name="Rectangle 3">
            <a:extLst>
              <a:ext uri="{FF2B5EF4-FFF2-40B4-BE49-F238E27FC236}">
                <a16:creationId xmlns:a16="http://schemas.microsoft.com/office/drawing/2014/main" id="{6160B9F9-BF0F-1CA7-B24A-00761CF5CBC3}"/>
              </a:ext>
            </a:extLst>
          </p:cNvPr>
          <p:cNvSpPr>
            <a:spLocks noGrp="1" noChangeArrowheads="1"/>
          </p:cNvSpPr>
          <p:nvPr>
            <p:ph idx="1"/>
          </p:nvPr>
        </p:nvSpPr>
        <p:spPr>
          <a:xfrm>
            <a:off x="1485900" y="1200150"/>
            <a:ext cx="6343650" cy="3829050"/>
          </a:xfrm>
        </p:spPr>
        <p:txBody>
          <a:bodyPr rtlCol="0">
            <a:normAutofit fontScale="92500"/>
          </a:bodyPr>
          <a:lstStyle/>
          <a:p>
            <a:pPr eaLnBrk="1" fontAlgn="auto" hangingPunct="1">
              <a:spcAft>
                <a:spcPts val="0"/>
              </a:spcAft>
              <a:buFont typeface="Arial"/>
              <a:buChar char="•"/>
              <a:defRPr/>
            </a:pPr>
            <a:r>
              <a:rPr lang="en-US">
                <a:solidFill>
                  <a:schemeClr val="hlink"/>
                </a:solidFill>
                <a:ea typeface="+mn-ea"/>
              </a:rPr>
              <a:t>Nimda leaped firewalls</a:t>
            </a:r>
          </a:p>
          <a:p>
            <a:pPr eaLnBrk="1" fontAlgn="auto" hangingPunct="1">
              <a:spcAft>
                <a:spcPts val="0"/>
              </a:spcAft>
              <a:buFont typeface="Arial"/>
              <a:buChar char="•"/>
              <a:defRPr/>
            </a:pPr>
            <a:r>
              <a:rPr lang="en-US">
                <a:ea typeface="+mn-ea"/>
              </a:rPr>
              <a:t>Many firewalls passed mail untouched, relying on mail servers to filter out infections</a:t>
            </a:r>
            <a:endParaRPr lang="en-US" i="1">
              <a:solidFill>
                <a:schemeClr val="folHlink"/>
              </a:solidFill>
              <a:ea typeface="+mn-ea"/>
            </a:endParaRPr>
          </a:p>
          <a:p>
            <a:pPr lvl="1" eaLnBrk="1" fontAlgn="auto" hangingPunct="1">
              <a:spcAft>
                <a:spcPts val="0"/>
              </a:spcAft>
              <a:buFont typeface="Arial"/>
              <a:buChar char="–"/>
              <a:defRPr/>
            </a:pPr>
            <a:r>
              <a:rPr lang="en-US">
                <a:ea typeface="+mn-ea"/>
              </a:rPr>
              <a:t>Most filters simply scan attachments for signatures (code snippets) of known viruses and worms</a:t>
            </a:r>
          </a:p>
          <a:p>
            <a:pPr eaLnBrk="1" fontAlgn="auto" hangingPunct="1">
              <a:spcAft>
                <a:spcPts val="0"/>
              </a:spcAft>
              <a:buFont typeface="Arial"/>
              <a:buChar char="•"/>
              <a:defRPr/>
            </a:pPr>
            <a:r>
              <a:rPr lang="en-US">
                <a:ea typeface="+mn-ea"/>
              </a:rPr>
              <a:t>Nimda was a brand-new infection with unknown signature, and scanners could not detect it</a:t>
            </a:r>
          </a:p>
          <a:p>
            <a:pPr eaLnBrk="1" fontAlgn="auto" hangingPunct="1">
              <a:spcAft>
                <a:spcPts val="0"/>
              </a:spcAft>
              <a:buFont typeface="Arial"/>
              <a:buChar char="•"/>
              <a:defRPr/>
            </a:pPr>
            <a:r>
              <a:rPr lang="en-US">
                <a:ea typeface="+mn-ea"/>
              </a:rPr>
              <a:t>Big challenge: detection of </a:t>
            </a:r>
            <a:r>
              <a:rPr lang="en-US">
                <a:solidFill>
                  <a:schemeClr val="hlink"/>
                </a:solidFill>
                <a:ea typeface="+mn-ea"/>
              </a:rPr>
              <a:t>zero-day attacks</a:t>
            </a:r>
          </a:p>
          <a:p>
            <a:pPr lvl="1" eaLnBrk="1" fontAlgn="auto" hangingPunct="1">
              <a:spcAft>
                <a:spcPts val="0"/>
              </a:spcAft>
              <a:buFont typeface="Arial"/>
              <a:buChar char="–"/>
              <a:defRPr/>
            </a:pPr>
            <a:r>
              <a:rPr lang="en-US">
                <a:ea typeface="+mn-ea"/>
              </a:rPr>
              <a:t>When a worm first appears in the wild, signature is not extracted until minutes or hours later</a:t>
            </a:r>
          </a:p>
        </p:txBody>
      </p:sp>
      <p:sp>
        <p:nvSpPr>
          <p:cNvPr id="61443" name="Slide Number Placeholder 5">
            <a:extLst>
              <a:ext uri="{FF2B5EF4-FFF2-40B4-BE49-F238E27FC236}">
                <a16:creationId xmlns:a16="http://schemas.microsoft.com/office/drawing/2014/main" id="{24BF2BC8-5852-8540-656E-73A3AB4CFCE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FB6F83F6-A66C-1446-B4CC-968E2E7756D9}" type="slidenum">
              <a:rPr lang="en-US" altLang="en-US" sz="900" smtClean="0">
                <a:solidFill>
                  <a:srgbClr val="898989"/>
                </a:solidFill>
                <a:latin typeface="Arial" panose="020B0604020202020204" pitchFamily="34" charset="0"/>
              </a:rPr>
              <a:pPr>
                <a:spcBef>
                  <a:spcPct val="0"/>
                </a:spcBef>
                <a:buFontTx/>
                <a:buNone/>
              </a:pPr>
              <a:t>23</a:t>
            </a:fld>
            <a:endParaRPr lang="en-US" altLang="en-US" sz="900">
              <a:solidFill>
                <a:srgbClr val="898989"/>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54EB2F2E-0C4B-049E-8931-B3D3289E6735}"/>
              </a:ext>
            </a:extLst>
          </p:cNvPr>
          <p:cNvSpPr>
            <a:spLocks noGrp="1"/>
          </p:cNvSpPr>
          <p:nvPr>
            <p:ph type="title"/>
          </p:nvPr>
        </p:nvSpPr>
        <p:spPr>
          <a:xfrm>
            <a:off x="1447800" y="171450"/>
            <a:ext cx="6438900" cy="685800"/>
          </a:xfrm>
        </p:spPr>
        <p:txBody>
          <a:bodyPr/>
          <a:lstStyle/>
          <a:p>
            <a:pPr eaLnBrk="1" hangingPunct="1"/>
            <a:r>
              <a:rPr lang="en-US" altLang="en-US"/>
              <a:t>Code Red I and II   </a:t>
            </a:r>
            <a:r>
              <a:rPr lang="en-US" altLang="en-US" sz="2400"/>
              <a:t>(Paxson)</a:t>
            </a:r>
          </a:p>
        </p:txBody>
      </p:sp>
      <p:sp>
        <p:nvSpPr>
          <p:cNvPr id="63490" name="Slide Number Placeholder 5">
            <a:extLst>
              <a:ext uri="{FF2B5EF4-FFF2-40B4-BE49-F238E27FC236}">
                <a16:creationId xmlns:a16="http://schemas.microsoft.com/office/drawing/2014/main" id="{B5FC77B5-8AD3-7DE1-A733-B7CCE47FF5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D0C2C4A0-D866-B34B-87E8-7526E90FB931}" type="slidenum">
              <a:rPr lang="en-US" altLang="en-US" sz="900" smtClean="0">
                <a:solidFill>
                  <a:srgbClr val="898989"/>
                </a:solidFill>
                <a:latin typeface="Arial" panose="020B0604020202020204" pitchFamily="34" charset="0"/>
              </a:rPr>
              <a:pPr>
                <a:spcBef>
                  <a:spcPct val="0"/>
                </a:spcBef>
                <a:buFontTx/>
                <a:buNone/>
              </a:pPr>
              <a:t>24</a:t>
            </a:fld>
            <a:endParaRPr lang="en-US" altLang="en-US" sz="900">
              <a:solidFill>
                <a:srgbClr val="898989"/>
              </a:solidFill>
              <a:latin typeface="Arial" panose="020B0604020202020204" pitchFamily="34" charset="0"/>
            </a:endParaRPr>
          </a:p>
        </p:txBody>
      </p:sp>
      <p:pic>
        <p:nvPicPr>
          <p:cNvPr id="63491" name="Picture 3">
            <a:extLst>
              <a:ext uri="{FF2B5EF4-FFF2-40B4-BE49-F238E27FC236}">
                <a16:creationId xmlns:a16="http://schemas.microsoft.com/office/drawing/2014/main" id="{23210394-9D08-AA92-E991-7E8A51CD3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090613"/>
            <a:ext cx="5600700" cy="388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4388" name="Group 4">
            <a:extLst>
              <a:ext uri="{FF2B5EF4-FFF2-40B4-BE49-F238E27FC236}">
                <a16:creationId xmlns:a16="http://schemas.microsoft.com/office/drawing/2014/main" id="{86307362-B082-C179-5702-587388E61C8D}"/>
              </a:ext>
            </a:extLst>
          </p:cNvPr>
          <p:cNvGrpSpPr>
            <a:grpSpLocks/>
          </p:cNvGrpSpPr>
          <p:nvPr/>
        </p:nvGrpSpPr>
        <p:grpSpPr bwMode="auto">
          <a:xfrm>
            <a:off x="2486025" y="2857500"/>
            <a:ext cx="2000250" cy="1200150"/>
            <a:chOff x="1200" y="2016"/>
            <a:chExt cx="1680" cy="1296"/>
          </a:xfrm>
        </p:grpSpPr>
        <p:sp>
          <p:nvSpPr>
            <p:cNvPr id="63499" name="Text Box 5">
              <a:extLst>
                <a:ext uri="{FF2B5EF4-FFF2-40B4-BE49-F238E27FC236}">
                  <a16:creationId xmlns:a16="http://schemas.microsoft.com/office/drawing/2014/main" id="{62653C6C-1BB3-5423-3F5C-9357776FAA56}"/>
                </a:ext>
              </a:extLst>
            </p:cNvPr>
            <p:cNvSpPr txBox="1">
              <a:spLocks noChangeArrowheads="1"/>
            </p:cNvSpPr>
            <p:nvPr/>
          </p:nvSpPr>
          <p:spPr bwMode="auto">
            <a:xfrm>
              <a:off x="1392" y="2016"/>
              <a:ext cx="1488" cy="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US" b="1">
                  <a:solidFill>
                    <a:srgbClr val="FF8000"/>
                  </a:solidFill>
                </a:rPr>
                <a:t>Code Red II dies off as programmed</a:t>
              </a:r>
            </a:p>
          </p:txBody>
        </p:sp>
        <p:sp>
          <p:nvSpPr>
            <p:cNvPr id="63500" name="Line 6">
              <a:extLst>
                <a:ext uri="{FF2B5EF4-FFF2-40B4-BE49-F238E27FC236}">
                  <a16:creationId xmlns:a16="http://schemas.microsoft.com/office/drawing/2014/main" id="{7BF341ED-D5E7-A1D9-6C77-F600A698002B}"/>
                </a:ext>
              </a:extLst>
            </p:cNvPr>
            <p:cNvSpPr>
              <a:spLocks noChangeShapeType="1"/>
            </p:cNvSpPr>
            <p:nvPr/>
          </p:nvSpPr>
          <p:spPr bwMode="auto">
            <a:xfrm flipH="1">
              <a:off x="1200" y="2448"/>
              <a:ext cx="768" cy="864"/>
            </a:xfrm>
            <a:prstGeom prst="line">
              <a:avLst/>
            </a:prstGeom>
            <a:noFill/>
            <a:ln w="25400">
              <a:solidFill>
                <a:srgbClr val="FF8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44391" name="Group 7">
            <a:extLst>
              <a:ext uri="{FF2B5EF4-FFF2-40B4-BE49-F238E27FC236}">
                <a16:creationId xmlns:a16="http://schemas.microsoft.com/office/drawing/2014/main" id="{4AC5F00C-F6E9-DD9B-0AC4-7E719CBC7537}"/>
              </a:ext>
            </a:extLst>
          </p:cNvPr>
          <p:cNvGrpSpPr>
            <a:grpSpLocks/>
          </p:cNvGrpSpPr>
          <p:nvPr/>
        </p:nvGrpSpPr>
        <p:grpSpPr bwMode="auto">
          <a:xfrm>
            <a:off x="3028950" y="2286000"/>
            <a:ext cx="3314700" cy="2932113"/>
            <a:chOff x="1392" y="1584"/>
            <a:chExt cx="3552" cy="3256"/>
          </a:xfrm>
        </p:grpSpPr>
        <p:grpSp>
          <p:nvGrpSpPr>
            <p:cNvPr id="63494" name="Group 8">
              <a:extLst>
                <a:ext uri="{FF2B5EF4-FFF2-40B4-BE49-F238E27FC236}">
                  <a16:creationId xmlns:a16="http://schemas.microsoft.com/office/drawing/2014/main" id="{CAA7190B-F196-3926-FCC1-E3BD19090742}"/>
                </a:ext>
              </a:extLst>
            </p:cNvPr>
            <p:cNvGrpSpPr>
              <a:grpSpLocks/>
            </p:cNvGrpSpPr>
            <p:nvPr/>
          </p:nvGrpSpPr>
          <p:grpSpPr bwMode="auto">
            <a:xfrm>
              <a:off x="1392" y="1827"/>
              <a:ext cx="3075" cy="3013"/>
              <a:chOff x="1392" y="1827"/>
              <a:chExt cx="3075" cy="3013"/>
            </a:xfrm>
          </p:grpSpPr>
          <p:sp>
            <p:nvSpPr>
              <p:cNvPr id="63496" name="Text Box 9">
                <a:extLst>
                  <a:ext uri="{FF2B5EF4-FFF2-40B4-BE49-F238E27FC236}">
                    <a16:creationId xmlns:a16="http://schemas.microsoft.com/office/drawing/2014/main" id="{87E257A7-D801-D1F0-78DA-68C5B13267EC}"/>
                  </a:ext>
                </a:extLst>
              </p:cNvPr>
              <p:cNvSpPr txBox="1">
                <a:spLocks noChangeArrowheads="1"/>
              </p:cNvSpPr>
              <p:nvPr/>
            </p:nvSpPr>
            <p:spPr bwMode="auto">
              <a:xfrm>
                <a:off x="2977" y="1970"/>
                <a:ext cx="1490" cy="28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US" altLang="en-US" b="1">
                    <a:solidFill>
                      <a:srgbClr val="FF8000"/>
                    </a:solidFill>
                  </a:rPr>
                  <a:t>With its predator gone, Code Red I comes back, still exhibiting monthly pattern</a:t>
                </a:r>
              </a:p>
            </p:txBody>
          </p:sp>
          <p:sp>
            <p:nvSpPr>
              <p:cNvPr id="63497" name="Line 10">
                <a:extLst>
                  <a:ext uri="{FF2B5EF4-FFF2-40B4-BE49-F238E27FC236}">
                    <a16:creationId xmlns:a16="http://schemas.microsoft.com/office/drawing/2014/main" id="{8AB6C31B-4576-BB74-2740-46A89F3F752A}"/>
                  </a:ext>
                </a:extLst>
              </p:cNvPr>
              <p:cNvSpPr>
                <a:spLocks noChangeShapeType="1"/>
              </p:cNvSpPr>
              <p:nvPr/>
            </p:nvSpPr>
            <p:spPr bwMode="auto">
              <a:xfrm flipH="1">
                <a:off x="1392" y="2640"/>
                <a:ext cx="1585" cy="720"/>
              </a:xfrm>
              <a:prstGeom prst="line">
                <a:avLst/>
              </a:prstGeom>
              <a:noFill/>
              <a:ln w="25400">
                <a:solidFill>
                  <a:srgbClr val="FF8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498" name="Line 11">
                <a:extLst>
                  <a:ext uri="{FF2B5EF4-FFF2-40B4-BE49-F238E27FC236}">
                    <a16:creationId xmlns:a16="http://schemas.microsoft.com/office/drawing/2014/main" id="{9CBA297F-C523-BC23-C57D-EA62E10B5026}"/>
                  </a:ext>
                </a:extLst>
              </p:cNvPr>
              <p:cNvSpPr>
                <a:spLocks noChangeShapeType="1"/>
              </p:cNvSpPr>
              <p:nvPr/>
            </p:nvSpPr>
            <p:spPr bwMode="auto">
              <a:xfrm flipH="1" flipV="1">
                <a:off x="2688" y="1827"/>
                <a:ext cx="240" cy="143"/>
              </a:xfrm>
              <a:prstGeom prst="line">
                <a:avLst/>
              </a:prstGeom>
              <a:noFill/>
              <a:ln w="25400">
                <a:solidFill>
                  <a:srgbClr val="FF8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63495" name="Line 12">
              <a:extLst>
                <a:ext uri="{FF2B5EF4-FFF2-40B4-BE49-F238E27FC236}">
                  <a16:creationId xmlns:a16="http://schemas.microsoft.com/office/drawing/2014/main" id="{357E4B22-398C-9406-6C95-427355507FB9}"/>
                </a:ext>
              </a:extLst>
            </p:cNvPr>
            <p:cNvSpPr>
              <a:spLocks noChangeShapeType="1"/>
            </p:cNvSpPr>
            <p:nvPr/>
          </p:nvSpPr>
          <p:spPr bwMode="auto">
            <a:xfrm flipV="1">
              <a:off x="4320" y="1584"/>
              <a:ext cx="624" cy="432"/>
            </a:xfrm>
            <a:prstGeom prst="line">
              <a:avLst/>
            </a:prstGeom>
            <a:noFill/>
            <a:ln w="25400">
              <a:solidFill>
                <a:srgbClr val="FF8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43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499"/>
                                          </p:stCondLst>
                                        </p:cTn>
                                        <p:tgtEl>
                                          <p:spTgt spid="14438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44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8DEBC088-3759-2B1A-D2B7-5100C5646ACC}"/>
              </a:ext>
            </a:extLst>
          </p:cNvPr>
          <p:cNvSpPr>
            <a:spLocks noGrp="1"/>
          </p:cNvSpPr>
          <p:nvPr>
            <p:ph type="title"/>
          </p:nvPr>
        </p:nvSpPr>
        <p:spPr/>
        <p:txBody>
          <a:bodyPr/>
          <a:lstStyle/>
          <a:p>
            <a:pPr eaLnBrk="1" hangingPunct="1"/>
            <a:r>
              <a:rPr lang="en-US" altLang="en-US"/>
              <a:t>Designing Fast-Spreading Worms</a:t>
            </a:r>
          </a:p>
        </p:txBody>
      </p:sp>
      <p:sp>
        <p:nvSpPr>
          <p:cNvPr id="65538" name="Rectangle 3">
            <a:extLst>
              <a:ext uri="{FF2B5EF4-FFF2-40B4-BE49-F238E27FC236}">
                <a16:creationId xmlns:a16="http://schemas.microsoft.com/office/drawing/2014/main" id="{8516F5CD-D6F9-6D25-9AEA-EAFCBEC624A5}"/>
              </a:ext>
            </a:extLst>
          </p:cNvPr>
          <p:cNvSpPr>
            <a:spLocks noGrp="1"/>
          </p:cNvSpPr>
          <p:nvPr>
            <p:ph idx="1"/>
          </p:nvPr>
        </p:nvSpPr>
        <p:spPr/>
        <p:txBody>
          <a:bodyPr/>
          <a:lstStyle/>
          <a:p>
            <a:pPr eaLnBrk="1" hangingPunct="1">
              <a:lnSpc>
                <a:spcPct val="90000"/>
              </a:lnSpc>
            </a:pPr>
            <a:r>
              <a:rPr lang="en-US" altLang="en-US" sz="1800" b="1">
                <a:solidFill>
                  <a:srgbClr val="FF0000"/>
                </a:solidFill>
              </a:rPr>
              <a:t>Hit-list scanning</a:t>
            </a:r>
          </a:p>
          <a:p>
            <a:pPr lvl="1" eaLnBrk="1" hangingPunct="1">
              <a:lnSpc>
                <a:spcPct val="90000"/>
              </a:lnSpc>
            </a:pPr>
            <a:r>
              <a:rPr lang="en-US" altLang="en-US" sz="1500"/>
              <a:t>Time to infect first 10k hosts dominates infection time</a:t>
            </a:r>
          </a:p>
          <a:p>
            <a:pPr lvl="1" eaLnBrk="1" hangingPunct="1">
              <a:lnSpc>
                <a:spcPct val="90000"/>
              </a:lnSpc>
            </a:pPr>
            <a:r>
              <a:rPr lang="en-US" altLang="en-US" sz="1500" b="1">
                <a:solidFill>
                  <a:srgbClr val="FF0000"/>
                </a:solidFill>
              </a:rPr>
              <a:t>Solution:</a:t>
            </a:r>
            <a:r>
              <a:rPr lang="en-US" altLang="en-US" sz="1500"/>
              <a:t> Reconnaissance (stealthy scans, etc.)</a:t>
            </a:r>
          </a:p>
          <a:p>
            <a:pPr lvl="1" eaLnBrk="1" hangingPunct="1">
              <a:lnSpc>
                <a:spcPct val="90000"/>
              </a:lnSpc>
            </a:pPr>
            <a:endParaRPr lang="en-US" altLang="en-US" sz="1500"/>
          </a:p>
          <a:p>
            <a:pPr eaLnBrk="1" hangingPunct="1">
              <a:lnSpc>
                <a:spcPct val="90000"/>
              </a:lnSpc>
            </a:pPr>
            <a:r>
              <a:rPr lang="en-US" altLang="en-US" sz="1800" b="1">
                <a:solidFill>
                  <a:srgbClr val="FF0000"/>
                </a:solidFill>
              </a:rPr>
              <a:t>Permutation scanning</a:t>
            </a:r>
          </a:p>
          <a:p>
            <a:pPr lvl="1" eaLnBrk="1" hangingPunct="1">
              <a:lnSpc>
                <a:spcPct val="90000"/>
              </a:lnSpc>
            </a:pPr>
            <a:r>
              <a:rPr lang="en-US" altLang="en-US" sz="1500" b="1">
                <a:solidFill>
                  <a:srgbClr val="FF0000"/>
                </a:solidFill>
              </a:rPr>
              <a:t>Observation: </a:t>
            </a:r>
            <a:r>
              <a:rPr lang="en-US" altLang="en-US" sz="1500"/>
              <a:t>Most scanning is redundant</a:t>
            </a:r>
          </a:p>
          <a:p>
            <a:pPr lvl="1" eaLnBrk="1" hangingPunct="1">
              <a:lnSpc>
                <a:spcPct val="90000"/>
              </a:lnSpc>
            </a:pPr>
            <a:r>
              <a:rPr lang="en-US" altLang="en-US" sz="1500" b="1">
                <a:solidFill>
                  <a:srgbClr val="FF0000"/>
                </a:solidFill>
              </a:rPr>
              <a:t>Idea:</a:t>
            </a:r>
            <a:r>
              <a:rPr lang="en-US" altLang="en-US" sz="1500"/>
              <a:t> Shared permutation of address space.  Start scanning from own IP address.  Re-randomize when another infected machine is found.</a:t>
            </a:r>
            <a:endParaRPr lang="en-US" altLang="en-US" sz="1500" b="1"/>
          </a:p>
          <a:p>
            <a:pPr eaLnBrk="1" hangingPunct="1">
              <a:lnSpc>
                <a:spcPct val="90000"/>
              </a:lnSpc>
            </a:pPr>
            <a:endParaRPr lang="en-US" altLang="en-US" sz="1800" b="1"/>
          </a:p>
          <a:p>
            <a:pPr eaLnBrk="1" hangingPunct="1">
              <a:lnSpc>
                <a:spcPct val="90000"/>
              </a:lnSpc>
            </a:pPr>
            <a:r>
              <a:rPr lang="en-US" altLang="en-US" sz="1800" b="1">
                <a:solidFill>
                  <a:srgbClr val="FF0000"/>
                </a:solidFill>
              </a:rPr>
              <a:t>Internet-scale hit lists</a:t>
            </a:r>
          </a:p>
          <a:p>
            <a:pPr lvl="1" eaLnBrk="1" hangingPunct="1">
              <a:lnSpc>
                <a:spcPct val="90000"/>
              </a:lnSpc>
            </a:pPr>
            <a:r>
              <a:rPr lang="en-US" altLang="en-US" sz="1500" i="1"/>
              <a:t>Flash worm:</a:t>
            </a:r>
            <a:r>
              <a:rPr lang="en-US" altLang="en-US" sz="1500"/>
              <a:t> complete infection within 30 seconds</a:t>
            </a:r>
          </a:p>
        </p:txBody>
      </p:sp>
      <p:sp>
        <p:nvSpPr>
          <p:cNvPr id="65539" name="Slide Number Placeholder 5">
            <a:extLst>
              <a:ext uri="{FF2B5EF4-FFF2-40B4-BE49-F238E27FC236}">
                <a16:creationId xmlns:a16="http://schemas.microsoft.com/office/drawing/2014/main" id="{4AF20D32-81EB-8AEE-4856-5A56D0A5D1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C2D9493-3F73-EE47-AC6C-B723DC5126BF}" type="slidenum">
              <a:rPr lang="en-US" altLang="en-US" sz="900" smtClean="0">
                <a:solidFill>
                  <a:srgbClr val="898989"/>
                </a:solidFill>
                <a:latin typeface="Arial" panose="020B0604020202020204" pitchFamily="34" charset="0"/>
              </a:rPr>
              <a:pPr>
                <a:spcBef>
                  <a:spcPct val="0"/>
                </a:spcBef>
                <a:buFontTx/>
                <a:buNone/>
              </a:pPr>
              <a:t>25</a:t>
            </a:fld>
            <a:endParaRPr lang="en-US" altLang="en-US" sz="900">
              <a:solidFill>
                <a:srgbClr val="898989"/>
              </a:solidFill>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5F3E501B-4B85-B16D-F112-1B78BEB5AF7C}"/>
              </a:ext>
            </a:extLst>
          </p:cNvPr>
          <p:cNvSpPr>
            <a:spLocks noGrp="1"/>
          </p:cNvSpPr>
          <p:nvPr>
            <p:ph type="title"/>
          </p:nvPr>
        </p:nvSpPr>
        <p:spPr/>
        <p:txBody>
          <a:bodyPr/>
          <a:lstStyle/>
          <a:p>
            <a:pPr eaLnBrk="1" hangingPunct="1"/>
            <a:r>
              <a:rPr lang="en-US" altLang="en-US"/>
              <a:t>Code Red Worm Background</a:t>
            </a:r>
          </a:p>
        </p:txBody>
      </p:sp>
      <p:sp>
        <p:nvSpPr>
          <p:cNvPr id="67586" name="Rectangle 3">
            <a:extLst>
              <a:ext uri="{FF2B5EF4-FFF2-40B4-BE49-F238E27FC236}">
                <a16:creationId xmlns:a16="http://schemas.microsoft.com/office/drawing/2014/main" id="{6AFB7849-CB54-3F9F-BE37-ACD5777A8A82}"/>
              </a:ext>
            </a:extLst>
          </p:cNvPr>
          <p:cNvSpPr>
            <a:spLocks noGrp="1"/>
          </p:cNvSpPr>
          <p:nvPr>
            <p:ph idx="1"/>
          </p:nvPr>
        </p:nvSpPr>
        <p:spPr>
          <a:xfrm>
            <a:off x="1876425" y="1314450"/>
            <a:ext cx="6124575" cy="3706813"/>
          </a:xfrm>
        </p:spPr>
        <p:txBody>
          <a:bodyPr/>
          <a:lstStyle/>
          <a:p>
            <a:pPr eaLnBrk="1" hangingPunct="1"/>
            <a:r>
              <a:rPr lang="en-US" altLang="en-US" sz="1800"/>
              <a:t>Sent HTTP Get request to buffer overflow Win IIS server.</a:t>
            </a:r>
          </a:p>
          <a:p>
            <a:pPr eaLnBrk="1" hangingPunct="1">
              <a:spcBef>
                <a:spcPct val="50000"/>
              </a:spcBef>
            </a:pPr>
            <a:r>
              <a:rPr lang="en-US" altLang="en-US" sz="1800"/>
              <a:t>It generated 100 threads to scan simultaneously</a:t>
            </a:r>
          </a:p>
          <a:p>
            <a:pPr lvl="1" eaLnBrk="1" hangingPunct="1"/>
            <a:r>
              <a:rPr lang="en-US" altLang="en-US" sz="1500"/>
              <a:t>One reason for its fast spreading.</a:t>
            </a:r>
          </a:p>
          <a:p>
            <a:pPr lvl="1" eaLnBrk="1" hangingPunct="1"/>
            <a:r>
              <a:rPr lang="en-US" altLang="en-US" sz="1500"/>
              <a:t>Huge scan traffic might have caused congestion.</a:t>
            </a:r>
          </a:p>
          <a:p>
            <a:pPr eaLnBrk="1" hangingPunct="1">
              <a:spcBef>
                <a:spcPct val="50000"/>
              </a:spcBef>
            </a:pPr>
            <a:r>
              <a:rPr lang="en-US" altLang="en-US" sz="1800"/>
              <a:t>Characteristics:</a:t>
            </a:r>
          </a:p>
          <a:p>
            <a:pPr lvl="1" eaLnBrk="1" hangingPunct="1"/>
            <a:r>
              <a:rPr lang="en-US" altLang="en-US" sz="1500"/>
              <a:t>Uniformly picked IP addresses to send scan packets. </a:t>
            </a:r>
          </a:p>
          <a:p>
            <a:pPr eaLnBrk="1" hangingPunct="1"/>
            <a:r>
              <a:rPr lang="en-US" altLang="en-US" sz="1800"/>
              <a:t>Code Red worm incident of July 19th, 2001:</a:t>
            </a:r>
          </a:p>
          <a:p>
            <a:pPr lvl="1" eaLnBrk="1" hangingPunct="1"/>
            <a:r>
              <a:rPr lang="en-US" altLang="en-US" sz="1500"/>
              <a:t>Showed how fast a worm can spread.</a:t>
            </a:r>
          </a:p>
          <a:p>
            <a:pPr lvl="2" eaLnBrk="1" hangingPunct="1"/>
            <a:r>
              <a:rPr lang="en-US" altLang="en-US" sz="1500"/>
              <a:t>more than 350,000 infected in less than one day.</a:t>
            </a:r>
          </a:p>
        </p:txBody>
      </p:sp>
      <p:sp>
        <p:nvSpPr>
          <p:cNvPr id="67587" name="Slide Number Placeholder 5">
            <a:extLst>
              <a:ext uri="{FF2B5EF4-FFF2-40B4-BE49-F238E27FC236}">
                <a16:creationId xmlns:a16="http://schemas.microsoft.com/office/drawing/2014/main" id="{08672BC0-EF28-ACD7-466E-2D3656D761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384ED81D-228D-0747-80C8-A44A4CDFA87F}" type="slidenum">
              <a:rPr lang="en-US" altLang="en-US" sz="900" smtClean="0">
                <a:solidFill>
                  <a:srgbClr val="898989"/>
                </a:solidFill>
                <a:latin typeface="Arial" panose="020B0604020202020204" pitchFamily="34" charset="0"/>
              </a:rPr>
              <a:pPr>
                <a:spcBef>
                  <a:spcPct val="0"/>
                </a:spcBef>
                <a:buFontTx/>
                <a:buNone/>
              </a:pPr>
              <a:t>26</a:t>
            </a:fld>
            <a:endParaRPr lang="en-US" altLang="en-US" sz="900">
              <a:solidFill>
                <a:srgbClr val="898989"/>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22E4F1F9-9E3F-7C30-A27C-D11155055B79}"/>
              </a:ext>
            </a:extLst>
          </p:cNvPr>
          <p:cNvSpPr>
            <a:spLocks noGrp="1"/>
          </p:cNvSpPr>
          <p:nvPr>
            <p:ph type="title"/>
          </p:nvPr>
        </p:nvSpPr>
        <p:spPr>
          <a:xfrm>
            <a:off x="1447800" y="171450"/>
            <a:ext cx="5867400" cy="685800"/>
          </a:xfrm>
        </p:spPr>
        <p:txBody>
          <a:bodyPr/>
          <a:lstStyle/>
          <a:p>
            <a:pPr eaLnBrk="1" hangingPunct="1"/>
            <a:r>
              <a:rPr lang="en-US" altLang="en-US"/>
              <a:t>Slammer (Sapphire) Worm</a:t>
            </a:r>
          </a:p>
        </p:txBody>
      </p:sp>
      <p:sp>
        <p:nvSpPr>
          <p:cNvPr id="91139" name="Rectangle 3">
            <a:extLst>
              <a:ext uri="{FF2B5EF4-FFF2-40B4-BE49-F238E27FC236}">
                <a16:creationId xmlns:a16="http://schemas.microsoft.com/office/drawing/2014/main" id="{92AB950B-17CA-13B6-DDBF-ECB30CC913F4}"/>
              </a:ext>
            </a:extLst>
          </p:cNvPr>
          <p:cNvSpPr>
            <a:spLocks noGrp="1" noChangeArrowheads="1"/>
          </p:cNvSpPr>
          <p:nvPr>
            <p:ph idx="1"/>
          </p:nvPr>
        </p:nvSpPr>
        <p:spPr>
          <a:xfrm>
            <a:off x="1485900" y="1200150"/>
            <a:ext cx="6286500" cy="3771900"/>
          </a:xfrm>
        </p:spPr>
        <p:txBody>
          <a:bodyPr>
            <a:normAutofit/>
          </a:bodyPr>
          <a:lstStyle/>
          <a:p>
            <a:pPr eaLnBrk="1" hangingPunct="1">
              <a:lnSpc>
                <a:spcPct val="80000"/>
              </a:lnSpc>
              <a:defRPr/>
            </a:pPr>
            <a:r>
              <a:rPr lang="en-US" altLang="en-US" sz="2250"/>
              <a:t>January 24/25, 2003: UDP worm exploiting buffer overflow in Microsoft</a:t>
            </a:r>
            <a:r>
              <a:rPr lang="ja-JP" altLang="en-US" sz="2250">
                <a:latin typeface="Arial" panose="020B0604020202020204" pitchFamily="34" charset="0"/>
              </a:rPr>
              <a:t>’</a:t>
            </a:r>
            <a:r>
              <a:rPr lang="en-US" altLang="ja-JP" sz="2250"/>
              <a:t>s SQL Server</a:t>
            </a:r>
          </a:p>
          <a:p>
            <a:pPr lvl="1" eaLnBrk="1" hangingPunct="1">
              <a:lnSpc>
                <a:spcPct val="80000"/>
              </a:lnSpc>
              <a:defRPr/>
            </a:pPr>
            <a:r>
              <a:rPr lang="en-US" altLang="en-US" sz="1950"/>
              <a:t>Overflow was already known and patched by Microsoft… but not everybody installed the patch</a:t>
            </a:r>
          </a:p>
          <a:p>
            <a:pPr eaLnBrk="1" hangingPunct="1">
              <a:lnSpc>
                <a:spcPct val="80000"/>
              </a:lnSpc>
              <a:defRPr/>
            </a:pPr>
            <a:r>
              <a:rPr lang="en-US" altLang="en-US" sz="2250"/>
              <a:t>Entire code fits into a </a:t>
            </a:r>
            <a:r>
              <a:rPr lang="en-US" altLang="en-US" sz="2250">
                <a:solidFill>
                  <a:schemeClr val="hlink"/>
                </a:solidFill>
              </a:rPr>
              <a:t>single 404-byte UDP packet</a:t>
            </a:r>
          </a:p>
          <a:p>
            <a:pPr lvl="1" eaLnBrk="1" hangingPunct="1">
              <a:lnSpc>
                <a:spcPct val="80000"/>
              </a:lnSpc>
              <a:defRPr/>
            </a:pPr>
            <a:r>
              <a:rPr lang="en-US" altLang="en-US" sz="1950"/>
              <a:t>Worm binary followed by overflow pointer back to itself</a:t>
            </a:r>
          </a:p>
          <a:p>
            <a:pPr eaLnBrk="1" hangingPunct="1">
              <a:lnSpc>
                <a:spcPct val="80000"/>
              </a:lnSpc>
              <a:defRPr/>
            </a:pPr>
            <a:r>
              <a:rPr lang="en-US" altLang="en-US" sz="2250"/>
              <a:t>Classic buffer overflow combined with </a:t>
            </a:r>
            <a:r>
              <a:rPr lang="en-US" altLang="en-US" sz="2250">
                <a:solidFill>
                  <a:schemeClr val="hlink"/>
                </a:solidFill>
              </a:rPr>
              <a:t>random scanning</a:t>
            </a:r>
            <a:r>
              <a:rPr lang="en-US" altLang="en-US" sz="2250"/>
              <a:t>: once control is passed to worm code, it randomly generates IP addresses and attempts to send a copy of itself to port 1434</a:t>
            </a:r>
          </a:p>
          <a:p>
            <a:pPr lvl="1" eaLnBrk="1" hangingPunct="1">
              <a:lnSpc>
                <a:spcPct val="80000"/>
              </a:lnSpc>
              <a:defRPr/>
            </a:pPr>
            <a:r>
              <a:rPr lang="en-US" altLang="en-US" sz="1950"/>
              <a:t>MS-SQL listens at port 1434</a:t>
            </a:r>
          </a:p>
        </p:txBody>
      </p:sp>
      <p:sp>
        <p:nvSpPr>
          <p:cNvPr id="69635" name="Slide Number Placeholder 5">
            <a:extLst>
              <a:ext uri="{FF2B5EF4-FFF2-40B4-BE49-F238E27FC236}">
                <a16:creationId xmlns:a16="http://schemas.microsoft.com/office/drawing/2014/main" id="{B4DB8A5E-35DA-6925-EC81-1063AA7365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4A1ABD29-9B32-F94B-8BF5-3F5788C8F21B}" type="slidenum">
              <a:rPr lang="en-US" altLang="en-US" sz="900" smtClean="0">
                <a:solidFill>
                  <a:srgbClr val="898989"/>
                </a:solidFill>
                <a:latin typeface="Arial" panose="020B0604020202020204" pitchFamily="34" charset="0"/>
              </a:rPr>
              <a:pPr>
                <a:spcBef>
                  <a:spcPct val="0"/>
                </a:spcBef>
                <a:buFontTx/>
                <a:buNone/>
              </a:pPr>
              <a:t>27</a:t>
            </a:fld>
            <a:endParaRPr lang="en-US" altLang="en-US" sz="900">
              <a:solidFill>
                <a:srgbClr val="898989"/>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4233F765-7C29-3BA1-FCDC-D08C4FF9CAEA}"/>
              </a:ext>
            </a:extLst>
          </p:cNvPr>
          <p:cNvSpPr>
            <a:spLocks noGrp="1"/>
          </p:cNvSpPr>
          <p:nvPr>
            <p:ph type="title"/>
          </p:nvPr>
        </p:nvSpPr>
        <p:spPr>
          <a:xfrm>
            <a:off x="1257300" y="217488"/>
            <a:ext cx="6357938" cy="857250"/>
          </a:xfrm>
        </p:spPr>
        <p:txBody>
          <a:bodyPr/>
          <a:lstStyle/>
          <a:p>
            <a:pPr eaLnBrk="1" hangingPunct="1"/>
            <a:r>
              <a:rPr lang="en-US" altLang="en-US"/>
              <a:t>Slammer Propagation</a:t>
            </a:r>
          </a:p>
        </p:txBody>
      </p:sp>
      <p:sp>
        <p:nvSpPr>
          <p:cNvPr id="93187" name="Rectangle 3">
            <a:extLst>
              <a:ext uri="{FF2B5EF4-FFF2-40B4-BE49-F238E27FC236}">
                <a16:creationId xmlns:a16="http://schemas.microsoft.com/office/drawing/2014/main" id="{131C2640-5B45-892A-B3D1-6497259B2487}"/>
              </a:ext>
            </a:extLst>
          </p:cNvPr>
          <p:cNvSpPr>
            <a:spLocks noGrp="1" noChangeArrowheads="1"/>
          </p:cNvSpPr>
          <p:nvPr>
            <p:ph idx="1"/>
          </p:nvPr>
        </p:nvSpPr>
        <p:spPr>
          <a:xfrm>
            <a:off x="1485900" y="1200150"/>
            <a:ext cx="6286500" cy="3829050"/>
          </a:xfrm>
        </p:spPr>
        <p:txBody>
          <a:bodyPr>
            <a:normAutofit/>
          </a:bodyPr>
          <a:lstStyle/>
          <a:p>
            <a:pPr eaLnBrk="1" hangingPunct="1">
              <a:lnSpc>
                <a:spcPct val="90000"/>
              </a:lnSpc>
              <a:defRPr/>
            </a:pPr>
            <a:r>
              <a:rPr lang="en-US" altLang="en-US" sz="2250">
                <a:solidFill>
                  <a:schemeClr val="hlink"/>
                </a:solidFill>
              </a:rPr>
              <a:t>Scan rate</a:t>
            </a:r>
            <a:r>
              <a:rPr lang="en-US" altLang="en-US" sz="2250"/>
              <a:t> of 55,000,000 addresses per second</a:t>
            </a:r>
          </a:p>
          <a:p>
            <a:pPr lvl="1" eaLnBrk="1" hangingPunct="1">
              <a:lnSpc>
                <a:spcPct val="90000"/>
              </a:lnSpc>
              <a:defRPr/>
            </a:pPr>
            <a:r>
              <a:rPr lang="en-US" altLang="en-US" sz="1950"/>
              <a:t>Scan rate = rate at which worm generates IP addresses of potential targets</a:t>
            </a:r>
          </a:p>
          <a:p>
            <a:pPr lvl="1" eaLnBrk="1" hangingPunct="1">
              <a:lnSpc>
                <a:spcPct val="90000"/>
              </a:lnSpc>
              <a:defRPr/>
            </a:pPr>
            <a:r>
              <a:rPr lang="en-US" altLang="en-US" sz="1950"/>
              <a:t>Up to 30,000 single-packet worm copies per second</a:t>
            </a:r>
          </a:p>
          <a:p>
            <a:pPr eaLnBrk="1" hangingPunct="1">
              <a:lnSpc>
                <a:spcPct val="90000"/>
              </a:lnSpc>
              <a:defRPr/>
            </a:pPr>
            <a:r>
              <a:rPr lang="en-US" altLang="en-US" sz="2250"/>
              <a:t>Initial infection was doubling in 8.5 seconds (!!)</a:t>
            </a:r>
          </a:p>
          <a:p>
            <a:pPr lvl="1" eaLnBrk="1" hangingPunct="1">
              <a:lnSpc>
                <a:spcPct val="90000"/>
              </a:lnSpc>
              <a:defRPr/>
            </a:pPr>
            <a:r>
              <a:rPr lang="en-US" altLang="en-US" sz="1950"/>
              <a:t>Doubling time of Code Red was 37 minutes</a:t>
            </a:r>
          </a:p>
          <a:p>
            <a:pPr eaLnBrk="1" hangingPunct="1">
              <a:lnSpc>
                <a:spcPct val="90000"/>
              </a:lnSpc>
              <a:defRPr/>
            </a:pPr>
            <a:r>
              <a:rPr lang="en-US" altLang="en-US" sz="2250"/>
              <a:t>Worm-generated packets </a:t>
            </a:r>
            <a:r>
              <a:rPr lang="en-US" altLang="en-US" sz="2250" u="sng"/>
              <a:t>saturated carrying capacity</a:t>
            </a:r>
            <a:r>
              <a:rPr lang="en-US" altLang="en-US" sz="2250"/>
              <a:t> of the Internet in 10 minutes</a:t>
            </a:r>
          </a:p>
          <a:p>
            <a:pPr lvl="1" eaLnBrk="1" hangingPunct="1">
              <a:lnSpc>
                <a:spcPct val="90000"/>
              </a:lnSpc>
              <a:defRPr/>
            </a:pPr>
            <a:r>
              <a:rPr lang="en-US" altLang="en-US" sz="1950"/>
              <a:t>75,000 SQL servers compromised</a:t>
            </a:r>
          </a:p>
          <a:p>
            <a:pPr lvl="1" eaLnBrk="1" hangingPunct="1">
              <a:lnSpc>
                <a:spcPct val="90000"/>
              </a:lnSpc>
              <a:defRPr/>
            </a:pPr>
            <a:r>
              <a:rPr lang="en-US" altLang="en-US" sz="1950"/>
              <a:t>And that</a:t>
            </a:r>
            <a:r>
              <a:rPr lang="ja-JP" altLang="en-US" sz="1950">
                <a:latin typeface="Arial" panose="020B0604020202020204" pitchFamily="34" charset="0"/>
              </a:rPr>
              <a:t>’</a:t>
            </a:r>
            <a:r>
              <a:rPr lang="en-US" altLang="ja-JP" sz="1950"/>
              <a:t>s in spite of </a:t>
            </a:r>
            <a:r>
              <a:rPr lang="en-US" altLang="ja-JP" sz="1950" u="sng"/>
              <a:t>broken</a:t>
            </a:r>
            <a:r>
              <a:rPr lang="en-US" altLang="ja-JP" sz="1950"/>
              <a:t> pseudo-random number generator used for IP address generation</a:t>
            </a:r>
            <a:endParaRPr lang="en-US" altLang="en-US" sz="1950"/>
          </a:p>
        </p:txBody>
      </p:sp>
      <p:sp>
        <p:nvSpPr>
          <p:cNvPr id="71683" name="Slide Number Placeholder 5">
            <a:extLst>
              <a:ext uri="{FF2B5EF4-FFF2-40B4-BE49-F238E27FC236}">
                <a16:creationId xmlns:a16="http://schemas.microsoft.com/office/drawing/2014/main" id="{D6156523-5A54-B998-015C-6D82FDD3D8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5FF7156D-F930-5945-8940-E1E45CC44BDD}" type="slidenum">
              <a:rPr lang="en-US" altLang="en-US" sz="900" smtClean="0">
                <a:solidFill>
                  <a:srgbClr val="898989"/>
                </a:solidFill>
                <a:latin typeface="Arial" panose="020B0604020202020204" pitchFamily="34" charset="0"/>
              </a:rPr>
              <a:pPr>
                <a:spcBef>
                  <a:spcPct val="0"/>
                </a:spcBef>
                <a:buFontTx/>
                <a:buNone/>
              </a:pPr>
              <a:t>28</a:t>
            </a:fld>
            <a:endParaRPr lang="en-US" altLang="en-US" sz="900">
              <a:solidFill>
                <a:srgbClr val="898989"/>
              </a:solidFill>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4C597922-FC14-3633-806C-706F0E5060F2}"/>
              </a:ext>
            </a:extLst>
          </p:cNvPr>
          <p:cNvSpPr>
            <a:spLocks noGrp="1"/>
          </p:cNvSpPr>
          <p:nvPr>
            <p:ph type="title"/>
          </p:nvPr>
        </p:nvSpPr>
        <p:spPr>
          <a:xfrm>
            <a:off x="1447800" y="171450"/>
            <a:ext cx="6038850" cy="685800"/>
          </a:xfrm>
        </p:spPr>
        <p:txBody>
          <a:bodyPr/>
          <a:lstStyle/>
          <a:p>
            <a:pPr eaLnBrk="1" hangingPunct="1"/>
            <a:r>
              <a:rPr lang="en-US" altLang="en-US"/>
              <a:t>05:29:00 UTC, January 25, 2003</a:t>
            </a:r>
          </a:p>
        </p:txBody>
      </p:sp>
      <p:sp>
        <p:nvSpPr>
          <p:cNvPr id="73730" name="Slide Number Placeholder 5">
            <a:extLst>
              <a:ext uri="{FF2B5EF4-FFF2-40B4-BE49-F238E27FC236}">
                <a16:creationId xmlns:a16="http://schemas.microsoft.com/office/drawing/2014/main" id="{29A7BBCD-A8B4-4497-655B-0C9BC4707DB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73E14D45-24CD-894D-AA53-2C519075303F}" type="slidenum">
              <a:rPr lang="en-US" altLang="en-US" sz="900" smtClean="0">
                <a:solidFill>
                  <a:srgbClr val="898989"/>
                </a:solidFill>
                <a:latin typeface="Arial" panose="020B0604020202020204" pitchFamily="34" charset="0"/>
              </a:rPr>
              <a:pPr>
                <a:spcBef>
                  <a:spcPct val="0"/>
                </a:spcBef>
                <a:buFontTx/>
                <a:buNone/>
              </a:pPr>
              <a:t>29</a:t>
            </a:fld>
            <a:endParaRPr lang="en-US" altLang="en-US" sz="900">
              <a:solidFill>
                <a:srgbClr val="898989"/>
              </a:solidFill>
              <a:latin typeface="Arial" panose="020B0604020202020204" pitchFamily="34" charset="0"/>
            </a:endParaRPr>
          </a:p>
        </p:txBody>
      </p:sp>
      <p:pic>
        <p:nvPicPr>
          <p:cNvPr id="73731" name="Picture 3" descr="sql-before-small">
            <a:hlinkClick r:id="rId3"/>
            <a:extLst>
              <a:ext uri="{FF2B5EF4-FFF2-40B4-BE49-F238E27FC236}">
                <a16:creationId xmlns:a16="http://schemas.microsoft.com/office/drawing/2014/main" id="{B34BC50B-9F10-6376-C116-176EE23D10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1608138"/>
            <a:ext cx="5543550"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Text Box 4">
            <a:extLst>
              <a:ext uri="{FF2B5EF4-FFF2-40B4-BE49-F238E27FC236}">
                <a16:creationId xmlns:a16="http://schemas.microsoft.com/office/drawing/2014/main" id="{387AAB5B-4912-6875-345E-D85C5239DF8D}"/>
              </a:ext>
            </a:extLst>
          </p:cNvPr>
          <p:cNvSpPr txBox="1">
            <a:spLocks noChangeArrowheads="1"/>
          </p:cNvSpPr>
          <p:nvPr/>
        </p:nvSpPr>
        <p:spPr bwMode="auto">
          <a:xfrm>
            <a:off x="2222500" y="1065213"/>
            <a:ext cx="57658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spcBef>
                <a:spcPct val="20000"/>
              </a:spcBef>
              <a:buClr>
                <a:schemeClr val="accent2"/>
              </a:buClr>
            </a:pPr>
            <a:r>
              <a:rPr lang="en-US" altLang="en-US" sz="1500">
                <a:solidFill>
                  <a:schemeClr val="bg2"/>
                </a:solidFill>
                <a:latin typeface="Tahoma" panose="020B0604030504040204" pitchFamily="34" charset="0"/>
              </a:rPr>
              <a:t>[from Moore et al. </a:t>
            </a:r>
            <a:r>
              <a:rPr lang="ja-JP" altLang="en-US" sz="1500">
                <a:solidFill>
                  <a:schemeClr val="hlink"/>
                </a:solidFill>
              </a:rPr>
              <a:t>“</a:t>
            </a:r>
            <a:r>
              <a:rPr lang="en-US" altLang="ja-JP" sz="1500">
                <a:solidFill>
                  <a:schemeClr val="hlink"/>
                </a:solidFill>
                <a:latin typeface="Tahoma" panose="020B0604030504040204" pitchFamily="34" charset="0"/>
              </a:rPr>
              <a:t>The Spread of the Sapphire/Slammer Worm</a:t>
            </a:r>
            <a:r>
              <a:rPr lang="ja-JP" altLang="en-US" sz="1500">
                <a:solidFill>
                  <a:schemeClr val="hlink"/>
                </a:solidFill>
              </a:rPr>
              <a:t>”</a:t>
            </a:r>
            <a:r>
              <a:rPr lang="en-US" altLang="ja-JP" sz="1500">
                <a:solidFill>
                  <a:schemeClr val="bg2"/>
                </a:solidFill>
                <a:latin typeface="Tahoma" panose="020B0604030504040204" pitchFamily="34" charset="0"/>
              </a:rPr>
              <a:t>]</a:t>
            </a:r>
            <a:endParaRPr lang="en-US" altLang="en-US" sz="1500">
              <a:solidFill>
                <a:schemeClr val="bg2"/>
              </a:solidFill>
              <a:latin typeface="Tahoma" panose="020B060403050404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
            <a:extLst>
              <a:ext uri="{FF2B5EF4-FFF2-40B4-BE49-F238E27FC236}">
                <a16:creationId xmlns:a16="http://schemas.microsoft.com/office/drawing/2014/main" id="{E17871C6-829E-B806-3923-503D84609151}"/>
              </a:ext>
            </a:extLst>
          </p:cNvPr>
          <p:cNvSpPr>
            <a:spLocks noGrp="1"/>
          </p:cNvSpPr>
          <p:nvPr>
            <p:ph type="title"/>
          </p:nvPr>
        </p:nvSpPr>
        <p:spPr>
          <a:xfrm>
            <a:off x="1447800" y="171450"/>
            <a:ext cx="6153150" cy="685800"/>
          </a:xfrm>
        </p:spPr>
        <p:txBody>
          <a:bodyPr/>
          <a:lstStyle/>
          <a:p>
            <a:pPr eaLnBrk="1" hangingPunct="1"/>
            <a:r>
              <a:rPr lang="en-US" altLang="en-US"/>
              <a:t>30 Minutes Later</a:t>
            </a:r>
          </a:p>
        </p:txBody>
      </p:sp>
      <p:sp>
        <p:nvSpPr>
          <p:cNvPr id="75778" name="Slide Number Placeholder 5">
            <a:extLst>
              <a:ext uri="{FF2B5EF4-FFF2-40B4-BE49-F238E27FC236}">
                <a16:creationId xmlns:a16="http://schemas.microsoft.com/office/drawing/2014/main" id="{E78029DF-2A92-5FE3-F539-06A4F2BA64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AE28BBC6-1E5D-B042-BBDE-731E2538909E}" type="slidenum">
              <a:rPr lang="en-US" altLang="en-US" sz="900" smtClean="0">
                <a:solidFill>
                  <a:srgbClr val="898989"/>
                </a:solidFill>
                <a:latin typeface="Arial" panose="020B0604020202020204" pitchFamily="34" charset="0"/>
              </a:rPr>
              <a:pPr>
                <a:spcBef>
                  <a:spcPct val="0"/>
                </a:spcBef>
                <a:buFontTx/>
                <a:buNone/>
              </a:pPr>
              <a:t>30</a:t>
            </a:fld>
            <a:endParaRPr lang="en-US" altLang="en-US" sz="900">
              <a:solidFill>
                <a:srgbClr val="898989"/>
              </a:solidFill>
              <a:latin typeface="Arial" panose="020B0604020202020204" pitchFamily="34" charset="0"/>
            </a:endParaRPr>
          </a:p>
        </p:txBody>
      </p:sp>
      <p:pic>
        <p:nvPicPr>
          <p:cNvPr id="75779" name="Picture 2" descr="sql-after-small">
            <a:hlinkClick r:id="rId3"/>
            <a:extLst>
              <a:ext uri="{FF2B5EF4-FFF2-40B4-BE49-F238E27FC236}">
                <a16:creationId xmlns:a16="http://schemas.microsoft.com/office/drawing/2014/main" id="{D2C1DE40-5D8A-A6CC-4A8F-D8302CFE8E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1600200"/>
            <a:ext cx="5543550"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Text Box 4">
            <a:extLst>
              <a:ext uri="{FF2B5EF4-FFF2-40B4-BE49-F238E27FC236}">
                <a16:creationId xmlns:a16="http://schemas.microsoft.com/office/drawing/2014/main" id="{BBE4C727-599A-8659-813C-6C13510BFBBE}"/>
              </a:ext>
            </a:extLst>
          </p:cNvPr>
          <p:cNvSpPr txBox="1">
            <a:spLocks noChangeArrowheads="1"/>
          </p:cNvSpPr>
          <p:nvPr/>
        </p:nvSpPr>
        <p:spPr bwMode="auto">
          <a:xfrm>
            <a:off x="2222500" y="1065213"/>
            <a:ext cx="57658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spcBef>
                <a:spcPct val="20000"/>
              </a:spcBef>
              <a:buClr>
                <a:schemeClr val="accent2"/>
              </a:buClr>
            </a:pPr>
            <a:r>
              <a:rPr lang="en-US" altLang="en-US" sz="1500">
                <a:solidFill>
                  <a:schemeClr val="bg2"/>
                </a:solidFill>
                <a:latin typeface="Tahoma" panose="020B0604030504040204" pitchFamily="34" charset="0"/>
              </a:rPr>
              <a:t>[from Moore et al. </a:t>
            </a:r>
            <a:r>
              <a:rPr lang="ja-JP" altLang="en-US" sz="1500">
                <a:solidFill>
                  <a:schemeClr val="hlink"/>
                </a:solidFill>
              </a:rPr>
              <a:t>“</a:t>
            </a:r>
            <a:r>
              <a:rPr lang="en-US" altLang="ja-JP" sz="1500">
                <a:solidFill>
                  <a:schemeClr val="hlink"/>
                </a:solidFill>
                <a:latin typeface="Tahoma" panose="020B0604030504040204" pitchFamily="34" charset="0"/>
              </a:rPr>
              <a:t>The Spread of the Sapphire/Slammer Worm</a:t>
            </a:r>
            <a:r>
              <a:rPr lang="ja-JP" altLang="en-US" sz="1500">
                <a:solidFill>
                  <a:schemeClr val="hlink"/>
                </a:solidFill>
              </a:rPr>
              <a:t>”</a:t>
            </a:r>
            <a:r>
              <a:rPr lang="en-US" altLang="ja-JP" sz="1500">
                <a:solidFill>
                  <a:schemeClr val="bg2"/>
                </a:solidFill>
                <a:latin typeface="Tahoma" panose="020B0604030504040204" pitchFamily="34" charset="0"/>
              </a:rPr>
              <a:t>]</a:t>
            </a:r>
            <a:endParaRPr lang="en-US" altLang="en-US" sz="1500">
              <a:solidFill>
                <a:schemeClr val="bg2"/>
              </a:solidFill>
              <a:latin typeface="Tahoma" panose="020B0604030504040204" pitchFamily="34" charset="0"/>
            </a:endParaRPr>
          </a:p>
        </p:txBody>
      </p:sp>
      <p:grpSp>
        <p:nvGrpSpPr>
          <p:cNvPr id="97285" name="Group 5">
            <a:extLst>
              <a:ext uri="{FF2B5EF4-FFF2-40B4-BE49-F238E27FC236}">
                <a16:creationId xmlns:a16="http://schemas.microsoft.com/office/drawing/2014/main" id="{FB32A5DF-3C4E-5AB3-E6F1-BDBEA492F83E}"/>
              </a:ext>
            </a:extLst>
          </p:cNvPr>
          <p:cNvGrpSpPr>
            <a:grpSpLocks/>
          </p:cNvGrpSpPr>
          <p:nvPr/>
        </p:nvGrpSpPr>
        <p:grpSpPr bwMode="auto">
          <a:xfrm>
            <a:off x="1371600" y="2514600"/>
            <a:ext cx="2984500" cy="2370138"/>
            <a:chOff x="192" y="2112"/>
            <a:chExt cx="2507" cy="1991"/>
          </a:xfrm>
        </p:grpSpPr>
        <p:sp>
          <p:nvSpPr>
            <p:cNvPr id="75782" name="Text Box 6">
              <a:extLst>
                <a:ext uri="{FF2B5EF4-FFF2-40B4-BE49-F238E27FC236}">
                  <a16:creationId xmlns:a16="http://schemas.microsoft.com/office/drawing/2014/main" id="{6BF4F27A-BD26-2E6B-04AE-E4BB44FF9A8E}"/>
                </a:ext>
              </a:extLst>
            </p:cNvPr>
            <p:cNvSpPr txBox="1">
              <a:spLocks noChangeArrowheads="1"/>
            </p:cNvSpPr>
            <p:nvPr/>
          </p:nvSpPr>
          <p:spPr bwMode="auto">
            <a:xfrm>
              <a:off x="192" y="3676"/>
              <a:ext cx="2507"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20000"/>
                </a:spcBef>
                <a:buClr>
                  <a:schemeClr val="accent2"/>
                </a:buClr>
              </a:pPr>
              <a:r>
                <a:rPr lang="en-US" altLang="en-US" sz="1500">
                  <a:solidFill>
                    <a:srgbClr val="FF0000"/>
                  </a:solidFill>
                  <a:latin typeface="Tahoma" panose="020B0604030504040204" pitchFamily="34" charset="0"/>
                </a:rPr>
                <a:t>Size of circles is </a:t>
              </a:r>
              <a:r>
                <a:rPr lang="en-US" altLang="en-US" sz="1500" b="1" u="sng">
                  <a:solidFill>
                    <a:srgbClr val="FF0000"/>
                  </a:solidFill>
                  <a:latin typeface="Tahoma" panose="020B0604030504040204" pitchFamily="34" charset="0"/>
                </a:rPr>
                <a:t>logarithmic</a:t>
              </a:r>
              <a:r>
                <a:rPr lang="en-US" altLang="en-US" sz="1500">
                  <a:solidFill>
                    <a:srgbClr val="FF0000"/>
                  </a:solidFill>
                  <a:latin typeface="Tahoma" panose="020B0604030504040204" pitchFamily="34" charset="0"/>
                </a:rPr>
                <a:t> in</a:t>
              </a:r>
            </a:p>
            <a:p>
              <a:pPr>
                <a:lnSpc>
                  <a:spcPct val="80000"/>
                </a:lnSpc>
                <a:spcBef>
                  <a:spcPct val="20000"/>
                </a:spcBef>
                <a:buClr>
                  <a:schemeClr val="accent2"/>
                </a:buClr>
              </a:pPr>
              <a:r>
                <a:rPr lang="en-US" altLang="en-US" sz="1500">
                  <a:solidFill>
                    <a:srgbClr val="FF0000"/>
                  </a:solidFill>
                  <a:latin typeface="Tahoma" panose="020B0604030504040204" pitchFamily="34" charset="0"/>
                </a:rPr>
                <a:t>the number of infected machines</a:t>
              </a:r>
            </a:p>
          </p:txBody>
        </p:sp>
        <p:sp>
          <p:nvSpPr>
            <p:cNvPr id="75783" name="Line 7">
              <a:extLst>
                <a:ext uri="{FF2B5EF4-FFF2-40B4-BE49-F238E27FC236}">
                  <a16:creationId xmlns:a16="http://schemas.microsoft.com/office/drawing/2014/main" id="{8B6B177D-933D-4ED6-9008-71015FB2A9DD}"/>
                </a:ext>
              </a:extLst>
            </p:cNvPr>
            <p:cNvSpPr>
              <a:spLocks noChangeShapeType="1"/>
            </p:cNvSpPr>
            <p:nvPr/>
          </p:nvSpPr>
          <p:spPr bwMode="auto">
            <a:xfrm flipV="1">
              <a:off x="1056" y="2112"/>
              <a:ext cx="528" cy="1564"/>
            </a:xfrm>
            <a:prstGeom prst="line">
              <a:avLst/>
            </a:prstGeom>
            <a:noFill/>
            <a:ln w="28575">
              <a:solidFill>
                <a:srgbClr val="FF0000"/>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7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8BA09668-5F30-475C-882C-58692F5F91AE}"/>
              </a:ext>
            </a:extLst>
          </p:cNvPr>
          <p:cNvSpPr>
            <a:spLocks noGrp="1"/>
          </p:cNvSpPr>
          <p:nvPr>
            <p:ph type="title"/>
          </p:nvPr>
        </p:nvSpPr>
        <p:spPr>
          <a:xfrm>
            <a:off x="1257300" y="217488"/>
            <a:ext cx="6423025" cy="857250"/>
          </a:xfrm>
        </p:spPr>
        <p:txBody>
          <a:bodyPr/>
          <a:lstStyle/>
          <a:p>
            <a:pPr eaLnBrk="1" hangingPunct="1"/>
            <a:r>
              <a:rPr lang="en-US" altLang="en-US"/>
              <a:t>Slammer Impact</a:t>
            </a:r>
          </a:p>
        </p:txBody>
      </p:sp>
      <p:sp>
        <p:nvSpPr>
          <p:cNvPr id="99331" name="Rectangle 3">
            <a:extLst>
              <a:ext uri="{FF2B5EF4-FFF2-40B4-BE49-F238E27FC236}">
                <a16:creationId xmlns:a16="http://schemas.microsoft.com/office/drawing/2014/main" id="{5F045A1F-A0E1-8A92-D227-F7D07D124ABC}"/>
              </a:ext>
            </a:extLst>
          </p:cNvPr>
          <p:cNvSpPr>
            <a:spLocks noGrp="1" noChangeArrowheads="1"/>
          </p:cNvSpPr>
          <p:nvPr>
            <p:ph idx="1"/>
          </p:nvPr>
        </p:nvSpPr>
        <p:spPr>
          <a:xfrm>
            <a:off x="1485900" y="1200150"/>
            <a:ext cx="6286500" cy="3486150"/>
          </a:xfrm>
        </p:spPr>
        <p:txBody>
          <a:bodyPr>
            <a:normAutofit/>
          </a:bodyPr>
          <a:lstStyle/>
          <a:p>
            <a:pPr eaLnBrk="1" hangingPunct="1">
              <a:lnSpc>
                <a:spcPct val="90000"/>
              </a:lnSpc>
              <a:defRPr/>
            </a:pPr>
            <a:r>
              <a:rPr lang="en-US" altLang="en-US" sz="2250"/>
              <a:t>$1.25 Billion of damage</a:t>
            </a:r>
          </a:p>
          <a:p>
            <a:pPr eaLnBrk="1" hangingPunct="1">
              <a:lnSpc>
                <a:spcPct val="90000"/>
              </a:lnSpc>
              <a:defRPr/>
            </a:pPr>
            <a:r>
              <a:rPr lang="en-US" altLang="en-US" sz="2250"/>
              <a:t>Temporarily knocked out many elements of critical infrastructure</a:t>
            </a:r>
          </a:p>
          <a:p>
            <a:pPr lvl="1" eaLnBrk="1" hangingPunct="1">
              <a:lnSpc>
                <a:spcPct val="90000"/>
              </a:lnSpc>
              <a:defRPr/>
            </a:pPr>
            <a:r>
              <a:rPr lang="en-US" altLang="en-US" sz="1950"/>
              <a:t>Bank of America ATM network</a:t>
            </a:r>
          </a:p>
          <a:p>
            <a:pPr lvl="1" eaLnBrk="1" hangingPunct="1">
              <a:lnSpc>
                <a:spcPct val="90000"/>
              </a:lnSpc>
              <a:defRPr/>
            </a:pPr>
            <a:r>
              <a:rPr lang="en-US" altLang="en-US" sz="1950"/>
              <a:t>Entire cell phone network in South Korea</a:t>
            </a:r>
          </a:p>
          <a:p>
            <a:pPr lvl="1" eaLnBrk="1" hangingPunct="1">
              <a:lnSpc>
                <a:spcPct val="90000"/>
              </a:lnSpc>
              <a:defRPr/>
            </a:pPr>
            <a:r>
              <a:rPr lang="en-US" altLang="en-US" sz="1950"/>
              <a:t>Five root DNS servers</a:t>
            </a:r>
          </a:p>
          <a:p>
            <a:pPr lvl="1" eaLnBrk="1" hangingPunct="1">
              <a:lnSpc>
                <a:spcPct val="90000"/>
              </a:lnSpc>
              <a:defRPr/>
            </a:pPr>
            <a:r>
              <a:rPr lang="en-US" altLang="en-US" sz="1950"/>
              <a:t>Continental Airlines</a:t>
            </a:r>
            <a:r>
              <a:rPr lang="ja-JP" altLang="en-US" sz="1950">
                <a:latin typeface="Arial" panose="020B0604020202020204" pitchFamily="34" charset="0"/>
              </a:rPr>
              <a:t>’</a:t>
            </a:r>
            <a:r>
              <a:rPr lang="en-US" altLang="ja-JP" sz="1950"/>
              <a:t> ticket processing software</a:t>
            </a:r>
          </a:p>
          <a:p>
            <a:pPr eaLnBrk="1" hangingPunct="1">
              <a:lnSpc>
                <a:spcPct val="90000"/>
              </a:lnSpc>
              <a:defRPr/>
            </a:pPr>
            <a:r>
              <a:rPr lang="en-US" altLang="en-US" sz="2250"/>
              <a:t>The worm did not even have malicious payload… simply bandwidth exhaustion on the network and resource exhaustion on infected machines</a:t>
            </a:r>
          </a:p>
        </p:txBody>
      </p:sp>
      <p:sp>
        <p:nvSpPr>
          <p:cNvPr id="77827" name="Slide Number Placeholder 5">
            <a:extLst>
              <a:ext uri="{FF2B5EF4-FFF2-40B4-BE49-F238E27FC236}">
                <a16:creationId xmlns:a16="http://schemas.microsoft.com/office/drawing/2014/main" id="{0DFAFD79-AAFB-C987-5CBF-63B26A9CFC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DC6D527-F2BB-654C-8C03-CC96D763D383}" type="slidenum">
              <a:rPr lang="en-US" altLang="en-US" sz="900" smtClean="0">
                <a:solidFill>
                  <a:srgbClr val="898989"/>
                </a:solidFill>
                <a:latin typeface="Arial" panose="020B0604020202020204" pitchFamily="34" charset="0"/>
              </a:rPr>
              <a:pPr>
                <a:spcBef>
                  <a:spcPct val="0"/>
                </a:spcBef>
                <a:buFontTx/>
                <a:buNone/>
              </a:pPr>
              <a:t>31</a:t>
            </a:fld>
            <a:endParaRPr lang="en-US" altLang="en-US" sz="900">
              <a:solidFill>
                <a:srgbClr val="898989"/>
              </a:solidFill>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381BC2D5-4BC4-402E-9A93-E518DB2AD29A}"/>
              </a:ext>
            </a:extLst>
          </p:cNvPr>
          <p:cNvSpPr>
            <a:spLocks noGrp="1"/>
          </p:cNvSpPr>
          <p:nvPr>
            <p:ph type="title"/>
          </p:nvPr>
        </p:nvSpPr>
        <p:spPr>
          <a:xfrm>
            <a:off x="1257300" y="217488"/>
            <a:ext cx="6227763" cy="857250"/>
          </a:xfrm>
        </p:spPr>
        <p:txBody>
          <a:bodyPr/>
          <a:lstStyle/>
          <a:p>
            <a:pPr eaLnBrk="1" hangingPunct="1"/>
            <a:r>
              <a:rPr lang="en-US" altLang="en-US"/>
              <a:t>Slammer</a:t>
            </a:r>
            <a:r>
              <a:rPr lang="en-US" altLang="en-US">
                <a:latin typeface="Arial" panose="020B0604020202020204" pitchFamily="34" charset="0"/>
              </a:rPr>
              <a:t>’</a:t>
            </a:r>
            <a:r>
              <a:rPr lang="en-US" altLang="ja-JP"/>
              <a:t>s Speed</a:t>
            </a:r>
            <a:endParaRPr lang="en-US" altLang="en-US"/>
          </a:p>
        </p:txBody>
      </p:sp>
      <p:sp>
        <p:nvSpPr>
          <p:cNvPr id="101379" name="Rectangle 3">
            <a:extLst>
              <a:ext uri="{FF2B5EF4-FFF2-40B4-BE49-F238E27FC236}">
                <a16:creationId xmlns:a16="http://schemas.microsoft.com/office/drawing/2014/main" id="{777FA966-DF53-8083-9BAC-FE17E78E129B}"/>
              </a:ext>
            </a:extLst>
          </p:cNvPr>
          <p:cNvSpPr>
            <a:spLocks noGrp="1" noChangeArrowheads="1"/>
          </p:cNvSpPr>
          <p:nvPr>
            <p:ph idx="1"/>
          </p:nvPr>
        </p:nvSpPr>
        <p:spPr>
          <a:xfrm>
            <a:off x="1485900" y="1200150"/>
            <a:ext cx="6286500" cy="3714750"/>
          </a:xfrm>
        </p:spPr>
        <p:txBody>
          <a:bodyPr rtlCol="0">
            <a:normAutofit fontScale="92500" lnSpcReduction="10000"/>
          </a:bodyPr>
          <a:lstStyle/>
          <a:p>
            <a:pPr eaLnBrk="1" fontAlgn="auto" hangingPunct="1">
              <a:spcAft>
                <a:spcPts val="0"/>
              </a:spcAft>
              <a:buFont typeface="Arial"/>
              <a:buChar char="•"/>
              <a:defRPr/>
            </a:pPr>
            <a:r>
              <a:rPr lang="en-US">
                <a:ea typeface="+mn-ea"/>
              </a:rPr>
              <a:t>Old-style worms (Code Red) spawn a new thread which tries to establish a TCP connection and, if successful, send a copy of itself over TCP</a:t>
            </a:r>
          </a:p>
          <a:p>
            <a:pPr lvl="1" eaLnBrk="1" fontAlgn="auto" hangingPunct="1">
              <a:spcAft>
                <a:spcPts val="0"/>
              </a:spcAft>
              <a:buFont typeface="Arial"/>
              <a:buChar char="–"/>
              <a:defRPr/>
            </a:pPr>
            <a:r>
              <a:rPr lang="en-US">
                <a:solidFill>
                  <a:schemeClr val="hlink"/>
                </a:solidFill>
                <a:ea typeface="+mn-ea"/>
              </a:rPr>
              <a:t>Limited by latency</a:t>
            </a:r>
            <a:r>
              <a:rPr lang="en-US">
                <a:ea typeface="+mn-ea"/>
              </a:rPr>
              <a:t> of the network</a:t>
            </a:r>
          </a:p>
          <a:p>
            <a:pPr eaLnBrk="1" fontAlgn="auto" hangingPunct="1">
              <a:spcAft>
                <a:spcPts val="0"/>
              </a:spcAft>
              <a:buFont typeface="Arial"/>
              <a:buChar char="•"/>
              <a:defRPr/>
            </a:pPr>
            <a:r>
              <a:rPr lang="en-US">
                <a:ea typeface="+mn-ea"/>
              </a:rPr>
              <a:t>Slammer was a connectionless UDP worm</a:t>
            </a:r>
          </a:p>
          <a:p>
            <a:pPr lvl="1" eaLnBrk="1" fontAlgn="auto" hangingPunct="1">
              <a:spcAft>
                <a:spcPts val="0"/>
              </a:spcAft>
              <a:buFont typeface="Arial"/>
              <a:buChar char="–"/>
              <a:defRPr/>
            </a:pPr>
            <a:r>
              <a:rPr lang="en-US">
                <a:ea typeface="+mn-ea"/>
              </a:rPr>
              <a:t>No connection establishment, simply send 404-byte UDP packet to randomly generated IP addresses</a:t>
            </a:r>
          </a:p>
          <a:p>
            <a:pPr lvl="1" eaLnBrk="1" fontAlgn="auto" hangingPunct="1">
              <a:spcAft>
                <a:spcPts val="0"/>
              </a:spcAft>
              <a:buFont typeface="Arial"/>
              <a:buChar char="–"/>
              <a:defRPr/>
            </a:pPr>
            <a:r>
              <a:rPr lang="en-US">
                <a:solidFill>
                  <a:schemeClr val="hlink"/>
                </a:solidFill>
                <a:ea typeface="+mn-ea"/>
              </a:rPr>
              <a:t>Limited only by bandwidth</a:t>
            </a:r>
            <a:r>
              <a:rPr lang="en-US">
                <a:ea typeface="+mn-ea"/>
              </a:rPr>
              <a:t> of the network</a:t>
            </a:r>
          </a:p>
          <a:p>
            <a:pPr eaLnBrk="1" fontAlgn="auto" hangingPunct="1">
              <a:spcAft>
                <a:spcPts val="0"/>
              </a:spcAft>
              <a:buFont typeface="Arial"/>
              <a:buChar char="•"/>
              <a:defRPr/>
            </a:pPr>
            <a:r>
              <a:rPr lang="en-US">
                <a:ea typeface="+mn-ea"/>
              </a:rPr>
              <a:t>A TCP worm can scan even faster</a:t>
            </a:r>
          </a:p>
          <a:p>
            <a:pPr lvl="1" eaLnBrk="1" fontAlgn="auto" hangingPunct="1">
              <a:spcAft>
                <a:spcPts val="0"/>
              </a:spcAft>
              <a:buFont typeface="Arial"/>
              <a:buChar char="–"/>
              <a:defRPr/>
            </a:pPr>
            <a:r>
              <a:rPr lang="en-US">
                <a:ea typeface="+mn-ea"/>
              </a:rPr>
              <a:t>Dump zillions of 40-byte TCP-SYN packets into link layer, send worm copy only if SYN-ACK comes back</a:t>
            </a:r>
          </a:p>
        </p:txBody>
      </p:sp>
      <p:sp>
        <p:nvSpPr>
          <p:cNvPr id="79875" name="Slide Number Placeholder 5">
            <a:extLst>
              <a:ext uri="{FF2B5EF4-FFF2-40B4-BE49-F238E27FC236}">
                <a16:creationId xmlns:a16="http://schemas.microsoft.com/office/drawing/2014/main" id="{D68127AF-20F6-36FB-6716-FEA8BA7CAB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CA361AF6-1CE7-6A4C-B8B3-819E3864E91D}" type="slidenum">
              <a:rPr lang="en-US" altLang="en-US" sz="900" smtClean="0">
                <a:solidFill>
                  <a:srgbClr val="898989"/>
                </a:solidFill>
                <a:latin typeface="Arial" panose="020B0604020202020204" pitchFamily="34" charset="0"/>
              </a:rPr>
              <a:pPr>
                <a:spcBef>
                  <a:spcPct val="0"/>
                </a:spcBef>
                <a:buFontTx/>
                <a:buNone/>
              </a:pPr>
              <a:t>32</a:t>
            </a:fld>
            <a:endParaRPr lang="en-US" altLang="en-US" sz="900">
              <a:solidFill>
                <a:srgbClr val="898989"/>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01BD27E2-2E09-5B5E-8620-FDB8B55916A4}"/>
              </a:ext>
            </a:extLst>
          </p:cNvPr>
          <p:cNvSpPr>
            <a:spLocks noGrp="1"/>
          </p:cNvSpPr>
          <p:nvPr>
            <p:ph type="title"/>
          </p:nvPr>
        </p:nvSpPr>
        <p:spPr/>
        <p:txBody>
          <a:bodyPr/>
          <a:lstStyle/>
          <a:p>
            <a:pPr eaLnBrk="1" hangingPunct="1"/>
            <a:r>
              <a:rPr lang="en-US" altLang="en-US"/>
              <a:t>Storm / Peacomm (2007)</a:t>
            </a:r>
          </a:p>
        </p:txBody>
      </p:sp>
      <p:sp>
        <p:nvSpPr>
          <p:cNvPr id="81922" name="Rectangle 3">
            <a:extLst>
              <a:ext uri="{FF2B5EF4-FFF2-40B4-BE49-F238E27FC236}">
                <a16:creationId xmlns:a16="http://schemas.microsoft.com/office/drawing/2014/main" id="{058D9970-4D72-7356-8746-09E1C800E035}"/>
              </a:ext>
            </a:extLst>
          </p:cNvPr>
          <p:cNvSpPr>
            <a:spLocks noGrp="1"/>
          </p:cNvSpPr>
          <p:nvPr>
            <p:ph idx="1"/>
          </p:nvPr>
        </p:nvSpPr>
        <p:spPr>
          <a:xfrm>
            <a:off x="1485900" y="1200150"/>
            <a:ext cx="6400800" cy="3771900"/>
          </a:xfrm>
        </p:spPr>
        <p:txBody>
          <a:bodyPr/>
          <a:lstStyle/>
          <a:p>
            <a:pPr eaLnBrk="1" hangingPunct="1">
              <a:lnSpc>
                <a:spcPct val="90000"/>
              </a:lnSpc>
            </a:pPr>
            <a:r>
              <a:rPr lang="en-US" altLang="en-US"/>
              <a:t>Spreads by cleverly designed spam campaign</a:t>
            </a:r>
          </a:p>
          <a:p>
            <a:pPr lvl="1" eaLnBrk="1" hangingPunct="1">
              <a:lnSpc>
                <a:spcPct val="90000"/>
              </a:lnSpc>
            </a:pPr>
            <a:r>
              <a:rPr lang="en-US" altLang="en-US"/>
              <a:t>Arrives as an email with catchy subject</a:t>
            </a:r>
          </a:p>
          <a:p>
            <a:pPr lvl="2" eaLnBrk="1" hangingPunct="1">
              <a:lnSpc>
                <a:spcPct val="90000"/>
              </a:lnSpc>
            </a:pPr>
            <a:r>
              <a:rPr lang="en-US" altLang="en-US"/>
              <a:t>First instance: </a:t>
            </a:r>
            <a:r>
              <a:rPr lang="ja-JP" altLang="en-US">
                <a:latin typeface="Arial" panose="020B0604020202020204" pitchFamily="34" charset="0"/>
              </a:rPr>
              <a:t>“</a:t>
            </a:r>
            <a:r>
              <a:rPr lang="en-US" altLang="ja-JP"/>
              <a:t>230 dead as storm batters Europe</a:t>
            </a:r>
            <a:r>
              <a:rPr lang="ja-JP" altLang="en-US">
                <a:latin typeface="Arial" panose="020B0604020202020204" pitchFamily="34" charset="0"/>
              </a:rPr>
              <a:t>”</a:t>
            </a:r>
            <a:r>
              <a:rPr lang="en-US" altLang="ja-JP"/>
              <a:t> </a:t>
            </a:r>
          </a:p>
          <a:p>
            <a:pPr lvl="2" eaLnBrk="1" hangingPunct="1">
              <a:lnSpc>
                <a:spcPct val="90000"/>
              </a:lnSpc>
            </a:pPr>
            <a:r>
              <a:rPr lang="en-US" altLang="en-US"/>
              <a:t>Other examples: </a:t>
            </a:r>
            <a:r>
              <a:rPr lang="ja-JP" altLang="en-US">
                <a:latin typeface="Arial" panose="020B0604020202020204" pitchFamily="34" charset="0"/>
              </a:rPr>
              <a:t>“</a:t>
            </a:r>
            <a:r>
              <a:rPr lang="en-US" altLang="ja-JP"/>
              <a:t>Condoleeza Rice has kicked German Chancellor</a:t>
            </a:r>
            <a:r>
              <a:rPr lang="ja-JP" altLang="en-US">
                <a:latin typeface="Arial" panose="020B0604020202020204" pitchFamily="34" charset="0"/>
              </a:rPr>
              <a:t>”</a:t>
            </a:r>
            <a:r>
              <a:rPr lang="en-US" altLang="ja-JP"/>
              <a:t>, </a:t>
            </a:r>
            <a:r>
              <a:rPr lang="ja-JP" altLang="en-US">
                <a:latin typeface="Arial" panose="020B0604020202020204" pitchFamily="34" charset="0"/>
              </a:rPr>
              <a:t>“</a:t>
            </a:r>
            <a:r>
              <a:rPr lang="en-US" altLang="ja-JP"/>
              <a:t>Radical Muslim drinking enemies</a:t>
            </a:r>
            <a:r>
              <a:rPr lang="ja-JP" altLang="en-US">
                <a:latin typeface="Arial" panose="020B0604020202020204" pitchFamily="34" charset="0"/>
              </a:rPr>
              <a:t>’</a:t>
            </a:r>
            <a:r>
              <a:rPr lang="en-US" altLang="ja-JP"/>
              <a:t>s blood</a:t>
            </a:r>
            <a:r>
              <a:rPr lang="ja-JP" altLang="en-US">
                <a:latin typeface="Arial" panose="020B0604020202020204" pitchFamily="34" charset="0"/>
              </a:rPr>
              <a:t>”</a:t>
            </a:r>
            <a:r>
              <a:rPr lang="en-US" altLang="ja-JP"/>
              <a:t>, </a:t>
            </a:r>
            <a:r>
              <a:rPr lang="ja-JP" altLang="en-US">
                <a:latin typeface="Arial" panose="020B0604020202020204" pitchFamily="34" charset="0"/>
              </a:rPr>
              <a:t>“</a:t>
            </a:r>
            <a:r>
              <a:rPr lang="en-US" altLang="ja-JP"/>
              <a:t>Saddam Hussein alive!</a:t>
            </a:r>
            <a:r>
              <a:rPr lang="ja-JP" altLang="en-US">
                <a:latin typeface="Arial" panose="020B0604020202020204" pitchFamily="34" charset="0"/>
              </a:rPr>
              <a:t>”</a:t>
            </a:r>
            <a:r>
              <a:rPr lang="en-US" altLang="ja-JP"/>
              <a:t>, </a:t>
            </a:r>
            <a:r>
              <a:rPr lang="ja-JP" altLang="en-US">
                <a:latin typeface="Arial" panose="020B0604020202020204" pitchFamily="34" charset="0"/>
              </a:rPr>
              <a:t>“</a:t>
            </a:r>
            <a:r>
              <a:rPr lang="en-US" altLang="ja-JP"/>
              <a:t>Fidel Castro dead</a:t>
            </a:r>
            <a:r>
              <a:rPr lang="ja-JP" altLang="en-US">
                <a:latin typeface="Arial" panose="020B0604020202020204" pitchFamily="34" charset="0"/>
              </a:rPr>
              <a:t>”</a:t>
            </a:r>
            <a:r>
              <a:rPr lang="en-US" altLang="ja-JP"/>
              <a:t>, etc.</a:t>
            </a:r>
          </a:p>
          <a:p>
            <a:pPr eaLnBrk="1" hangingPunct="1">
              <a:lnSpc>
                <a:spcPct val="90000"/>
              </a:lnSpc>
            </a:pPr>
            <a:r>
              <a:rPr lang="en-US" altLang="en-US"/>
              <a:t>Attachment or URL with malicious payload</a:t>
            </a:r>
          </a:p>
          <a:p>
            <a:pPr lvl="1" eaLnBrk="1" hangingPunct="1">
              <a:lnSpc>
                <a:spcPct val="90000"/>
              </a:lnSpc>
            </a:pPr>
            <a:r>
              <a:rPr lang="en-US" altLang="en-US"/>
              <a:t>FullVideo.exe, MoreHere.exe, ReadMore.exe, etc.</a:t>
            </a:r>
          </a:p>
          <a:p>
            <a:pPr lvl="1" eaLnBrk="1" hangingPunct="1">
              <a:lnSpc>
                <a:spcPct val="90000"/>
              </a:lnSpc>
            </a:pPr>
            <a:r>
              <a:rPr lang="en-US" altLang="en-US"/>
              <a:t>Also masquerades as flash postcards</a:t>
            </a:r>
          </a:p>
          <a:p>
            <a:pPr eaLnBrk="1" hangingPunct="1">
              <a:lnSpc>
                <a:spcPct val="90000"/>
              </a:lnSpc>
            </a:pPr>
            <a:r>
              <a:rPr lang="en-US" altLang="en-US"/>
              <a:t>Once opened, installs Trojan (wincom32) &amp; rootkit</a:t>
            </a:r>
          </a:p>
        </p:txBody>
      </p:sp>
      <p:sp>
        <p:nvSpPr>
          <p:cNvPr id="81923" name="Slide Number Placeholder 5">
            <a:extLst>
              <a:ext uri="{FF2B5EF4-FFF2-40B4-BE49-F238E27FC236}">
                <a16:creationId xmlns:a16="http://schemas.microsoft.com/office/drawing/2014/main" id="{BCAF938E-F145-0341-C7DA-5989CC9198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ADC478A2-12AD-B046-9E70-93E0A35CE4EE}" type="slidenum">
              <a:rPr lang="en-US" altLang="en-US" sz="900" smtClean="0">
                <a:solidFill>
                  <a:srgbClr val="898989"/>
                </a:solidFill>
                <a:latin typeface="Arial" panose="020B0604020202020204" pitchFamily="34" charset="0"/>
              </a:rPr>
              <a:pPr>
                <a:spcBef>
                  <a:spcPct val="0"/>
                </a:spcBef>
                <a:buFontTx/>
                <a:buNone/>
              </a:pPr>
              <a:t>33</a:t>
            </a:fld>
            <a:endParaRPr lang="en-US" altLang="en-US" sz="900">
              <a:solidFill>
                <a:srgbClr val="898989"/>
              </a:solidFill>
              <a:latin typeface="Arial" panose="020B060402020202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FC4A074-E767-2E44-684E-0D97766B7042}"/>
              </a:ext>
            </a:extLst>
          </p:cNvPr>
          <p:cNvSpPr>
            <a:spLocks noGrp="1"/>
          </p:cNvSpPr>
          <p:nvPr>
            <p:ph type="title"/>
          </p:nvPr>
        </p:nvSpPr>
        <p:spPr/>
        <p:txBody>
          <a:bodyPr/>
          <a:lstStyle/>
          <a:p>
            <a:pPr eaLnBrk="1" hangingPunct="1"/>
            <a:r>
              <a:rPr lang="en-US" altLang="en-US"/>
              <a:t>Storm Worm Characteristics</a:t>
            </a:r>
          </a:p>
        </p:txBody>
      </p:sp>
      <p:sp>
        <p:nvSpPr>
          <p:cNvPr id="123907" name="Rectangle 3">
            <a:extLst>
              <a:ext uri="{FF2B5EF4-FFF2-40B4-BE49-F238E27FC236}">
                <a16:creationId xmlns:a16="http://schemas.microsoft.com/office/drawing/2014/main" id="{44DDC9BD-6C41-D6B8-B965-8E52059ACB9E}"/>
              </a:ext>
            </a:extLst>
          </p:cNvPr>
          <p:cNvSpPr>
            <a:spLocks noGrp="1" noChangeArrowheads="1"/>
          </p:cNvSpPr>
          <p:nvPr>
            <p:ph idx="1"/>
          </p:nvPr>
        </p:nvSpPr>
        <p:spPr>
          <a:xfrm>
            <a:off x="1485900" y="1200150"/>
            <a:ext cx="6400800" cy="3771900"/>
          </a:xfrm>
        </p:spPr>
        <p:txBody>
          <a:bodyPr rtlCol="0">
            <a:normAutofit lnSpcReduction="10000"/>
          </a:bodyPr>
          <a:lstStyle/>
          <a:p>
            <a:pPr eaLnBrk="1" fontAlgn="auto" hangingPunct="1">
              <a:spcAft>
                <a:spcPts val="0"/>
              </a:spcAft>
              <a:buFont typeface="Arial"/>
              <a:buChar char="•"/>
              <a:defRPr/>
            </a:pPr>
            <a:r>
              <a:rPr lang="en-US" dirty="0">
                <a:ea typeface="+mn-ea"/>
              </a:rPr>
              <a:t>Infected machine joins botnet</a:t>
            </a:r>
          </a:p>
          <a:p>
            <a:pPr lvl="1" eaLnBrk="1" fontAlgn="auto" hangingPunct="1">
              <a:spcAft>
                <a:spcPts val="0"/>
              </a:spcAft>
              <a:buFont typeface="Arial"/>
              <a:buChar char="–"/>
              <a:defRPr/>
            </a:pPr>
            <a:r>
              <a:rPr lang="en-US" dirty="0">
                <a:ea typeface="+mn-ea"/>
              </a:rPr>
              <a:t>Between 1 and 5 million machines infected (Sep 2007)</a:t>
            </a:r>
          </a:p>
          <a:p>
            <a:pPr eaLnBrk="1" fontAlgn="auto" hangingPunct="1">
              <a:spcAft>
                <a:spcPts val="0"/>
              </a:spcAft>
              <a:buFont typeface="Arial"/>
              <a:buChar char="•"/>
              <a:defRPr/>
            </a:pPr>
            <a:r>
              <a:rPr lang="en-US" dirty="0">
                <a:ea typeface="+mn-ea"/>
              </a:rPr>
              <a:t>Obfuscated peer-to-peer control structure</a:t>
            </a:r>
          </a:p>
          <a:p>
            <a:pPr lvl="1" eaLnBrk="1" fontAlgn="auto" hangingPunct="1">
              <a:spcAft>
                <a:spcPts val="0"/>
              </a:spcAft>
              <a:buFont typeface="Arial"/>
              <a:buChar char="–"/>
              <a:defRPr/>
            </a:pPr>
            <a:r>
              <a:rPr lang="en-US" dirty="0">
                <a:ea typeface="+mn-ea"/>
              </a:rPr>
              <a:t>Interacts with peers via </a:t>
            </a:r>
            <a:r>
              <a:rPr lang="en-US" dirty="0" err="1">
                <a:ea typeface="+mn-ea"/>
              </a:rPr>
              <a:t>eDonkey</a:t>
            </a:r>
            <a:r>
              <a:rPr lang="en-US" dirty="0">
                <a:ea typeface="+mn-ea"/>
              </a:rPr>
              <a:t> protocol</a:t>
            </a:r>
          </a:p>
          <a:p>
            <a:pPr eaLnBrk="1" fontAlgn="auto" hangingPunct="1">
              <a:spcAft>
                <a:spcPts val="0"/>
              </a:spcAft>
              <a:buFont typeface="Arial"/>
              <a:buChar char="•"/>
              <a:defRPr/>
            </a:pPr>
            <a:r>
              <a:rPr lang="en-US" dirty="0">
                <a:ea typeface="+mn-ea"/>
              </a:rPr>
              <a:t>Obfuscated code, anti-debugging defenses</a:t>
            </a:r>
          </a:p>
          <a:p>
            <a:pPr lvl="1" eaLnBrk="1" fontAlgn="auto" hangingPunct="1">
              <a:spcAft>
                <a:spcPts val="0"/>
              </a:spcAft>
              <a:buFont typeface="Arial"/>
              <a:buChar char="–"/>
              <a:defRPr/>
            </a:pPr>
            <a:r>
              <a:rPr lang="en-US" dirty="0">
                <a:ea typeface="+mn-ea"/>
              </a:rPr>
              <a:t>Goes into infinite loop if detects VMware or Virtual PC</a:t>
            </a:r>
          </a:p>
          <a:p>
            <a:pPr lvl="1" eaLnBrk="1" fontAlgn="auto" hangingPunct="1">
              <a:spcAft>
                <a:spcPts val="0"/>
              </a:spcAft>
              <a:buFont typeface="Arial"/>
              <a:buChar char="–"/>
              <a:defRPr/>
            </a:pPr>
            <a:r>
              <a:rPr lang="en-US" dirty="0">
                <a:ea typeface="+mn-ea"/>
              </a:rPr>
              <a:t>Large number of spurious probes (evidence of external analysis) triggers distributed </a:t>
            </a:r>
            <a:r>
              <a:rPr lang="en-US" dirty="0" err="1">
                <a:ea typeface="+mn-ea"/>
              </a:rPr>
              <a:t>DoS</a:t>
            </a:r>
            <a:r>
              <a:rPr lang="en-US" dirty="0">
                <a:ea typeface="+mn-ea"/>
              </a:rPr>
              <a:t> attack</a:t>
            </a:r>
          </a:p>
        </p:txBody>
      </p:sp>
      <p:sp>
        <p:nvSpPr>
          <p:cNvPr id="83971" name="Slide Number Placeholder 5">
            <a:extLst>
              <a:ext uri="{FF2B5EF4-FFF2-40B4-BE49-F238E27FC236}">
                <a16:creationId xmlns:a16="http://schemas.microsoft.com/office/drawing/2014/main" id="{69A14DDC-9E95-73F3-D9A9-75ADED7C903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B0EEB5A-A16D-2E49-A1EF-255E22FC36DE}" type="slidenum">
              <a:rPr lang="en-US" altLang="en-US" sz="900" smtClean="0">
                <a:solidFill>
                  <a:srgbClr val="898989"/>
                </a:solidFill>
                <a:latin typeface="Arial" panose="020B0604020202020204" pitchFamily="34" charset="0"/>
              </a:rPr>
              <a:pPr>
                <a:spcBef>
                  <a:spcPct val="0"/>
                </a:spcBef>
                <a:buFontTx/>
                <a:buNone/>
              </a:pPr>
              <a:t>34</a:t>
            </a:fld>
            <a:endParaRPr lang="en-US" altLang="en-US" sz="900">
              <a:solidFill>
                <a:srgbClr val="898989"/>
              </a:solidFill>
              <a:latin typeface="Arial" panose="020B0604020202020204"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60CD3B77-080F-8BEB-E84D-C48161A9A379}"/>
              </a:ext>
            </a:extLst>
          </p:cNvPr>
          <p:cNvSpPr>
            <a:spLocks noGrp="1"/>
          </p:cNvSpPr>
          <p:nvPr>
            <p:ph type="title"/>
          </p:nvPr>
        </p:nvSpPr>
        <p:spPr/>
        <p:txBody>
          <a:bodyPr/>
          <a:lstStyle/>
          <a:p>
            <a:pPr eaLnBrk="1" hangingPunct="1"/>
            <a:r>
              <a:rPr lang="en-US" altLang="en-US"/>
              <a:t>Storm Worm Outbreaks</a:t>
            </a:r>
          </a:p>
        </p:txBody>
      </p:sp>
      <p:sp>
        <p:nvSpPr>
          <p:cNvPr id="86018" name="Rectangle 3">
            <a:extLst>
              <a:ext uri="{FF2B5EF4-FFF2-40B4-BE49-F238E27FC236}">
                <a16:creationId xmlns:a16="http://schemas.microsoft.com/office/drawing/2014/main" id="{304DAC33-8EF7-6B0A-DF00-7D7A4893B7F4}"/>
              </a:ext>
            </a:extLst>
          </p:cNvPr>
          <p:cNvSpPr>
            <a:spLocks noGrp="1"/>
          </p:cNvSpPr>
          <p:nvPr>
            <p:ph idx="1"/>
          </p:nvPr>
        </p:nvSpPr>
        <p:spPr/>
        <p:txBody>
          <a:bodyPr/>
          <a:lstStyle/>
          <a:p>
            <a:pPr eaLnBrk="1" hangingPunct="1"/>
            <a:r>
              <a:rPr lang="en-US" altLang="en-US"/>
              <a:t>Spambot binary used to spread new infections in subsequent campaigns</a:t>
            </a:r>
          </a:p>
          <a:p>
            <a:pPr lvl="1" eaLnBrk="1" hangingPunct="1"/>
            <a:r>
              <a:rPr lang="en-US" altLang="en-US"/>
              <a:t>Looks for email addresses and mailing lists in the files on the infected machines</a:t>
            </a:r>
          </a:p>
        </p:txBody>
      </p:sp>
      <p:sp>
        <p:nvSpPr>
          <p:cNvPr id="86019" name="Slide Number Placeholder 5">
            <a:extLst>
              <a:ext uri="{FF2B5EF4-FFF2-40B4-BE49-F238E27FC236}">
                <a16:creationId xmlns:a16="http://schemas.microsoft.com/office/drawing/2014/main" id="{44546725-5A49-6EBB-E515-33D63EA43BB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857250" indent="-17145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2001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1543050" indent="-17145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0002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4574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371850" indent="-17145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3CC57A15-37DA-9646-AC59-74D509562C01}" type="slidenum">
              <a:rPr lang="en-US" altLang="en-US" sz="900" smtClean="0">
                <a:solidFill>
                  <a:srgbClr val="898989"/>
                </a:solidFill>
                <a:latin typeface="Arial" panose="020B0604020202020204" pitchFamily="34" charset="0"/>
              </a:rPr>
              <a:pPr>
                <a:spcBef>
                  <a:spcPct val="0"/>
                </a:spcBef>
                <a:buFontTx/>
                <a:buNone/>
              </a:pPr>
              <a:t>35</a:t>
            </a:fld>
            <a:endParaRPr lang="en-US" altLang="en-US" sz="900">
              <a:solidFill>
                <a:srgbClr val="898989"/>
              </a:solidFill>
              <a:latin typeface="Arial" panose="020B0604020202020204" pitchFamily="34" charset="0"/>
            </a:endParaRPr>
          </a:p>
        </p:txBody>
      </p:sp>
      <p:pic>
        <p:nvPicPr>
          <p:cNvPr id="86020" name="Picture 4" descr="storm">
            <a:extLst>
              <a:ext uri="{FF2B5EF4-FFF2-40B4-BE49-F238E27FC236}">
                <a16:creationId xmlns:a16="http://schemas.microsoft.com/office/drawing/2014/main" id="{2B05E3E3-B52E-8B37-4953-C08ECB1E7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6050" y="2635250"/>
            <a:ext cx="297180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a:extLst>
              <a:ext uri="{FF2B5EF4-FFF2-40B4-BE49-F238E27FC236}">
                <a16:creationId xmlns:a16="http://schemas.microsoft.com/office/drawing/2014/main" id="{17241C30-BB55-2AD3-E9E2-5E146BA97262}"/>
              </a:ext>
            </a:extLst>
          </p:cNvPr>
          <p:cNvSpPr>
            <a:spLocks noGrp="1"/>
          </p:cNvSpPr>
          <p:nvPr>
            <p:ph type="title"/>
          </p:nvPr>
        </p:nvSpPr>
        <p:spPr/>
        <p:txBody>
          <a:bodyPr/>
          <a:lstStyle/>
          <a:p>
            <a:pPr eaLnBrk="1" hangingPunct="1"/>
            <a:r>
              <a:rPr lang="en-US" altLang="en-US"/>
              <a:t>Other “Famous” Botnets</a:t>
            </a:r>
          </a:p>
        </p:txBody>
      </p:sp>
      <p:sp>
        <p:nvSpPr>
          <p:cNvPr id="88066" name="Content Placeholder 2">
            <a:extLst>
              <a:ext uri="{FF2B5EF4-FFF2-40B4-BE49-F238E27FC236}">
                <a16:creationId xmlns:a16="http://schemas.microsoft.com/office/drawing/2014/main" id="{161AA09D-0BD2-1A0C-1B59-72FB71A5058D}"/>
              </a:ext>
            </a:extLst>
          </p:cNvPr>
          <p:cNvSpPr>
            <a:spLocks noGrp="1"/>
          </p:cNvSpPr>
          <p:nvPr>
            <p:ph idx="1"/>
          </p:nvPr>
        </p:nvSpPr>
        <p:spPr/>
        <p:txBody>
          <a:bodyPr/>
          <a:lstStyle/>
          <a:p>
            <a:pPr eaLnBrk="1" hangingPunct="1"/>
            <a:r>
              <a:rPr lang="en-US" altLang="en-US"/>
              <a:t>Conficker (2008)</a:t>
            </a:r>
          </a:p>
          <a:p>
            <a:pPr eaLnBrk="1" hangingPunct="1"/>
            <a:r>
              <a:rPr lang="en-US" altLang="en-US"/>
              <a:t>Mega-D (2009)</a:t>
            </a:r>
          </a:p>
          <a:p>
            <a:pPr eaLnBrk="1" hangingPunct="1"/>
            <a:r>
              <a:rPr lang="en-US" altLang="en-US"/>
              <a:t>Zeus (2010)</a:t>
            </a:r>
          </a:p>
          <a:p>
            <a:pPr eaLnBrk="1" hangingPunct="1"/>
            <a:r>
              <a:rPr lang="en-US" altLang="en-US"/>
              <a:t>Mirai (2016)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42696DBA-A1F9-26A4-93BC-12C6F14A17E9}"/>
              </a:ext>
            </a:extLst>
          </p:cNvPr>
          <p:cNvSpPr>
            <a:spLocks noGrp="1"/>
          </p:cNvSpPr>
          <p:nvPr>
            <p:ph type="title"/>
          </p:nvPr>
        </p:nvSpPr>
        <p:spPr/>
        <p:txBody>
          <a:bodyPr/>
          <a:lstStyle/>
          <a:p>
            <a:pPr eaLnBrk="1" hangingPunct="1"/>
            <a:r>
              <a:rPr lang="en-US" altLang="en-US"/>
              <a:t>Mirai (2016)</a:t>
            </a:r>
          </a:p>
        </p:txBody>
      </p:sp>
      <p:sp>
        <p:nvSpPr>
          <p:cNvPr id="89090" name="Content Placeholder 2">
            <a:extLst>
              <a:ext uri="{FF2B5EF4-FFF2-40B4-BE49-F238E27FC236}">
                <a16:creationId xmlns:a16="http://schemas.microsoft.com/office/drawing/2014/main" id="{4AB0EFAB-681C-790C-EBD1-79138A7B2536}"/>
              </a:ext>
            </a:extLst>
          </p:cNvPr>
          <p:cNvSpPr>
            <a:spLocks noGrp="1"/>
          </p:cNvSpPr>
          <p:nvPr>
            <p:ph idx="1"/>
          </p:nvPr>
        </p:nvSpPr>
        <p:spPr>
          <a:xfrm>
            <a:off x="1485900" y="1200150"/>
            <a:ext cx="6172200" cy="1143000"/>
          </a:xfrm>
        </p:spPr>
        <p:txBody>
          <a:bodyPr/>
          <a:lstStyle/>
          <a:p>
            <a:pPr eaLnBrk="1" hangingPunct="1"/>
            <a:r>
              <a:rPr lang="en-US" altLang="en-US"/>
              <a:t>50,000 unique IP addresses in 160+ countries</a:t>
            </a:r>
          </a:p>
          <a:p>
            <a:pPr eaLnBrk="1" hangingPunct="1"/>
            <a:r>
              <a:rPr lang="en-US" altLang="en-US"/>
              <a:t>Default passwords on IoT devices</a:t>
            </a:r>
          </a:p>
        </p:txBody>
      </p:sp>
      <p:pic>
        <p:nvPicPr>
          <p:cNvPr id="89091" name="Picture 3">
            <a:extLst>
              <a:ext uri="{FF2B5EF4-FFF2-40B4-BE49-F238E27FC236}">
                <a16:creationId xmlns:a16="http://schemas.microsoft.com/office/drawing/2014/main" id="{0A9E8F40-0712-FE19-9E80-AD5F546EA7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57588" y="2286000"/>
            <a:ext cx="2447925"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3">
            <a:extLst>
              <a:ext uri="{FF2B5EF4-FFF2-40B4-BE49-F238E27FC236}">
                <a16:creationId xmlns:a16="http://schemas.microsoft.com/office/drawing/2014/main" id="{066FE82A-004F-2FD3-D212-4B2B1561DC60}"/>
              </a:ext>
            </a:extLst>
          </p:cNvPr>
          <p:cNvSpPr>
            <a:spLocks noGrp="1"/>
          </p:cNvSpPr>
          <p:nvPr>
            <p:ph type="title"/>
          </p:nvPr>
        </p:nvSpPr>
        <p:spPr>
          <a:xfrm>
            <a:off x="1543050" y="1943100"/>
            <a:ext cx="6172200" cy="857250"/>
          </a:xfrm>
        </p:spPr>
        <p:txBody>
          <a:bodyPr/>
          <a:lstStyle/>
          <a:p>
            <a:pPr eaLnBrk="1" hangingPunct="1"/>
            <a:r>
              <a:rPr lang="en-US" altLang="en-US"/>
              <a:t>Botnets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1C80A5E1-7413-71F3-53D1-A9532412D88F}"/>
              </a:ext>
            </a:extLst>
          </p:cNvPr>
          <p:cNvSpPr>
            <a:spLocks noGrp="1"/>
          </p:cNvSpPr>
          <p:nvPr>
            <p:ph type="title"/>
          </p:nvPr>
        </p:nvSpPr>
        <p:spPr/>
        <p:txBody>
          <a:bodyPr/>
          <a:lstStyle/>
          <a:p>
            <a:pPr eaLnBrk="1" hangingPunct="1"/>
            <a:r>
              <a:rPr lang="en-US" altLang="en-US"/>
              <a:t>Botnets</a:t>
            </a:r>
          </a:p>
        </p:txBody>
      </p:sp>
      <p:sp>
        <p:nvSpPr>
          <p:cNvPr id="61443" name="Rectangle 3">
            <a:extLst>
              <a:ext uri="{FF2B5EF4-FFF2-40B4-BE49-F238E27FC236}">
                <a16:creationId xmlns:a16="http://schemas.microsoft.com/office/drawing/2014/main" id="{F866BCDF-00AD-88A9-04EB-27937B2C0C6C}"/>
              </a:ext>
            </a:extLst>
          </p:cNvPr>
          <p:cNvSpPr>
            <a:spLocks noGrp="1" noChangeArrowheads="1"/>
          </p:cNvSpPr>
          <p:nvPr>
            <p:ph idx="1"/>
          </p:nvPr>
        </p:nvSpPr>
        <p:spPr/>
        <p:txBody>
          <a:bodyPr>
            <a:normAutofit/>
          </a:bodyPr>
          <a:lstStyle/>
          <a:p>
            <a:pPr eaLnBrk="1" hangingPunct="1">
              <a:lnSpc>
                <a:spcPct val="80000"/>
              </a:lnSpc>
              <a:defRPr/>
            </a:pPr>
            <a:r>
              <a:rPr lang="en-US" altLang="en-US" sz="2250" b="1" dirty="0">
                <a:solidFill>
                  <a:srgbClr val="FF3300"/>
                </a:solidFill>
              </a:rPr>
              <a:t>Bots:</a:t>
            </a:r>
            <a:r>
              <a:rPr lang="en-US" altLang="en-US" sz="2250" dirty="0"/>
              <a:t> Autonomous programs performing tasks</a:t>
            </a:r>
          </a:p>
          <a:p>
            <a:pPr eaLnBrk="1" hangingPunct="1">
              <a:lnSpc>
                <a:spcPct val="80000"/>
              </a:lnSpc>
              <a:defRPr/>
            </a:pPr>
            <a:r>
              <a:rPr lang="en-US" altLang="en-US" sz="2250" dirty="0"/>
              <a:t>Plenty of </a:t>
            </a:r>
            <a:r>
              <a:rPr lang="ja-JP" altLang="en-US" sz="2250">
                <a:latin typeface="Arial" panose="020B0604020202020204" pitchFamily="34" charset="0"/>
              </a:rPr>
              <a:t>“</a:t>
            </a:r>
            <a:r>
              <a:rPr lang="en-US" altLang="ja-JP" sz="2250" dirty="0"/>
              <a:t>benign</a:t>
            </a:r>
            <a:r>
              <a:rPr lang="ja-JP" altLang="en-US" sz="2250">
                <a:latin typeface="Arial" panose="020B0604020202020204" pitchFamily="34" charset="0"/>
              </a:rPr>
              <a:t>”</a:t>
            </a:r>
            <a:r>
              <a:rPr lang="en-US" altLang="ja-JP" sz="2250" dirty="0"/>
              <a:t> bots</a:t>
            </a:r>
          </a:p>
          <a:p>
            <a:pPr lvl="1" eaLnBrk="1" hangingPunct="1">
              <a:lnSpc>
                <a:spcPct val="80000"/>
              </a:lnSpc>
              <a:defRPr/>
            </a:pPr>
            <a:r>
              <a:rPr lang="en-US" altLang="en-US" sz="1950" i="1" dirty="0"/>
              <a:t>e.g., </a:t>
            </a:r>
            <a:r>
              <a:rPr lang="en-US" altLang="en-US" sz="1950" dirty="0" err="1"/>
              <a:t>weatherbug</a:t>
            </a:r>
            <a:br>
              <a:rPr lang="en-US" altLang="en-US" sz="1950" dirty="0"/>
            </a:br>
            <a:endParaRPr lang="en-US" altLang="en-US" sz="1950" i="1" dirty="0"/>
          </a:p>
          <a:p>
            <a:pPr eaLnBrk="1" hangingPunct="1">
              <a:lnSpc>
                <a:spcPct val="80000"/>
              </a:lnSpc>
              <a:defRPr/>
            </a:pPr>
            <a:r>
              <a:rPr lang="en-US" altLang="en-US" sz="2250" b="1" dirty="0">
                <a:solidFill>
                  <a:srgbClr val="FF3300"/>
                </a:solidFill>
              </a:rPr>
              <a:t>Botnets:</a:t>
            </a:r>
            <a:r>
              <a:rPr lang="en-US" altLang="en-US" sz="2250" b="1" dirty="0"/>
              <a:t> </a:t>
            </a:r>
            <a:r>
              <a:rPr lang="en-US" altLang="en-US" sz="2250" dirty="0"/>
              <a:t>group of bots </a:t>
            </a:r>
          </a:p>
          <a:p>
            <a:pPr lvl="1" eaLnBrk="1" hangingPunct="1">
              <a:lnSpc>
                <a:spcPct val="80000"/>
              </a:lnSpc>
              <a:defRPr/>
            </a:pPr>
            <a:r>
              <a:rPr lang="en-US" altLang="en-US" sz="1950" dirty="0"/>
              <a:t>Typically carries malicious connotation</a:t>
            </a:r>
          </a:p>
          <a:p>
            <a:pPr lvl="1" eaLnBrk="1" hangingPunct="1">
              <a:lnSpc>
                <a:spcPct val="80000"/>
              </a:lnSpc>
              <a:defRPr/>
            </a:pPr>
            <a:r>
              <a:rPr lang="en-US" altLang="en-US" sz="1950" dirty="0"/>
              <a:t>Large numbers of infected machines</a:t>
            </a:r>
          </a:p>
          <a:p>
            <a:pPr lvl="1" eaLnBrk="1" hangingPunct="1">
              <a:lnSpc>
                <a:spcPct val="80000"/>
              </a:lnSpc>
              <a:defRPr/>
            </a:pPr>
            <a:r>
              <a:rPr lang="en-US" altLang="en-US" sz="1950" dirty="0"/>
              <a:t>Machines </a:t>
            </a:r>
            <a:r>
              <a:rPr lang="ja-JP" altLang="en-US" sz="1950">
                <a:latin typeface="Arial" panose="020B0604020202020204" pitchFamily="34" charset="0"/>
              </a:rPr>
              <a:t>“</a:t>
            </a:r>
            <a:r>
              <a:rPr lang="en-US" altLang="ja-JP" sz="1950" dirty="0"/>
              <a:t>enlisted</a:t>
            </a:r>
            <a:r>
              <a:rPr lang="ja-JP" altLang="en-US" sz="1950">
                <a:latin typeface="Arial" panose="020B0604020202020204" pitchFamily="34" charset="0"/>
              </a:rPr>
              <a:t>”</a:t>
            </a:r>
            <a:r>
              <a:rPr lang="en-US" altLang="ja-JP" sz="1950" dirty="0"/>
              <a:t> with infection vectors like worms</a:t>
            </a:r>
            <a:br>
              <a:rPr lang="en-US" altLang="ja-JP" sz="1950" dirty="0"/>
            </a:br>
            <a:endParaRPr lang="en-US" altLang="ja-JP" sz="1950" dirty="0"/>
          </a:p>
          <a:p>
            <a:pPr eaLnBrk="1" hangingPunct="1">
              <a:lnSpc>
                <a:spcPct val="80000"/>
              </a:lnSpc>
              <a:defRPr/>
            </a:pPr>
            <a:r>
              <a:rPr lang="en-US" altLang="en-US" sz="2250" dirty="0"/>
              <a:t>Available for </a:t>
            </a:r>
            <a:r>
              <a:rPr lang="en-US" altLang="en-US" sz="2250" b="1">
                <a:solidFill>
                  <a:srgbClr val="FF3300"/>
                </a:solidFill>
              </a:rPr>
              <a:t>simultaneous control</a:t>
            </a:r>
            <a:endParaRPr lang="en-US" altLang="en-US" sz="225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4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4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76920565-E430-F1DA-726D-880AB546BA06}"/>
              </a:ext>
            </a:extLst>
          </p:cNvPr>
          <p:cNvSpPr>
            <a:spLocks noGrp="1"/>
          </p:cNvSpPr>
          <p:nvPr>
            <p:ph type="title"/>
          </p:nvPr>
        </p:nvSpPr>
        <p:spPr/>
        <p:txBody>
          <a:bodyPr/>
          <a:lstStyle/>
          <a:p>
            <a:pPr eaLnBrk="1" hangingPunct="1"/>
            <a:r>
              <a:rPr lang="ja-JP" altLang="en-US">
                <a:latin typeface="Arial" panose="020B0604020202020204" pitchFamily="34" charset="0"/>
              </a:rPr>
              <a:t>“</a:t>
            </a:r>
            <a:r>
              <a:rPr lang="en-US" altLang="ja-JP"/>
              <a:t>Rallying</a:t>
            </a:r>
            <a:r>
              <a:rPr lang="ja-JP" altLang="en-US">
                <a:latin typeface="Arial" panose="020B0604020202020204" pitchFamily="34" charset="0"/>
              </a:rPr>
              <a:t>”</a:t>
            </a:r>
            <a:r>
              <a:rPr lang="en-US" altLang="ja-JP"/>
              <a:t> the Botnet</a:t>
            </a:r>
            <a:endParaRPr lang="en-US" altLang="en-US"/>
          </a:p>
        </p:txBody>
      </p:sp>
      <p:sp>
        <p:nvSpPr>
          <p:cNvPr id="63491" name="Rectangle 3">
            <a:extLst>
              <a:ext uri="{FF2B5EF4-FFF2-40B4-BE49-F238E27FC236}">
                <a16:creationId xmlns:a16="http://schemas.microsoft.com/office/drawing/2014/main" id="{983DDC38-824E-119D-069C-02C1F4A38F27}"/>
              </a:ext>
            </a:extLst>
          </p:cNvPr>
          <p:cNvSpPr>
            <a:spLocks noGrp="1" noChangeArrowheads="1"/>
          </p:cNvSpPr>
          <p:nvPr>
            <p:ph idx="1"/>
          </p:nvPr>
        </p:nvSpPr>
        <p:spPr>
          <a:xfrm>
            <a:off x="1485900" y="1200150"/>
            <a:ext cx="6172200" cy="1143000"/>
          </a:xfrm>
        </p:spPr>
        <p:txBody>
          <a:bodyPr rtlCol="0">
            <a:normAutofit fontScale="92500" lnSpcReduction="10000"/>
          </a:bodyPr>
          <a:lstStyle/>
          <a:p>
            <a:pPr eaLnBrk="1" fontAlgn="auto" hangingPunct="1">
              <a:spcAft>
                <a:spcPts val="0"/>
              </a:spcAft>
              <a:buFont typeface="Arial"/>
              <a:buChar char="•"/>
              <a:defRPr/>
            </a:pPr>
            <a:r>
              <a:rPr lang="en-US">
                <a:ea typeface="+mn-ea"/>
              </a:rPr>
              <a:t>Easy to combine worm, backdoor functionality</a:t>
            </a:r>
          </a:p>
          <a:p>
            <a:pPr eaLnBrk="1" fontAlgn="auto" hangingPunct="1">
              <a:spcAft>
                <a:spcPts val="0"/>
              </a:spcAft>
              <a:buFont typeface="Arial"/>
              <a:buChar char="•"/>
              <a:defRPr/>
            </a:pPr>
            <a:r>
              <a:rPr lang="en-US" b="1">
                <a:solidFill>
                  <a:srgbClr val="FF3300"/>
                </a:solidFill>
                <a:ea typeface="+mn-ea"/>
              </a:rPr>
              <a:t>Problem:</a:t>
            </a:r>
            <a:r>
              <a:rPr lang="en-US">
                <a:ea typeface="+mn-ea"/>
              </a:rPr>
              <a:t> how to learn about successfully infected machines?</a:t>
            </a:r>
            <a:endParaRPr lang="en-US" b="1">
              <a:ea typeface="+mn-ea"/>
            </a:endParaRPr>
          </a:p>
        </p:txBody>
      </p:sp>
      <p:sp>
        <p:nvSpPr>
          <p:cNvPr id="63492" name="Rectangle 4">
            <a:extLst>
              <a:ext uri="{FF2B5EF4-FFF2-40B4-BE49-F238E27FC236}">
                <a16:creationId xmlns:a16="http://schemas.microsoft.com/office/drawing/2014/main" id="{3EACE96B-D7D8-CF56-47AC-139975FCB8C8}"/>
              </a:ext>
            </a:extLst>
          </p:cNvPr>
          <p:cNvSpPr>
            <a:spLocks noChangeArrowheads="1"/>
          </p:cNvSpPr>
          <p:nvPr/>
        </p:nvSpPr>
        <p:spPr bwMode="auto">
          <a:xfrm>
            <a:off x="1485900" y="3600450"/>
            <a:ext cx="6172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57175" indent="-257175">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1pPr>
            <a:lvl2pPr marL="557213" indent="-214313">
              <a:spcBef>
                <a:spcPct val="20000"/>
              </a:spcBef>
              <a:buFont typeface="Arial" panose="020B0604020202020204" pitchFamily="34" charset="0"/>
              <a:buChar char="–"/>
              <a:defRPr sz="21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ＭＳ Ｐゴシック" panose="020B0600070205080204" pitchFamily="34" charset="-128"/>
              </a:defRPr>
            </a:lvl9pPr>
          </a:lstStyle>
          <a:p>
            <a:pPr eaLnBrk="1" hangingPunct="1">
              <a:buFontTx/>
              <a:buChar char="•"/>
            </a:pPr>
            <a:r>
              <a:rPr lang="en-US" altLang="en-US" sz="2100" b="1">
                <a:solidFill>
                  <a:srgbClr val="FF3300"/>
                </a:solidFill>
                <a:latin typeface="Arial" panose="020B0604020202020204" pitchFamily="34" charset="0"/>
              </a:rPr>
              <a:t>Options</a:t>
            </a:r>
          </a:p>
          <a:p>
            <a:pPr lvl="1" eaLnBrk="1" hangingPunct="1">
              <a:buFontTx/>
              <a:buChar char="–"/>
            </a:pPr>
            <a:r>
              <a:rPr lang="en-US" altLang="en-US" sz="1800">
                <a:latin typeface="Arial" panose="020B0604020202020204" pitchFamily="34" charset="0"/>
              </a:rPr>
              <a:t>Email</a:t>
            </a:r>
          </a:p>
          <a:p>
            <a:pPr lvl="1" eaLnBrk="1" hangingPunct="1">
              <a:buFontTx/>
              <a:buChar char="–"/>
            </a:pPr>
            <a:r>
              <a:rPr lang="en-US" altLang="en-US" sz="1800">
                <a:latin typeface="Arial" panose="020B0604020202020204" pitchFamily="34" charset="0"/>
              </a:rPr>
              <a:t>Hard-coded email address</a:t>
            </a:r>
          </a:p>
        </p:txBody>
      </p:sp>
      <p:sp>
        <p:nvSpPr>
          <p:cNvPr id="63493" name="Cloud">
            <a:extLst>
              <a:ext uri="{FF2B5EF4-FFF2-40B4-BE49-F238E27FC236}">
                <a16:creationId xmlns:a16="http://schemas.microsoft.com/office/drawing/2014/main" id="{520A8045-ED41-29E8-DE1D-D8E7F78B6909}"/>
              </a:ext>
            </a:extLst>
          </p:cNvPr>
          <p:cNvSpPr>
            <a:spLocks noChangeAspect="1" noEditPoints="1" noChangeArrowheads="1"/>
          </p:cNvSpPr>
          <p:nvPr/>
        </p:nvSpPr>
        <p:spPr bwMode="auto">
          <a:xfrm>
            <a:off x="2228850" y="2589213"/>
            <a:ext cx="1485900" cy="839787"/>
          </a:xfrm>
          <a:custGeom>
            <a:avLst/>
            <a:gdLst>
              <a:gd name="T0" fmla="*/ 6145 w 21600"/>
              <a:gd name="T1" fmla="*/ 560388 h 21600"/>
              <a:gd name="T2" fmla="*/ 990600 w 21600"/>
              <a:gd name="T3" fmla="*/ 1119582 h 21600"/>
              <a:gd name="T4" fmla="*/ 1979549 w 21600"/>
              <a:gd name="T5" fmla="*/ 560388 h 21600"/>
              <a:gd name="T6" fmla="*/ 990600 w 21600"/>
              <a:gd name="T7" fmla="*/ 6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9525">
            <a:solidFill>
              <a:srgbClr val="000000"/>
            </a:solidFill>
            <a:miter lim="800000"/>
            <a:headEnd/>
            <a:tailEnd/>
          </a:ln>
          <a:effectLst>
            <a:outerShdw blurRad="63500" dist="107763" dir="2700000" algn="ctr" rotWithShape="0">
              <a:srgbClr val="000000">
                <a:alpha val="74997"/>
              </a:srgbClr>
            </a:outerShdw>
          </a:effectLst>
        </p:spPr>
        <p:txBody>
          <a:bodyPr/>
          <a:lstStyle/>
          <a:p>
            <a:pPr eaLnBrk="1" hangingPunct="1">
              <a:defRPr/>
            </a:pPr>
            <a:endParaRPr lang="en-US"/>
          </a:p>
        </p:txBody>
      </p:sp>
      <p:sp>
        <p:nvSpPr>
          <p:cNvPr id="63494" name="Cloud">
            <a:extLst>
              <a:ext uri="{FF2B5EF4-FFF2-40B4-BE49-F238E27FC236}">
                <a16:creationId xmlns:a16="http://schemas.microsoft.com/office/drawing/2014/main" id="{F5E41BC3-EC1F-CF10-F29B-CB3701DB00ED}"/>
              </a:ext>
            </a:extLst>
          </p:cNvPr>
          <p:cNvSpPr>
            <a:spLocks noChangeAspect="1" noEditPoints="1" noChangeArrowheads="1"/>
          </p:cNvSpPr>
          <p:nvPr/>
        </p:nvSpPr>
        <p:spPr bwMode="auto">
          <a:xfrm>
            <a:off x="4686300" y="2171700"/>
            <a:ext cx="1485900" cy="841375"/>
          </a:xfrm>
          <a:custGeom>
            <a:avLst/>
            <a:gdLst>
              <a:gd name="T0" fmla="*/ 6145 w 21600"/>
              <a:gd name="T1" fmla="*/ 560388 h 21600"/>
              <a:gd name="T2" fmla="*/ 990600 w 21600"/>
              <a:gd name="T3" fmla="*/ 1119582 h 21600"/>
              <a:gd name="T4" fmla="*/ 1979549 w 21600"/>
              <a:gd name="T5" fmla="*/ 560388 h 21600"/>
              <a:gd name="T6" fmla="*/ 990600 w 21600"/>
              <a:gd name="T7" fmla="*/ 6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9525">
            <a:solidFill>
              <a:srgbClr val="000000"/>
            </a:solidFill>
            <a:miter lim="800000"/>
            <a:headEnd/>
            <a:tailEnd/>
          </a:ln>
          <a:effectLst>
            <a:outerShdw blurRad="63500" dist="107763" dir="2700000" algn="ctr" rotWithShape="0">
              <a:srgbClr val="000000">
                <a:alpha val="74997"/>
              </a:srgbClr>
            </a:outerShdw>
          </a:effectLst>
        </p:spPr>
        <p:txBody>
          <a:bodyPr/>
          <a:lstStyle/>
          <a:p>
            <a:pPr eaLnBrk="1" hangingPunct="1">
              <a:defRPr/>
            </a:pPr>
            <a:endParaRPr lang="en-US"/>
          </a:p>
        </p:txBody>
      </p:sp>
      <p:sp>
        <p:nvSpPr>
          <p:cNvPr id="63495" name="Cloud">
            <a:extLst>
              <a:ext uri="{FF2B5EF4-FFF2-40B4-BE49-F238E27FC236}">
                <a16:creationId xmlns:a16="http://schemas.microsoft.com/office/drawing/2014/main" id="{97D6E457-FC6D-0294-7AE9-CBB83B9BF78E}"/>
              </a:ext>
            </a:extLst>
          </p:cNvPr>
          <p:cNvSpPr>
            <a:spLocks noChangeAspect="1" noEditPoints="1" noChangeArrowheads="1"/>
          </p:cNvSpPr>
          <p:nvPr/>
        </p:nvSpPr>
        <p:spPr bwMode="auto">
          <a:xfrm>
            <a:off x="5086350" y="3275013"/>
            <a:ext cx="1485900" cy="839787"/>
          </a:xfrm>
          <a:custGeom>
            <a:avLst/>
            <a:gdLst>
              <a:gd name="T0" fmla="*/ 6145 w 21600"/>
              <a:gd name="T1" fmla="*/ 560388 h 21600"/>
              <a:gd name="T2" fmla="*/ 990600 w 21600"/>
              <a:gd name="T3" fmla="*/ 1119582 h 21600"/>
              <a:gd name="T4" fmla="*/ 1979549 w 21600"/>
              <a:gd name="T5" fmla="*/ 560388 h 21600"/>
              <a:gd name="T6" fmla="*/ 990600 w 21600"/>
              <a:gd name="T7" fmla="*/ 6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9525">
            <a:solidFill>
              <a:srgbClr val="000000"/>
            </a:solidFill>
            <a:miter lim="800000"/>
            <a:headEnd/>
            <a:tailEnd/>
          </a:ln>
          <a:effectLst>
            <a:outerShdw blurRad="63500" dist="107763" dir="2700000" algn="ctr" rotWithShape="0">
              <a:srgbClr val="000000">
                <a:alpha val="74997"/>
              </a:srgbClr>
            </a:outerShdw>
          </a:effectLst>
        </p:spPr>
        <p:txBody>
          <a:bodyPr/>
          <a:lstStyle/>
          <a:p>
            <a:pPr eaLnBrk="1" hangingPunct="1">
              <a:defRPr/>
            </a:pPr>
            <a:endParaRPr lang="en-US"/>
          </a:p>
        </p:txBody>
      </p:sp>
      <p:sp>
        <p:nvSpPr>
          <p:cNvPr id="94215" name="Oval 8">
            <a:extLst>
              <a:ext uri="{FF2B5EF4-FFF2-40B4-BE49-F238E27FC236}">
                <a16:creationId xmlns:a16="http://schemas.microsoft.com/office/drawing/2014/main" id="{C00AB6F3-75B5-5542-7E3D-224440D0E86D}"/>
              </a:ext>
            </a:extLst>
          </p:cNvPr>
          <p:cNvSpPr>
            <a:spLocks noChangeArrowheads="1"/>
          </p:cNvSpPr>
          <p:nvPr/>
        </p:nvSpPr>
        <p:spPr bwMode="auto">
          <a:xfrm>
            <a:off x="3143250" y="2800350"/>
            <a:ext cx="285750" cy="285750"/>
          </a:xfrm>
          <a:prstGeom prst="ellipse">
            <a:avLst/>
          </a:prstGeom>
          <a:solidFill>
            <a:srgbClr val="F1F779"/>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4216" name="Oval 9">
            <a:extLst>
              <a:ext uri="{FF2B5EF4-FFF2-40B4-BE49-F238E27FC236}">
                <a16:creationId xmlns:a16="http://schemas.microsoft.com/office/drawing/2014/main" id="{4E446431-F397-D58F-7E4E-D104227FA915}"/>
              </a:ext>
            </a:extLst>
          </p:cNvPr>
          <p:cNvSpPr>
            <a:spLocks noChangeArrowheads="1"/>
          </p:cNvSpPr>
          <p:nvPr/>
        </p:nvSpPr>
        <p:spPr bwMode="auto">
          <a:xfrm>
            <a:off x="5086350" y="2286000"/>
            <a:ext cx="285750" cy="285750"/>
          </a:xfrm>
          <a:prstGeom prst="ellipse">
            <a:avLst/>
          </a:prstGeom>
          <a:solidFill>
            <a:srgbClr val="F1F779"/>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4217" name="Oval 10">
            <a:extLst>
              <a:ext uri="{FF2B5EF4-FFF2-40B4-BE49-F238E27FC236}">
                <a16:creationId xmlns:a16="http://schemas.microsoft.com/office/drawing/2014/main" id="{90F4577D-8108-C958-D8EB-78A12C8A160A}"/>
              </a:ext>
            </a:extLst>
          </p:cNvPr>
          <p:cNvSpPr>
            <a:spLocks noChangeArrowheads="1"/>
          </p:cNvSpPr>
          <p:nvPr/>
        </p:nvSpPr>
        <p:spPr bwMode="auto">
          <a:xfrm>
            <a:off x="5486400" y="2628900"/>
            <a:ext cx="285750" cy="285750"/>
          </a:xfrm>
          <a:prstGeom prst="ellipse">
            <a:avLst/>
          </a:prstGeom>
          <a:solidFill>
            <a:srgbClr val="F1F779"/>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4218" name="Oval 11">
            <a:extLst>
              <a:ext uri="{FF2B5EF4-FFF2-40B4-BE49-F238E27FC236}">
                <a16:creationId xmlns:a16="http://schemas.microsoft.com/office/drawing/2014/main" id="{4ADA6B19-EB0F-A32F-A107-7963C7092B63}"/>
              </a:ext>
            </a:extLst>
          </p:cNvPr>
          <p:cNvSpPr>
            <a:spLocks noChangeArrowheads="1"/>
          </p:cNvSpPr>
          <p:nvPr/>
        </p:nvSpPr>
        <p:spPr bwMode="auto">
          <a:xfrm>
            <a:off x="5314950" y="3314700"/>
            <a:ext cx="285750" cy="285750"/>
          </a:xfrm>
          <a:prstGeom prst="ellipse">
            <a:avLst/>
          </a:prstGeom>
          <a:solidFill>
            <a:srgbClr val="F1F779"/>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4219" name="Oval 12">
            <a:extLst>
              <a:ext uri="{FF2B5EF4-FFF2-40B4-BE49-F238E27FC236}">
                <a16:creationId xmlns:a16="http://schemas.microsoft.com/office/drawing/2014/main" id="{C4D41890-3991-A392-922D-0B76B5971BBE}"/>
              </a:ext>
            </a:extLst>
          </p:cNvPr>
          <p:cNvSpPr>
            <a:spLocks noChangeArrowheads="1"/>
          </p:cNvSpPr>
          <p:nvPr/>
        </p:nvSpPr>
        <p:spPr bwMode="auto">
          <a:xfrm>
            <a:off x="5657850" y="3771900"/>
            <a:ext cx="285750" cy="285750"/>
          </a:xfrm>
          <a:prstGeom prst="ellipse">
            <a:avLst/>
          </a:prstGeom>
          <a:solidFill>
            <a:srgbClr val="F1F779"/>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4220" name="Oval 13">
            <a:extLst>
              <a:ext uri="{FF2B5EF4-FFF2-40B4-BE49-F238E27FC236}">
                <a16:creationId xmlns:a16="http://schemas.microsoft.com/office/drawing/2014/main" id="{82249715-D9E2-9CC8-8E4C-CBFEEA95050B}"/>
              </a:ext>
            </a:extLst>
          </p:cNvPr>
          <p:cNvSpPr>
            <a:spLocks noChangeArrowheads="1"/>
          </p:cNvSpPr>
          <p:nvPr/>
        </p:nvSpPr>
        <p:spPr bwMode="auto">
          <a:xfrm>
            <a:off x="6000750" y="3429000"/>
            <a:ext cx="285750" cy="285750"/>
          </a:xfrm>
          <a:prstGeom prst="ellipse">
            <a:avLst/>
          </a:prstGeom>
          <a:solidFill>
            <a:srgbClr val="F1F779"/>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4221" name="Freeform 14">
            <a:extLst>
              <a:ext uri="{FF2B5EF4-FFF2-40B4-BE49-F238E27FC236}">
                <a16:creationId xmlns:a16="http://schemas.microsoft.com/office/drawing/2014/main" id="{E0704E81-10EA-903B-85DE-00CB23E68A79}"/>
              </a:ext>
            </a:extLst>
          </p:cNvPr>
          <p:cNvSpPr>
            <a:spLocks/>
          </p:cNvSpPr>
          <p:nvPr/>
        </p:nvSpPr>
        <p:spPr bwMode="auto">
          <a:xfrm>
            <a:off x="3486150" y="2390775"/>
            <a:ext cx="1543050" cy="409575"/>
          </a:xfrm>
          <a:custGeom>
            <a:avLst/>
            <a:gdLst>
              <a:gd name="T0" fmla="*/ 0 w 1296"/>
              <a:gd name="T1" fmla="*/ 650200313 h 344"/>
              <a:gd name="T2" fmla="*/ 725805000 w 1296"/>
              <a:gd name="T3" fmla="*/ 105846563 h 344"/>
              <a:gd name="T4" fmla="*/ 2147483646 w 1296"/>
              <a:gd name="T5" fmla="*/ 15120938 h 344"/>
              <a:gd name="T6" fmla="*/ 0 60000 65536"/>
              <a:gd name="T7" fmla="*/ 0 60000 65536"/>
              <a:gd name="T8" fmla="*/ 0 60000 65536"/>
            </a:gdLst>
            <a:ahLst/>
            <a:cxnLst>
              <a:cxn ang="T6">
                <a:pos x="T0" y="T1"/>
              </a:cxn>
              <a:cxn ang="T7">
                <a:pos x="T2" y="T3"/>
              </a:cxn>
              <a:cxn ang="T8">
                <a:pos x="T4" y="T5"/>
              </a:cxn>
            </a:cxnLst>
            <a:rect l="0" t="0" r="r" b="b"/>
            <a:pathLst>
              <a:path w="1296" h="344">
                <a:moveTo>
                  <a:pt x="0" y="344"/>
                </a:moveTo>
                <a:cubicBezTo>
                  <a:pt x="84" y="228"/>
                  <a:pt x="168" y="112"/>
                  <a:pt x="384" y="56"/>
                </a:cubicBezTo>
                <a:cubicBezTo>
                  <a:pt x="600" y="0"/>
                  <a:pt x="948" y="4"/>
                  <a:pt x="1296" y="8"/>
                </a:cubicBezTo>
              </a:path>
            </a:pathLst>
          </a:custGeom>
          <a:noFill/>
          <a:ln w="28575" cmpd="sng">
            <a:solidFill>
              <a:schemeClr val="accent2"/>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222" name="Freeform 15">
            <a:extLst>
              <a:ext uri="{FF2B5EF4-FFF2-40B4-BE49-F238E27FC236}">
                <a16:creationId xmlns:a16="http://schemas.microsoft.com/office/drawing/2014/main" id="{E73A1AFF-2200-F7E2-14C1-A90349EE0441}"/>
              </a:ext>
            </a:extLst>
          </p:cNvPr>
          <p:cNvSpPr>
            <a:spLocks/>
          </p:cNvSpPr>
          <p:nvPr/>
        </p:nvSpPr>
        <p:spPr bwMode="auto">
          <a:xfrm>
            <a:off x="5372100" y="2343150"/>
            <a:ext cx="342900" cy="285750"/>
          </a:xfrm>
          <a:custGeom>
            <a:avLst/>
            <a:gdLst>
              <a:gd name="T0" fmla="*/ 0 w 288"/>
              <a:gd name="T1" fmla="*/ 0 h 240"/>
              <a:gd name="T2" fmla="*/ 272176875 w 288"/>
              <a:gd name="T3" fmla="*/ 90725625 h 240"/>
              <a:gd name="T4" fmla="*/ 544353750 w 288"/>
              <a:gd name="T5" fmla="*/ 453628125 h 240"/>
              <a:gd name="T6" fmla="*/ 0 60000 65536"/>
              <a:gd name="T7" fmla="*/ 0 60000 65536"/>
              <a:gd name="T8" fmla="*/ 0 60000 65536"/>
            </a:gdLst>
            <a:ahLst/>
            <a:cxnLst>
              <a:cxn ang="T6">
                <a:pos x="T0" y="T1"/>
              </a:cxn>
              <a:cxn ang="T7">
                <a:pos x="T2" y="T3"/>
              </a:cxn>
              <a:cxn ang="T8">
                <a:pos x="T4" y="T5"/>
              </a:cxn>
            </a:cxnLst>
            <a:rect l="0" t="0" r="r" b="b"/>
            <a:pathLst>
              <a:path w="288" h="240">
                <a:moveTo>
                  <a:pt x="0" y="0"/>
                </a:moveTo>
                <a:cubicBezTo>
                  <a:pt x="48" y="4"/>
                  <a:pt x="96" y="8"/>
                  <a:pt x="144" y="48"/>
                </a:cubicBezTo>
                <a:cubicBezTo>
                  <a:pt x="192" y="88"/>
                  <a:pt x="240" y="164"/>
                  <a:pt x="288" y="240"/>
                </a:cubicBezTo>
              </a:path>
            </a:pathLst>
          </a:custGeom>
          <a:noFill/>
          <a:ln w="28575" cmpd="sng">
            <a:solidFill>
              <a:schemeClr val="accent2"/>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223" name="Freeform 16">
            <a:extLst>
              <a:ext uri="{FF2B5EF4-FFF2-40B4-BE49-F238E27FC236}">
                <a16:creationId xmlns:a16="http://schemas.microsoft.com/office/drawing/2014/main" id="{4821655F-F8C9-4FA9-8A0B-BF30ED131A89}"/>
              </a:ext>
            </a:extLst>
          </p:cNvPr>
          <p:cNvSpPr>
            <a:spLocks/>
          </p:cNvSpPr>
          <p:nvPr/>
        </p:nvSpPr>
        <p:spPr bwMode="auto">
          <a:xfrm>
            <a:off x="3486150" y="3086100"/>
            <a:ext cx="1771650" cy="285750"/>
          </a:xfrm>
          <a:custGeom>
            <a:avLst/>
            <a:gdLst>
              <a:gd name="T0" fmla="*/ 0 w 1488"/>
              <a:gd name="T1" fmla="*/ 0 h 240"/>
              <a:gd name="T2" fmla="*/ 1360884375 w 1488"/>
              <a:gd name="T3" fmla="*/ 272176875 h 240"/>
              <a:gd name="T4" fmla="*/ 2147483646 w 1488"/>
              <a:gd name="T5" fmla="*/ 453628125 h 240"/>
              <a:gd name="T6" fmla="*/ 0 60000 65536"/>
              <a:gd name="T7" fmla="*/ 0 60000 65536"/>
              <a:gd name="T8" fmla="*/ 0 60000 65536"/>
            </a:gdLst>
            <a:ahLst/>
            <a:cxnLst>
              <a:cxn ang="T6">
                <a:pos x="T0" y="T1"/>
              </a:cxn>
              <a:cxn ang="T7">
                <a:pos x="T2" y="T3"/>
              </a:cxn>
              <a:cxn ang="T8">
                <a:pos x="T4" y="T5"/>
              </a:cxn>
            </a:cxnLst>
            <a:rect l="0" t="0" r="r" b="b"/>
            <a:pathLst>
              <a:path w="1488" h="240">
                <a:moveTo>
                  <a:pt x="0" y="0"/>
                </a:moveTo>
                <a:cubicBezTo>
                  <a:pt x="236" y="52"/>
                  <a:pt x="472" y="104"/>
                  <a:pt x="720" y="144"/>
                </a:cubicBezTo>
                <a:cubicBezTo>
                  <a:pt x="968" y="184"/>
                  <a:pt x="1228" y="212"/>
                  <a:pt x="1488" y="240"/>
                </a:cubicBezTo>
              </a:path>
            </a:pathLst>
          </a:custGeom>
          <a:noFill/>
          <a:ln w="28575" cmpd="sng">
            <a:solidFill>
              <a:schemeClr val="accent2"/>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224" name="Freeform 17">
            <a:extLst>
              <a:ext uri="{FF2B5EF4-FFF2-40B4-BE49-F238E27FC236}">
                <a16:creationId xmlns:a16="http://schemas.microsoft.com/office/drawing/2014/main" id="{A88B2BD8-5626-FD8C-5D36-CE4F9FC5B079}"/>
              </a:ext>
            </a:extLst>
          </p:cNvPr>
          <p:cNvSpPr>
            <a:spLocks/>
          </p:cNvSpPr>
          <p:nvPr/>
        </p:nvSpPr>
        <p:spPr bwMode="auto">
          <a:xfrm>
            <a:off x="5600700" y="3305175"/>
            <a:ext cx="457200" cy="123825"/>
          </a:xfrm>
          <a:custGeom>
            <a:avLst/>
            <a:gdLst>
              <a:gd name="T0" fmla="*/ 0 w 384"/>
              <a:gd name="T1" fmla="*/ 105846563 h 104"/>
              <a:gd name="T2" fmla="*/ 453628125 w 384"/>
              <a:gd name="T3" fmla="*/ 15120938 h 104"/>
              <a:gd name="T4" fmla="*/ 725805000 w 384"/>
              <a:gd name="T5" fmla="*/ 196572188 h 104"/>
              <a:gd name="T6" fmla="*/ 0 60000 65536"/>
              <a:gd name="T7" fmla="*/ 0 60000 65536"/>
              <a:gd name="T8" fmla="*/ 0 60000 65536"/>
            </a:gdLst>
            <a:ahLst/>
            <a:cxnLst>
              <a:cxn ang="T6">
                <a:pos x="T0" y="T1"/>
              </a:cxn>
              <a:cxn ang="T7">
                <a:pos x="T2" y="T3"/>
              </a:cxn>
              <a:cxn ang="T8">
                <a:pos x="T4" y="T5"/>
              </a:cxn>
            </a:cxnLst>
            <a:rect l="0" t="0" r="r" b="b"/>
            <a:pathLst>
              <a:path w="384" h="104">
                <a:moveTo>
                  <a:pt x="0" y="56"/>
                </a:moveTo>
                <a:cubicBezTo>
                  <a:pt x="88" y="28"/>
                  <a:pt x="176" y="0"/>
                  <a:pt x="240" y="8"/>
                </a:cubicBezTo>
                <a:cubicBezTo>
                  <a:pt x="304" y="16"/>
                  <a:pt x="344" y="60"/>
                  <a:pt x="384" y="104"/>
                </a:cubicBezTo>
              </a:path>
            </a:pathLst>
          </a:custGeom>
          <a:noFill/>
          <a:ln w="28575" cmpd="sng">
            <a:solidFill>
              <a:schemeClr val="accent2"/>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225" name="Freeform 18">
            <a:extLst>
              <a:ext uri="{FF2B5EF4-FFF2-40B4-BE49-F238E27FC236}">
                <a16:creationId xmlns:a16="http://schemas.microsoft.com/office/drawing/2014/main" id="{99660163-1D57-0F8E-CB33-8E8020115630}"/>
              </a:ext>
            </a:extLst>
          </p:cNvPr>
          <p:cNvSpPr>
            <a:spLocks/>
          </p:cNvSpPr>
          <p:nvPr/>
        </p:nvSpPr>
        <p:spPr bwMode="auto">
          <a:xfrm>
            <a:off x="5429250" y="3600450"/>
            <a:ext cx="285750" cy="228600"/>
          </a:xfrm>
          <a:custGeom>
            <a:avLst/>
            <a:gdLst>
              <a:gd name="T0" fmla="*/ 0 w 240"/>
              <a:gd name="T1" fmla="*/ 0 h 192"/>
              <a:gd name="T2" fmla="*/ 90725625 w 240"/>
              <a:gd name="T3" fmla="*/ 272176875 h 192"/>
              <a:gd name="T4" fmla="*/ 453628125 w 240"/>
              <a:gd name="T5" fmla="*/ 362902500 h 192"/>
              <a:gd name="T6" fmla="*/ 0 60000 65536"/>
              <a:gd name="T7" fmla="*/ 0 60000 65536"/>
              <a:gd name="T8" fmla="*/ 0 60000 65536"/>
            </a:gdLst>
            <a:ahLst/>
            <a:cxnLst>
              <a:cxn ang="T6">
                <a:pos x="T0" y="T1"/>
              </a:cxn>
              <a:cxn ang="T7">
                <a:pos x="T2" y="T3"/>
              </a:cxn>
              <a:cxn ang="T8">
                <a:pos x="T4" y="T5"/>
              </a:cxn>
            </a:cxnLst>
            <a:rect l="0" t="0" r="r" b="b"/>
            <a:pathLst>
              <a:path w="240" h="192">
                <a:moveTo>
                  <a:pt x="0" y="0"/>
                </a:moveTo>
                <a:cubicBezTo>
                  <a:pt x="4" y="56"/>
                  <a:pt x="8" y="112"/>
                  <a:pt x="48" y="144"/>
                </a:cubicBezTo>
                <a:cubicBezTo>
                  <a:pt x="88" y="176"/>
                  <a:pt x="164" y="184"/>
                  <a:pt x="240" y="192"/>
                </a:cubicBezTo>
              </a:path>
            </a:pathLst>
          </a:custGeom>
          <a:noFill/>
          <a:ln w="28575" cmpd="sng">
            <a:solidFill>
              <a:schemeClr val="accent2"/>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49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A13B9F45-3537-9AAA-3A7A-B6D31FFA1172}"/>
              </a:ext>
            </a:extLst>
          </p:cNvPr>
          <p:cNvSpPr>
            <a:spLocks noGrp="1"/>
          </p:cNvSpPr>
          <p:nvPr>
            <p:ph type="title"/>
          </p:nvPr>
        </p:nvSpPr>
        <p:spPr/>
        <p:txBody>
          <a:bodyPr/>
          <a:lstStyle/>
          <a:p>
            <a:pPr eaLnBrk="1" hangingPunct="1"/>
            <a:r>
              <a:rPr lang="en-US" altLang="en-US"/>
              <a:t>Botnet Control</a:t>
            </a:r>
          </a:p>
        </p:txBody>
      </p:sp>
      <p:sp>
        <p:nvSpPr>
          <p:cNvPr id="65539" name="Rectangle 3">
            <a:extLst>
              <a:ext uri="{FF2B5EF4-FFF2-40B4-BE49-F238E27FC236}">
                <a16:creationId xmlns:a16="http://schemas.microsoft.com/office/drawing/2014/main" id="{787534C7-16E4-407C-57FB-30EE157B26E6}"/>
              </a:ext>
            </a:extLst>
          </p:cNvPr>
          <p:cNvSpPr>
            <a:spLocks noGrp="1"/>
          </p:cNvSpPr>
          <p:nvPr>
            <p:ph idx="1"/>
          </p:nvPr>
        </p:nvSpPr>
        <p:spPr>
          <a:xfrm>
            <a:off x="1485900" y="3314700"/>
            <a:ext cx="6172200" cy="1657350"/>
          </a:xfrm>
        </p:spPr>
        <p:txBody>
          <a:bodyPr/>
          <a:lstStyle/>
          <a:p>
            <a:pPr eaLnBrk="1" hangingPunct="1">
              <a:lnSpc>
                <a:spcPct val="90000"/>
              </a:lnSpc>
            </a:pPr>
            <a:r>
              <a:rPr lang="en-US" altLang="en-US" sz="1800"/>
              <a:t>Botnet master typically runs on some server</a:t>
            </a:r>
          </a:p>
          <a:p>
            <a:pPr eaLnBrk="1" hangingPunct="1">
              <a:lnSpc>
                <a:spcPct val="90000"/>
              </a:lnSpc>
            </a:pPr>
            <a:endParaRPr lang="en-US" altLang="en-US" sz="1800"/>
          </a:p>
          <a:p>
            <a:pPr eaLnBrk="1" hangingPunct="1">
              <a:lnSpc>
                <a:spcPct val="90000"/>
              </a:lnSpc>
            </a:pPr>
            <a:r>
              <a:rPr lang="en-US" altLang="en-US" sz="1800"/>
              <a:t>Infected machine contacts botnet via DNS</a:t>
            </a:r>
          </a:p>
          <a:p>
            <a:pPr eaLnBrk="1" hangingPunct="1">
              <a:lnSpc>
                <a:spcPct val="90000"/>
              </a:lnSpc>
            </a:pPr>
            <a:endParaRPr lang="en-US" altLang="en-US" sz="1800"/>
          </a:p>
          <a:p>
            <a:pPr eaLnBrk="1" hangingPunct="1">
              <a:lnSpc>
                <a:spcPct val="90000"/>
              </a:lnSpc>
            </a:pPr>
            <a:r>
              <a:rPr lang="en-US" altLang="en-US" sz="1800" b="1">
                <a:solidFill>
                  <a:srgbClr val="FF3300"/>
                </a:solidFill>
              </a:rPr>
              <a:t>Dynamic DNS: </a:t>
            </a:r>
            <a:r>
              <a:rPr lang="en-US" altLang="en-US" sz="1800"/>
              <a:t>allows controller to move about freely</a:t>
            </a:r>
            <a:endParaRPr lang="en-US" altLang="en-US" sz="1800" b="1">
              <a:solidFill>
                <a:srgbClr val="FF3300"/>
              </a:solidFill>
            </a:endParaRPr>
          </a:p>
        </p:txBody>
      </p:sp>
      <p:sp>
        <p:nvSpPr>
          <p:cNvPr id="96259" name="Rectangle 4">
            <a:extLst>
              <a:ext uri="{FF2B5EF4-FFF2-40B4-BE49-F238E27FC236}">
                <a16:creationId xmlns:a16="http://schemas.microsoft.com/office/drawing/2014/main" id="{AA372063-8A31-C9FD-DA4E-FB28051C0C54}"/>
              </a:ext>
            </a:extLst>
          </p:cNvPr>
          <p:cNvSpPr>
            <a:spLocks noChangeArrowheads="1"/>
          </p:cNvSpPr>
          <p:nvPr/>
        </p:nvSpPr>
        <p:spPr bwMode="auto">
          <a:xfrm>
            <a:off x="2343150" y="2114550"/>
            <a:ext cx="1257300" cy="628650"/>
          </a:xfrm>
          <a:prstGeom prst="rect">
            <a:avLst/>
          </a:prstGeom>
          <a:solidFill>
            <a:srgbClr val="D9D9D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6260" name="Text Box 5">
            <a:extLst>
              <a:ext uri="{FF2B5EF4-FFF2-40B4-BE49-F238E27FC236}">
                <a16:creationId xmlns:a16="http://schemas.microsoft.com/office/drawing/2014/main" id="{905ABF65-03CC-A445-D838-3AC2A6604AAE}"/>
              </a:ext>
            </a:extLst>
          </p:cNvPr>
          <p:cNvSpPr txBox="1">
            <a:spLocks noChangeArrowheads="1"/>
          </p:cNvSpPr>
          <p:nvPr/>
        </p:nvSpPr>
        <p:spPr bwMode="auto">
          <a:xfrm>
            <a:off x="2571750" y="2171700"/>
            <a:ext cx="9715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100" b="1">
                <a:solidFill>
                  <a:srgbClr val="FF3300"/>
                </a:solidFill>
              </a:rPr>
              <a:t>Infected Machine</a:t>
            </a:r>
          </a:p>
        </p:txBody>
      </p:sp>
      <p:sp>
        <p:nvSpPr>
          <p:cNvPr id="96261" name="Line 6">
            <a:extLst>
              <a:ext uri="{FF2B5EF4-FFF2-40B4-BE49-F238E27FC236}">
                <a16:creationId xmlns:a16="http://schemas.microsoft.com/office/drawing/2014/main" id="{7B16AF87-E2B0-7FD6-2407-EF53E3F1CF44}"/>
              </a:ext>
            </a:extLst>
          </p:cNvPr>
          <p:cNvSpPr>
            <a:spLocks noChangeShapeType="1"/>
          </p:cNvSpPr>
          <p:nvPr/>
        </p:nvSpPr>
        <p:spPr bwMode="auto">
          <a:xfrm flipV="1">
            <a:off x="2971800" y="1371600"/>
            <a:ext cx="685800" cy="571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62" name="Line 7">
            <a:extLst>
              <a:ext uri="{FF2B5EF4-FFF2-40B4-BE49-F238E27FC236}">
                <a16:creationId xmlns:a16="http://schemas.microsoft.com/office/drawing/2014/main" id="{DFFA3451-FA50-0019-2222-5EC263EE2DBB}"/>
              </a:ext>
            </a:extLst>
          </p:cNvPr>
          <p:cNvSpPr>
            <a:spLocks noChangeShapeType="1"/>
          </p:cNvSpPr>
          <p:nvPr/>
        </p:nvSpPr>
        <p:spPr bwMode="auto">
          <a:xfrm flipH="1">
            <a:off x="3143250" y="1485900"/>
            <a:ext cx="571500" cy="514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63" name="Rectangle 8">
            <a:extLst>
              <a:ext uri="{FF2B5EF4-FFF2-40B4-BE49-F238E27FC236}">
                <a16:creationId xmlns:a16="http://schemas.microsoft.com/office/drawing/2014/main" id="{2043AC85-CF22-7A4C-8A55-CDAB63203EAC}"/>
              </a:ext>
            </a:extLst>
          </p:cNvPr>
          <p:cNvSpPr>
            <a:spLocks noChangeArrowheads="1"/>
          </p:cNvSpPr>
          <p:nvPr/>
        </p:nvSpPr>
        <p:spPr bwMode="auto">
          <a:xfrm>
            <a:off x="3808413" y="1049338"/>
            <a:ext cx="971550" cy="4572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6264" name="Text Box 9">
            <a:extLst>
              <a:ext uri="{FF2B5EF4-FFF2-40B4-BE49-F238E27FC236}">
                <a16:creationId xmlns:a16="http://schemas.microsoft.com/office/drawing/2014/main" id="{FA10CF90-3E82-A9BF-4970-56FC21DC3ABD}"/>
              </a:ext>
            </a:extLst>
          </p:cNvPr>
          <p:cNvSpPr txBox="1">
            <a:spLocks noChangeArrowheads="1"/>
          </p:cNvSpPr>
          <p:nvPr/>
        </p:nvSpPr>
        <p:spPr bwMode="auto">
          <a:xfrm>
            <a:off x="3771900" y="1062038"/>
            <a:ext cx="971550" cy="430212"/>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100" b="1">
                <a:solidFill>
                  <a:srgbClr val="FF3300"/>
                </a:solidFill>
              </a:rPr>
              <a:t>Dynamic</a:t>
            </a:r>
            <a:br>
              <a:rPr lang="en-US" altLang="en-US" sz="1100" b="1">
                <a:solidFill>
                  <a:srgbClr val="FF3300"/>
                </a:solidFill>
              </a:rPr>
            </a:br>
            <a:r>
              <a:rPr lang="en-US" altLang="en-US" sz="1100" b="1">
                <a:solidFill>
                  <a:srgbClr val="FF3300"/>
                </a:solidFill>
              </a:rPr>
              <a:t>DNS</a:t>
            </a:r>
          </a:p>
        </p:txBody>
      </p:sp>
      <p:sp>
        <p:nvSpPr>
          <p:cNvPr id="96265" name="Rectangle 10">
            <a:extLst>
              <a:ext uri="{FF2B5EF4-FFF2-40B4-BE49-F238E27FC236}">
                <a16:creationId xmlns:a16="http://schemas.microsoft.com/office/drawing/2014/main" id="{2ED2A4DB-F848-739C-C3AB-F9D85DE7F30C}"/>
              </a:ext>
            </a:extLst>
          </p:cNvPr>
          <p:cNvSpPr>
            <a:spLocks noChangeArrowheads="1"/>
          </p:cNvSpPr>
          <p:nvPr/>
        </p:nvSpPr>
        <p:spPr bwMode="auto">
          <a:xfrm>
            <a:off x="4800600" y="2114550"/>
            <a:ext cx="1257300" cy="6286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96266" name="Text Box 11">
            <a:extLst>
              <a:ext uri="{FF2B5EF4-FFF2-40B4-BE49-F238E27FC236}">
                <a16:creationId xmlns:a16="http://schemas.microsoft.com/office/drawing/2014/main" id="{3643588C-5439-8C6A-1D2D-99E386C49195}"/>
              </a:ext>
            </a:extLst>
          </p:cNvPr>
          <p:cNvSpPr txBox="1">
            <a:spLocks noChangeArrowheads="1"/>
          </p:cNvSpPr>
          <p:nvPr/>
        </p:nvSpPr>
        <p:spPr bwMode="auto">
          <a:xfrm>
            <a:off x="4800600" y="2112963"/>
            <a:ext cx="1314450" cy="4318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100" b="1">
                <a:solidFill>
                  <a:srgbClr val="FF3300"/>
                </a:solidFill>
              </a:rPr>
              <a:t>Botnet</a:t>
            </a:r>
            <a:br>
              <a:rPr lang="en-US" altLang="en-US" sz="1100" b="1">
                <a:solidFill>
                  <a:srgbClr val="FF3300"/>
                </a:solidFill>
              </a:rPr>
            </a:br>
            <a:r>
              <a:rPr lang="en-US" altLang="en-US" sz="1100" b="1">
                <a:solidFill>
                  <a:srgbClr val="FF3300"/>
                </a:solidFill>
              </a:rPr>
              <a:t>Controller</a:t>
            </a:r>
          </a:p>
        </p:txBody>
      </p:sp>
      <p:sp>
        <p:nvSpPr>
          <p:cNvPr id="96267" name="Line 12">
            <a:extLst>
              <a:ext uri="{FF2B5EF4-FFF2-40B4-BE49-F238E27FC236}">
                <a16:creationId xmlns:a16="http://schemas.microsoft.com/office/drawing/2014/main" id="{9E03FFBE-570A-5C56-54EF-B2D4FDBDE461}"/>
              </a:ext>
            </a:extLst>
          </p:cNvPr>
          <p:cNvSpPr>
            <a:spLocks noChangeShapeType="1"/>
          </p:cNvSpPr>
          <p:nvPr/>
        </p:nvSpPr>
        <p:spPr bwMode="auto">
          <a:xfrm>
            <a:off x="3657600" y="2286000"/>
            <a:ext cx="1085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68" name="Line 13">
            <a:extLst>
              <a:ext uri="{FF2B5EF4-FFF2-40B4-BE49-F238E27FC236}">
                <a16:creationId xmlns:a16="http://schemas.microsoft.com/office/drawing/2014/main" id="{64A5B235-F7F4-042B-25DB-6122B39994D3}"/>
              </a:ext>
            </a:extLst>
          </p:cNvPr>
          <p:cNvSpPr>
            <a:spLocks noChangeShapeType="1"/>
          </p:cNvSpPr>
          <p:nvPr/>
        </p:nvSpPr>
        <p:spPr bwMode="auto">
          <a:xfrm flipH="1">
            <a:off x="3657600" y="2457450"/>
            <a:ext cx="1085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0A48C9F8-9023-3EA1-20A7-BB4C23ADD5DE}"/>
              </a:ext>
            </a:extLst>
          </p:cNvPr>
          <p:cNvSpPr>
            <a:spLocks noGrp="1" noChangeArrowheads="1"/>
          </p:cNvSpPr>
          <p:nvPr>
            <p:ph type="title"/>
          </p:nvPr>
        </p:nvSpPr>
        <p:spPr>
          <a:xfrm>
            <a:off x="2000250" y="228600"/>
            <a:ext cx="5624513" cy="857250"/>
          </a:xfrm>
        </p:spPr>
        <p:txBody>
          <a:bodyPr>
            <a:normAutofit/>
          </a:bodyPr>
          <a:lstStyle/>
          <a:p>
            <a:pPr eaLnBrk="1" hangingPunct="1">
              <a:defRPr/>
            </a:pPr>
            <a:r>
              <a:rPr lang="en-US" altLang="en-US" sz="2625">
                <a:effectLst>
                  <a:outerShdw blurRad="38100" dist="38100" dir="2700000" algn="tl">
                    <a:srgbClr val="C0C0C0"/>
                  </a:outerShdw>
                </a:effectLst>
                <a:latin typeface="Gill Sans MT" panose="020B0502020104020203" pitchFamily="34" charset="77"/>
              </a:rPr>
              <a:t>Botnet Command and Control (C&amp;C)</a:t>
            </a:r>
          </a:p>
        </p:txBody>
      </p:sp>
      <p:sp>
        <p:nvSpPr>
          <p:cNvPr id="72706" name="Rectangle 3">
            <a:extLst>
              <a:ext uri="{FF2B5EF4-FFF2-40B4-BE49-F238E27FC236}">
                <a16:creationId xmlns:a16="http://schemas.microsoft.com/office/drawing/2014/main" id="{920D8652-C3CF-1CC6-30F5-311B86B304A8}"/>
              </a:ext>
            </a:extLst>
          </p:cNvPr>
          <p:cNvSpPr>
            <a:spLocks noGrp="1" noChangeArrowheads="1"/>
          </p:cNvSpPr>
          <p:nvPr>
            <p:ph idx="1"/>
          </p:nvPr>
        </p:nvSpPr>
        <p:spPr>
          <a:xfrm>
            <a:off x="1657350" y="1028700"/>
            <a:ext cx="5624513" cy="3886200"/>
          </a:xfrm>
        </p:spPr>
        <p:txBody>
          <a:bodyPr/>
          <a:lstStyle/>
          <a:p>
            <a:pPr eaLnBrk="1" hangingPunct="1">
              <a:buFont typeface="Wingdings 2" pitchFamily="2" charset="2"/>
              <a:buNone/>
              <a:defRPr/>
            </a:pPr>
            <a:r>
              <a:rPr lang="en-US" altLang="en-US" sz="1875">
                <a:latin typeface="Gill Sans MT" panose="020B0502020104020203" pitchFamily="34" charset="77"/>
              </a:rPr>
              <a:t>From the Botmaster point of view</a:t>
            </a:r>
          </a:p>
          <a:p>
            <a:pPr eaLnBrk="1" hangingPunct="1">
              <a:defRPr/>
            </a:pPr>
            <a:r>
              <a:rPr lang="en-US" altLang="en-US" sz="1875">
                <a:latin typeface="Gill Sans MT" panose="020B0502020104020203" pitchFamily="34" charset="77"/>
              </a:rPr>
              <a:t>Centralized </a:t>
            </a:r>
          </a:p>
          <a:p>
            <a:pPr lvl="1" eaLnBrk="1" hangingPunct="1">
              <a:defRPr/>
            </a:pPr>
            <a:r>
              <a:rPr lang="en-US" altLang="en-US" sz="1575">
                <a:latin typeface="Gill Sans MT" panose="020B0502020104020203" pitchFamily="34" charset="77"/>
              </a:rPr>
              <a:t>Pro - easy to setup, fast commands dissemination</a:t>
            </a:r>
          </a:p>
          <a:p>
            <a:pPr lvl="1" eaLnBrk="1" hangingPunct="1">
              <a:defRPr/>
            </a:pPr>
            <a:r>
              <a:rPr lang="en-US" altLang="en-US" sz="1575">
                <a:latin typeface="Gill Sans MT" panose="020B0502020104020203" pitchFamily="34" charset="77"/>
              </a:rPr>
              <a:t>Cons - easy to detect , single point of failure</a:t>
            </a:r>
          </a:p>
          <a:p>
            <a:pPr eaLnBrk="1" hangingPunct="1">
              <a:defRPr/>
            </a:pPr>
            <a:endParaRPr lang="en-US" altLang="en-US" sz="1875">
              <a:latin typeface="Gill Sans MT" panose="020B0502020104020203" pitchFamily="34" charset="77"/>
            </a:endParaRPr>
          </a:p>
          <a:p>
            <a:pPr eaLnBrk="1" hangingPunct="1">
              <a:defRPr/>
            </a:pPr>
            <a:r>
              <a:rPr lang="en-US" altLang="en-US" sz="1875">
                <a:latin typeface="Gill Sans MT" panose="020B0502020104020203" pitchFamily="34" charset="77"/>
              </a:rPr>
              <a:t>Peer-to-Peer Topology </a:t>
            </a:r>
          </a:p>
          <a:p>
            <a:pPr lvl="1" eaLnBrk="1" hangingPunct="1">
              <a:defRPr/>
            </a:pPr>
            <a:r>
              <a:rPr lang="en-US" altLang="en-US" sz="1575">
                <a:latin typeface="Gill Sans MT" panose="020B0502020104020203" pitchFamily="34" charset="77"/>
              </a:rPr>
              <a:t>Pro – decentralized,  not easy to detect , not single point of failure</a:t>
            </a:r>
          </a:p>
          <a:p>
            <a:pPr lvl="1" eaLnBrk="1" hangingPunct="1">
              <a:defRPr/>
            </a:pPr>
            <a:r>
              <a:rPr lang="en-US" altLang="en-US" sz="1575">
                <a:latin typeface="Gill Sans MT" panose="020B0502020104020203" pitchFamily="34" charset="77"/>
              </a:rPr>
              <a:t>Cons – not easy to setup (more complex), message delivery not guaranteed and high latency</a:t>
            </a:r>
          </a:p>
          <a:p>
            <a:pPr eaLnBrk="1" hangingPunct="1">
              <a:defRPr/>
            </a:pPr>
            <a:endParaRPr lang="en-US" altLang="en-US" sz="1875">
              <a:latin typeface="Gill Sans MT" panose="020B0502020104020203" pitchFamily="34" charset="77"/>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E3937BD4-1CE1-C518-53F5-F1ADF2031C35}"/>
              </a:ext>
            </a:extLst>
          </p:cNvPr>
          <p:cNvSpPr>
            <a:spLocks noGrp="1"/>
          </p:cNvSpPr>
          <p:nvPr>
            <p:ph type="title"/>
          </p:nvPr>
        </p:nvSpPr>
        <p:spPr/>
        <p:txBody>
          <a:bodyPr/>
          <a:lstStyle/>
          <a:p>
            <a:pPr eaLnBrk="1" hangingPunct="1"/>
            <a:r>
              <a:rPr lang="en-US" altLang="en-US"/>
              <a:t>Botnet History: How we got here</a:t>
            </a:r>
          </a:p>
        </p:txBody>
      </p:sp>
      <p:sp>
        <p:nvSpPr>
          <p:cNvPr id="67587" name="Rectangle 3">
            <a:extLst>
              <a:ext uri="{FF2B5EF4-FFF2-40B4-BE49-F238E27FC236}">
                <a16:creationId xmlns:a16="http://schemas.microsoft.com/office/drawing/2014/main" id="{0B3BDC23-0823-956D-2713-17781CEE35C6}"/>
              </a:ext>
            </a:extLst>
          </p:cNvPr>
          <p:cNvSpPr>
            <a:spLocks noGrp="1" noChangeArrowheads="1"/>
          </p:cNvSpPr>
          <p:nvPr>
            <p:ph idx="1"/>
          </p:nvPr>
        </p:nvSpPr>
        <p:spPr>
          <a:xfrm>
            <a:off x="1485900" y="1120775"/>
            <a:ext cx="6172200" cy="3622675"/>
          </a:xfrm>
        </p:spPr>
        <p:txBody>
          <a:bodyPr rtlCol="0">
            <a:normAutofit fontScale="92500" lnSpcReduction="10000"/>
          </a:bodyPr>
          <a:lstStyle/>
          <a:p>
            <a:pPr eaLnBrk="1" fontAlgn="auto" hangingPunct="1">
              <a:lnSpc>
                <a:spcPct val="90000"/>
              </a:lnSpc>
              <a:spcAft>
                <a:spcPts val="0"/>
              </a:spcAft>
              <a:buFont typeface="Arial"/>
              <a:buChar char="•"/>
              <a:defRPr/>
            </a:pPr>
            <a:r>
              <a:rPr lang="en-US" b="1" dirty="0">
                <a:solidFill>
                  <a:srgbClr val="FF3300"/>
                </a:solidFill>
                <a:ea typeface="+mn-ea"/>
              </a:rPr>
              <a:t>Early 1990s: </a:t>
            </a:r>
            <a:r>
              <a:rPr lang="en-US" dirty="0">
                <a:ea typeface="+mn-ea"/>
              </a:rPr>
              <a:t>IRC bots</a:t>
            </a:r>
          </a:p>
          <a:p>
            <a:pPr lvl="1" eaLnBrk="1" fontAlgn="auto" hangingPunct="1">
              <a:lnSpc>
                <a:spcPct val="90000"/>
              </a:lnSpc>
              <a:spcAft>
                <a:spcPts val="0"/>
              </a:spcAft>
              <a:buFont typeface="Arial"/>
              <a:buChar char="–"/>
              <a:defRPr/>
            </a:pPr>
            <a:r>
              <a:rPr lang="en-US" dirty="0" err="1">
                <a:ea typeface="+mn-ea"/>
              </a:rPr>
              <a:t>eggdrop</a:t>
            </a:r>
            <a:r>
              <a:rPr lang="en-US" dirty="0">
                <a:ea typeface="+mn-ea"/>
              </a:rPr>
              <a:t>: automated management of IRC channels</a:t>
            </a:r>
          </a:p>
          <a:p>
            <a:pPr lvl="1" eaLnBrk="1" fontAlgn="auto" hangingPunct="1">
              <a:lnSpc>
                <a:spcPct val="90000"/>
              </a:lnSpc>
              <a:spcAft>
                <a:spcPts val="0"/>
              </a:spcAft>
              <a:buFont typeface="Arial"/>
              <a:buChar char="–"/>
              <a:defRPr/>
            </a:pPr>
            <a:endParaRPr lang="en-US" dirty="0">
              <a:ea typeface="+mn-ea"/>
            </a:endParaRPr>
          </a:p>
          <a:p>
            <a:pPr eaLnBrk="1" fontAlgn="auto" hangingPunct="1">
              <a:lnSpc>
                <a:spcPct val="90000"/>
              </a:lnSpc>
              <a:spcAft>
                <a:spcPts val="0"/>
              </a:spcAft>
              <a:buFont typeface="Arial"/>
              <a:buChar char="•"/>
              <a:defRPr/>
            </a:pPr>
            <a:r>
              <a:rPr lang="en-US" b="1" dirty="0">
                <a:solidFill>
                  <a:srgbClr val="FF3300"/>
                </a:solidFill>
                <a:ea typeface="+mn-ea"/>
              </a:rPr>
              <a:t>1999-2000:</a:t>
            </a:r>
            <a:r>
              <a:rPr lang="en-US" dirty="0">
                <a:ea typeface="+mn-ea"/>
              </a:rPr>
              <a:t> </a:t>
            </a:r>
            <a:r>
              <a:rPr lang="en-US" dirty="0" err="1">
                <a:ea typeface="+mn-ea"/>
              </a:rPr>
              <a:t>DDoS</a:t>
            </a:r>
            <a:r>
              <a:rPr lang="en-US" dirty="0">
                <a:ea typeface="+mn-ea"/>
              </a:rPr>
              <a:t> tools</a:t>
            </a:r>
          </a:p>
          <a:p>
            <a:pPr lvl="1" eaLnBrk="1" fontAlgn="auto" hangingPunct="1">
              <a:lnSpc>
                <a:spcPct val="90000"/>
              </a:lnSpc>
              <a:spcAft>
                <a:spcPts val="0"/>
              </a:spcAft>
              <a:buFont typeface="Arial"/>
              <a:buChar char="–"/>
              <a:defRPr/>
            </a:pPr>
            <a:r>
              <a:rPr lang="en-US" dirty="0" err="1">
                <a:ea typeface="+mn-ea"/>
              </a:rPr>
              <a:t>Trinoo</a:t>
            </a:r>
            <a:r>
              <a:rPr lang="en-US" dirty="0">
                <a:ea typeface="+mn-ea"/>
              </a:rPr>
              <a:t>, TFN2k, </a:t>
            </a:r>
            <a:r>
              <a:rPr lang="en-US" dirty="0" err="1">
                <a:ea typeface="+mn-ea"/>
              </a:rPr>
              <a:t>Stacheldraht</a:t>
            </a:r>
            <a:endParaRPr lang="en-US" dirty="0">
              <a:ea typeface="+mn-ea"/>
            </a:endParaRPr>
          </a:p>
          <a:p>
            <a:pPr lvl="1" eaLnBrk="1" fontAlgn="auto" hangingPunct="1">
              <a:lnSpc>
                <a:spcPct val="90000"/>
              </a:lnSpc>
              <a:spcAft>
                <a:spcPts val="0"/>
              </a:spcAft>
              <a:buFont typeface="Arial"/>
              <a:buChar char="–"/>
              <a:defRPr/>
            </a:pPr>
            <a:endParaRPr lang="en-US" dirty="0">
              <a:ea typeface="+mn-ea"/>
            </a:endParaRPr>
          </a:p>
          <a:p>
            <a:pPr eaLnBrk="1" fontAlgn="auto" hangingPunct="1">
              <a:lnSpc>
                <a:spcPct val="90000"/>
              </a:lnSpc>
              <a:spcAft>
                <a:spcPts val="0"/>
              </a:spcAft>
              <a:buFont typeface="Arial"/>
              <a:buChar char="•"/>
              <a:defRPr/>
            </a:pPr>
            <a:r>
              <a:rPr lang="en-US" b="1" dirty="0">
                <a:solidFill>
                  <a:srgbClr val="FF3300"/>
                </a:solidFill>
                <a:ea typeface="+mn-ea"/>
              </a:rPr>
              <a:t>1998-2000:</a:t>
            </a:r>
            <a:r>
              <a:rPr lang="en-US" b="1" dirty="0">
                <a:ea typeface="+mn-ea"/>
              </a:rPr>
              <a:t> </a:t>
            </a:r>
            <a:r>
              <a:rPr lang="en-US" dirty="0">
                <a:ea typeface="+mn-ea"/>
              </a:rPr>
              <a:t>Trojans</a:t>
            </a:r>
          </a:p>
          <a:p>
            <a:pPr lvl="1" eaLnBrk="1" fontAlgn="auto" hangingPunct="1">
              <a:lnSpc>
                <a:spcPct val="90000"/>
              </a:lnSpc>
              <a:spcAft>
                <a:spcPts val="0"/>
              </a:spcAft>
              <a:buFont typeface="Arial"/>
              <a:buChar char="–"/>
              <a:defRPr/>
            </a:pPr>
            <a:r>
              <a:rPr lang="en-US" dirty="0" err="1">
                <a:ea typeface="+mn-ea"/>
              </a:rPr>
              <a:t>BackOrifice</a:t>
            </a:r>
            <a:r>
              <a:rPr lang="en-US" dirty="0">
                <a:ea typeface="+mn-ea"/>
              </a:rPr>
              <a:t>, BackOrifice2k, </a:t>
            </a:r>
            <a:r>
              <a:rPr lang="en-US" dirty="0" err="1">
                <a:ea typeface="+mn-ea"/>
              </a:rPr>
              <a:t>SubSeven</a:t>
            </a:r>
            <a:endParaRPr lang="en-US" dirty="0">
              <a:ea typeface="+mn-ea"/>
            </a:endParaRPr>
          </a:p>
          <a:p>
            <a:pPr lvl="1" eaLnBrk="1" fontAlgn="auto" hangingPunct="1">
              <a:lnSpc>
                <a:spcPct val="90000"/>
              </a:lnSpc>
              <a:spcAft>
                <a:spcPts val="0"/>
              </a:spcAft>
              <a:buFont typeface="Arial"/>
              <a:buChar char="–"/>
              <a:defRPr/>
            </a:pPr>
            <a:endParaRPr lang="en-US" dirty="0">
              <a:ea typeface="+mn-ea"/>
            </a:endParaRPr>
          </a:p>
          <a:p>
            <a:pPr eaLnBrk="1" fontAlgn="auto" hangingPunct="1">
              <a:lnSpc>
                <a:spcPct val="90000"/>
              </a:lnSpc>
              <a:spcAft>
                <a:spcPts val="0"/>
              </a:spcAft>
              <a:buFont typeface="Arial"/>
              <a:buChar char="•"/>
              <a:defRPr/>
            </a:pPr>
            <a:r>
              <a:rPr lang="en-US" b="1" dirty="0">
                <a:solidFill>
                  <a:srgbClr val="FF3300"/>
                </a:solidFill>
                <a:ea typeface="+mn-ea"/>
              </a:rPr>
              <a:t>2001- :</a:t>
            </a:r>
            <a:r>
              <a:rPr lang="en-US" dirty="0">
                <a:ea typeface="+mn-ea"/>
              </a:rPr>
              <a:t> Worms</a:t>
            </a:r>
          </a:p>
          <a:p>
            <a:pPr lvl="1" eaLnBrk="1" fontAlgn="auto" hangingPunct="1">
              <a:lnSpc>
                <a:spcPct val="90000"/>
              </a:lnSpc>
              <a:spcAft>
                <a:spcPts val="0"/>
              </a:spcAft>
              <a:buFont typeface="Arial"/>
              <a:buChar char="–"/>
              <a:defRPr/>
            </a:pPr>
            <a:r>
              <a:rPr lang="en-US" dirty="0">
                <a:ea typeface="+mn-ea"/>
              </a:rPr>
              <a:t>Code Red, Blaster, </a:t>
            </a:r>
            <a:r>
              <a:rPr lang="en-US" dirty="0" err="1">
                <a:ea typeface="+mn-ea"/>
              </a:rPr>
              <a:t>Sasser</a:t>
            </a:r>
            <a:endParaRPr lang="en-US" dirty="0">
              <a:ea typeface="+mn-ea"/>
            </a:endParaRPr>
          </a:p>
        </p:txBody>
      </p:sp>
      <p:sp>
        <p:nvSpPr>
          <p:cNvPr id="67588" name="Text Box 4">
            <a:extLst>
              <a:ext uri="{FF2B5EF4-FFF2-40B4-BE49-F238E27FC236}">
                <a16:creationId xmlns:a16="http://schemas.microsoft.com/office/drawing/2014/main" id="{A871F004-77CE-B5B8-837D-262023F1884C}"/>
              </a:ext>
            </a:extLst>
          </p:cNvPr>
          <p:cNvSpPr txBox="1">
            <a:spLocks noChangeArrowheads="1"/>
          </p:cNvSpPr>
          <p:nvPr/>
        </p:nvSpPr>
        <p:spPr bwMode="auto">
          <a:xfrm>
            <a:off x="2057400" y="4789488"/>
            <a:ext cx="5029200" cy="322262"/>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500" b="1">
                <a:solidFill>
                  <a:srgbClr val="FF3300"/>
                </a:solidFill>
              </a:rPr>
              <a:t>Put these pieces together and add a controller…</a:t>
            </a:r>
          </a:p>
        </p:txBody>
      </p:sp>
      <p:sp>
        <p:nvSpPr>
          <p:cNvPr id="67589" name="Line 5">
            <a:extLst>
              <a:ext uri="{FF2B5EF4-FFF2-40B4-BE49-F238E27FC236}">
                <a16:creationId xmlns:a16="http://schemas.microsoft.com/office/drawing/2014/main" id="{1970734C-70C6-6EE4-8066-D024325FE41B}"/>
              </a:ext>
            </a:extLst>
          </p:cNvPr>
          <p:cNvSpPr>
            <a:spLocks noChangeShapeType="1"/>
          </p:cNvSpPr>
          <p:nvPr/>
        </p:nvSpPr>
        <p:spPr bwMode="auto">
          <a:xfrm flipH="1">
            <a:off x="4572000" y="4171950"/>
            <a:ext cx="7207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7590" name="Text Box 6">
            <a:extLst>
              <a:ext uri="{FF2B5EF4-FFF2-40B4-BE49-F238E27FC236}">
                <a16:creationId xmlns:a16="http://schemas.microsoft.com/office/drawing/2014/main" id="{E595381A-9F50-8286-FF2F-0688031AB816}"/>
              </a:ext>
            </a:extLst>
          </p:cNvPr>
          <p:cNvSpPr txBox="1">
            <a:spLocks noChangeArrowheads="1"/>
          </p:cNvSpPr>
          <p:nvPr/>
        </p:nvSpPr>
        <p:spPr bwMode="auto">
          <a:xfrm>
            <a:off x="5257800" y="3886200"/>
            <a:ext cx="2400300" cy="923925"/>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b="1">
                <a:solidFill>
                  <a:srgbClr val="FF3300"/>
                </a:solidFill>
              </a:rPr>
              <a:t>Fast spreading capabilities pose big threat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58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87">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758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587">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7587">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587">
                                            <p:txEl>
                                              <p:pRg st="10" end="1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758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675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nimBg="1"/>
      <p:bldP spid="6759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160886DF-72FA-2888-1FB8-955F682A8522}"/>
              </a:ext>
            </a:extLst>
          </p:cNvPr>
          <p:cNvSpPr>
            <a:spLocks noGrp="1"/>
          </p:cNvSpPr>
          <p:nvPr>
            <p:ph type="title"/>
          </p:nvPr>
        </p:nvSpPr>
        <p:spPr>
          <a:xfrm>
            <a:off x="152400" y="217488"/>
            <a:ext cx="8763000" cy="857250"/>
          </a:xfrm>
        </p:spPr>
        <p:txBody>
          <a:bodyPr/>
          <a:lstStyle/>
          <a:p>
            <a:pPr eaLnBrk="1" hangingPunct="1"/>
            <a:r>
              <a:rPr lang="en-US" altLang="en-US"/>
              <a:t>Putting it together</a:t>
            </a:r>
          </a:p>
        </p:txBody>
      </p:sp>
      <p:pic>
        <p:nvPicPr>
          <p:cNvPr id="102402" name="Picture 3">
            <a:extLst>
              <a:ext uri="{FF2B5EF4-FFF2-40B4-BE49-F238E27FC236}">
                <a16:creationId xmlns:a16="http://schemas.microsoft.com/office/drawing/2014/main" id="{B6A9AAF2-2BD4-85B1-1D8A-3C2BB3D039D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t="3696" b="3696"/>
          <a:stretch>
            <a:fillRect/>
          </a:stretch>
        </p:blipFill>
        <p:spPr>
          <a:xfrm>
            <a:off x="457200" y="1200150"/>
            <a:ext cx="4038600" cy="3394075"/>
          </a:xfrm>
        </p:spPr>
      </p:pic>
      <p:sp>
        <p:nvSpPr>
          <p:cNvPr id="69636" name="Rectangle 4">
            <a:extLst>
              <a:ext uri="{FF2B5EF4-FFF2-40B4-BE49-F238E27FC236}">
                <a16:creationId xmlns:a16="http://schemas.microsoft.com/office/drawing/2014/main" id="{80D3004B-75AB-CF7A-4375-B32E32408B5C}"/>
              </a:ext>
            </a:extLst>
          </p:cNvPr>
          <p:cNvSpPr>
            <a:spLocks noGrp="1" noChangeArrowheads="1"/>
          </p:cNvSpPr>
          <p:nvPr>
            <p:ph type="body" sz="half" idx="2"/>
          </p:nvPr>
        </p:nvSpPr>
        <p:spPr>
          <a:xfrm>
            <a:off x="4743450" y="1463675"/>
            <a:ext cx="3028950" cy="2708275"/>
          </a:xfrm>
        </p:spPr>
        <p:txBody>
          <a:bodyPr rtlCol="0">
            <a:normAutofit fontScale="92500" lnSpcReduction="10000"/>
          </a:bodyPr>
          <a:lstStyle/>
          <a:p>
            <a:pPr eaLnBrk="1" fontAlgn="auto" hangingPunct="1">
              <a:spcAft>
                <a:spcPts val="0"/>
              </a:spcAft>
              <a:buClr>
                <a:schemeClr val="tx1"/>
              </a:buClr>
              <a:buFont typeface="Wingdings" charset="0"/>
              <a:buAutoNum type="arabicPeriod"/>
              <a:defRPr/>
            </a:pPr>
            <a:r>
              <a:rPr lang="en-US" sz="1500" dirty="0">
                <a:ea typeface="+mn-ea"/>
              </a:rPr>
              <a:t>Miscreant (</a:t>
            </a:r>
            <a:r>
              <a:rPr lang="en-US" sz="1500" dirty="0" err="1">
                <a:ea typeface="+mn-ea"/>
              </a:rPr>
              <a:t>botherd</a:t>
            </a:r>
            <a:r>
              <a:rPr lang="en-US" sz="1500" dirty="0">
                <a:ea typeface="+mn-ea"/>
              </a:rPr>
              <a:t>) launches worm, virus, or other mechanism to infect Windows machine.</a:t>
            </a:r>
          </a:p>
          <a:p>
            <a:pPr eaLnBrk="1" fontAlgn="auto" hangingPunct="1">
              <a:spcAft>
                <a:spcPts val="0"/>
              </a:spcAft>
              <a:buClr>
                <a:schemeClr val="tx1"/>
              </a:buClr>
              <a:buFont typeface="Wingdings" charset="0"/>
              <a:buAutoNum type="arabicPeriod"/>
              <a:defRPr/>
            </a:pPr>
            <a:endParaRPr lang="en-US" sz="1500" dirty="0">
              <a:ea typeface="+mn-ea"/>
            </a:endParaRPr>
          </a:p>
          <a:p>
            <a:pPr eaLnBrk="1" fontAlgn="auto" hangingPunct="1">
              <a:spcAft>
                <a:spcPts val="0"/>
              </a:spcAft>
              <a:buClr>
                <a:schemeClr val="tx1"/>
              </a:buClr>
              <a:buFont typeface="Wingdings" charset="0"/>
              <a:buAutoNum type="arabicPeriod"/>
              <a:defRPr/>
            </a:pPr>
            <a:r>
              <a:rPr lang="en-US" sz="1500" dirty="0">
                <a:ea typeface="+mn-ea"/>
              </a:rPr>
              <a:t>Infected machines contact botnet controller. </a:t>
            </a:r>
          </a:p>
          <a:p>
            <a:pPr eaLnBrk="1" fontAlgn="auto" hangingPunct="1">
              <a:spcAft>
                <a:spcPts val="0"/>
              </a:spcAft>
              <a:buClr>
                <a:schemeClr val="tx1"/>
              </a:buClr>
              <a:buFont typeface="Wingdings" charset="0"/>
              <a:buAutoNum type="arabicPeriod"/>
              <a:defRPr/>
            </a:pPr>
            <a:endParaRPr lang="en-US" sz="1500" dirty="0">
              <a:ea typeface="+mn-ea"/>
            </a:endParaRPr>
          </a:p>
          <a:p>
            <a:pPr eaLnBrk="1" fontAlgn="auto" hangingPunct="1">
              <a:spcAft>
                <a:spcPts val="0"/>
              </a:spcAft>
              <a:buClr>
                <a:schemeClr val="tx1"/>
              </a:buClr>
              <a:buFont typeface="Wingdings" charset="0"/>
              <a:buAutoNum type="arabicPeriod"/>
              <a:defRPr/>
            </a:pPr>
            <a:r>
              <a:rPr lang="en-US" sz="1500" dirty="0">
                <a:ea typeface="+mn-ea"/>
              </a:rPr>
              <a:t>Spammer (sponsor) pays miscreant for use of botnet.</a:t>
            </a:r>
          </a:p>
          <a:p>
            <a:pPr eaLnBrk="1" fontAlgn="auto" hangingPunct="1">
              <a:spcAft>
                <a:spcPts val="0"/>
              </a:spcAft>
              <a:buClr>
                <a:schemeClr val="tx1"/>
              </a:buClr>
              <a:buFont typeface="Wingdings" charset="0"/>
              <a:buAutoNum type="arabicPeriod"/>
              <a:defRPr/>
            </a:pPr>
            <a:endParaRPr lang="en-US" sz="1500" dirty="0">
              <a:ea typeface="+mn-ea"/>
            </a:endParaRPr>
          </a:p>
          <a:p>
            <a:pPr eaLnBrk="1" fontAlgn="auto" hangingPunct="1">
              <a:spcAft>
                <a:spcPts val="0"/>
              </a:spcAft>
              <a:buClr>
                <a:schemeClr val="tx1"/>
              </a:buClr>
              <a:buFont typeface="Wingdings" charset="0"/>
              <a:buAutoNum type="arabicPeriod"/>
              <a:defRPr/>
            </a:pPr>
            <a:r>
              <a:rPr lang="en-US" sz="1500" dirty="0">
                <a:ea typeface="+mn-ea"/>
              </a:rPr>
              <a:t>Spammer uses botnet to send spam emails.  </a:t>
            </a:r>
          </a:p>
        </p:txBody>
      </p:sp>
      <p:sp>
        <p:nvSpPr>
          <p:cNvPr id="76804" name="TextBox 1">
            <a:extLst>
              <a:ext uri="{FF2B5EF4-FFF2-40B4-BE49-F238E27FC236}">
                <a16:creationId xmlns:a16="http://schemas.microsoft.com/office/drawing/2014/main" id="{4F192C50-50B8-877B-8770-7F6BDE33D816}"/>
              </a:ext>
            </a:extLst>
          </p:cNvPr>
          <p:cNvSpPr txBox="1">
            <a:spLocks noChangeArrowheads="1"/>
          </p:cNvSpPr>
          <p:nvPr/>
        </p:nvSpPr>
        <p:spPr bwMode="auto">
          <a:xfrm>
            <a:off x="1485900" y="4743450"/>
            <a:ext cx="3200400" cy="300038"/>
          </a:xfrm>
          <a:prstGeom prst="rect">
            <a:avLst/>
          </a:prstGeom>
          <a:noFill/>
          <a:ln>
            <a:noFill/>
          </a:ln>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US" altLang="en-US" sz="1350"/>
              <a:t>Source: Wikipedia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F86EE173-B014-BFD8-A1BE-C6C23510A3F3}"/>
              </a:ext>
            </a:extLst>
          </p:cNvPr>
          <p:cNvSpPr>
            <a:spLocks noGrp="1"/>
          </p:cNvSpPr>
          <p:nvPr>
            <p:ph type="title"/>
          </p:nvPr>
        </p:nvSpPr>
        <p:spPr/>
        <p:txBody>
          <a:bodyPr/>
          <a:lstStyle/>
          <a:p>
            <a:pPr eaLnBrk="1" hangingPunct="1"/>
            <a:r>
              <a:rPr lang="en-US" altLang="en-US"/>
              <a:t>Botnet Usage </a:t>
            </a:r>
          </a:p>
        </p:txBody>
      </p:sp>
      <p:sp>
        <p:nvSpPr>
          <p:cNvPr id="16387" name="Rectangle 3">
            <a:extLst>
              <a:ext uri="{FF2B5EF4-FFF2-40B4-BE49-F238E27FC236}">
                <a16:creationId xmlns:a16="http://schemas.microsoft.com/office/drawing/2014/main" id="{87529E97-EA16-F771-A340-F54F8A4946B1}"/>
              </a:ext>
            </a:extLst>
          </p:cNvPr>
          <p:cNvSpPr>
            <a:spLocks noGrp="1" noChangeArrowheads="1"/>
          </p:cNvSpPr>
          <p:nvPr>
            <p:ph idx="1"/>
          </p:nvPr>
        </p:nvSpPr>
        <p:spPr/>
        <p:txBody>
          <a:bodyPr rtlCol="0">
            <a:normAutofit lnSpcReduction="10000"/>
          </a:bodyPr>
          <a:lstStyle/>
          <a:p>
            <a:pPr eaLnBrk="1" fontAlgn="auto" hangingPunct="1">
              <a:spcAft>
                <a:spcPts val="0"/>
              </a:spcAft>
              <a:buFont typeface="Arial"/>
              <a:buChar char="•"/>
              <a:defRPr/>
            </a:pPr>
            <a:r>
              <a:rPr lang="en-US" dirty="0">
                <a:latin typeface="+mj-lt"/>
                <a:ea typeface="+mn-ea"/>
              </a:rPr>
              <a:t>DDOS</a:t>
            </a:r>
          </a:p>
          <a:p>
            <a:pPr eaLnBrk="1" fontAlgn="auto" hangingPunct="1">
              <a:spcAft>
                <a:spcPts val="0"/>
              </a:spcAft>
              <a:buFont typeface="Arial"/>
              <a:buChar char="•"/>
              <a:defRPr/>
            </a:pPr>
            <a:r>
              <a:rPr lang="en-US" dirty="0">
                <a:latin typeface="+mj-lt"/>
                <a:ea typeface="+mn-ea"/>
              </a:rPr>
              <a:t>Spam</a:t>
            </a:r>
          </a:p>
          <a:p>
            <a:pPr eaLnBrk="1" fontAlgn="auto" hangingPunct="1">
              <a:spcAft>
                <a:spcPts val="0"/>
              </a:spcAft>
              <a:buFont typeface="Arial"/>
              <a:buChar char="•"/>
              <a:defRPr/>
            </a:pPr>
            <a:r>
              <a:rPr lang="en-US" dirty="0">
                <a:latin typeface="+mj-lt"/>
                <a:ea typeface="+mn-ea"/>
              </a:rPr>
              <a:t>Sniffing traffic</a:t>
            </a:r>
          </a:p>
          <a:p>
            <a:pPr eaLnBrk="1" fontAlgn="auto" hangingPunct="1">
              <a:spcAft>
                <a:spcPts val="0"/>
              </a:spcAft>
              <a:buFont typeface="Arial"/>
              <a:buChar char="•"/>
              <a:defRPr/>
            </a:pPr>
            <a:r>
              <a:rPr lang="en-US" dirty="0" err="1">
                <a:latin typeface="+mj-lt"/>
                <a:ea typeface="+mn-ea"/>
              </a:rPr>
              <a:t>Keylogging</a:t>
            </a:r>
            <a:endParaRPr lang="en-US" dirty="0">
              <a:latin typeface="+mj-lt"/>
              <a:ea typeface="+mn-ea"/>
            </a:endParaRPr>
          </a:p>
          <a:p>
            <a:pPr eaLnBrk="1" fontAlgn="auto" hangingPunct="1">
              <a:spcAft>
                <a:spcPts val="0"/>
              </a:spcAft>
              <a:buFont typeface="Arial"/>
              <a:buChar char="•"/>
              <a:defRPr/>
            </a:pPr>
            <a:r>
              <a:rPr lang="en-US" dirty="0">
                <a:latin typeface="+mj-lt"/>
                <a:ea typeface="+mn-ea"/>
              </a:rPr>
              <a:t>Installing Advertisement Add-ons and Browser Helper Objects (BHOs)</a:t>
            </a:r>
          </a:p>
          <a:p>
            <a:pPr eaLnBrk="1" fontAlgn="auto" hangingPunct="1">
              <a:spcAft>
                <a:spcPts val="0"/>
              </a:spcAft>
              <a:buFont typeface="Arial"/>
              <a:buChar char="•"/>
              <a:defRPr/>
            </a:pPr>
            <a:r>
              <a:rPr lang="en-US" dirty="0">
                <a:latin typeface="+mj-lt"/>
                <a:ea typeface="+mn-ea"/>
              </a:rPr>
              <a:t>Manipulating online polls/games</a:t>
            </a:r>
          </a:p>
          <a:p>
            <a:pPr eaLnBrk="1" fontAlgn="auto" hangingPunct="1">
              <a:spcAft>
                <a:spcPts val="0"/>
              </a:spcAft>
              <a:buFont typeface="Arial"/>
              <a:buChar char="•"/>
              <a:defRPr/>
            </a:pPr>
            <a:r>
              <a:rPr lang="en-US" dirty="0">
                <a:latin typeface="+mj-lt"/>
                <a:ea typeface="+mn-ea"/>
              </a:rPr>
              <a:t>Mass ID theft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42643A-3277-16A8-CF83-4AABC4F6D0FA}"/>
              </a:ext>
            </a:extLst>
          </p:cNvPr>
          <p:cNvSpPr>
            <a:spLocks noGrp="1"/>
          </p:cNvSpPr>
          <p:nvPr>
            <p:ph type="title"/>
          </p:nvPr>
        </p:nvSpPr>
        <p:spPr>
          <a:xfrm>
            <a:off x="1485900" y="1428750"/>
            <a:ext cx="6172200" cy="857250"/>
          </a:xfrm>
        </p:spPr>
        <p:txBody>
          <a:bodyPr rtlCol="0">
            <a:normAutofit fontScale="90000"/>
          </a:bodyPr>
          <a:lstStyle/>
          <a:p>
            <a:pPr eaLnBrk="1" fontAlgn="auto" hangingPunct="1">
              <a:spcAft>
                <a:spcPts val="0"/>
              </a:spcAft>
              <a:defRPr/>
            </a:pPr>
            <a:r>
              <a:rPr lang="en-US" dirty="0">
                <a:ea typeface="+mj-ea"/>
              </a:rPr>
              <a:t>Defenses: Monitoring and Takedown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a:extLst>
              <a:ext uri="{FF2B5EF4-FFF2-40B4-BE49-F238E27FC236}">
                <a16:creationId xmlns:a16="http://schemas.microsoft.com/office/drawing/2014/main" id="{22061DBE-8D6F-D500-93B9-484FBC36D1A5}"/>
              </a:ext>
            </a:extLst>
          </p:cNvPr>
          <p:cNvSpPr>
            <a:spLocks noGrp="1"/>
          </p:cNvSpPr>
          <p:nvPr>
            <p:ph type="title"/>
          </p:nvPr>
        </p:nvSpPr>
        <p:spPr/>
        <p:txBody>
          <a:bodyPr/>
          <a:lstStyle/>
          <a:p>
            <a:pPr eaLnBrk="1" hangingPunct="1"/>
            <a:r>
              <a:rPr lang="en-US" altLang="en-US"/>
              <a:t>Early Days: IRC-Based Monitoring</a:t>
            </a:r>
          </a:p>
        </p:txBody>
      </p:sp>
      <p:sp>
        <p:nvSpPr>
          <p:cNvPr id="106498" name="Content Placeholder 2">
            <a:extLst>
              <a:ext uri="{FF2B5EF4-FFF2-40B4-BE49-F238E27FC236}">
                <a16:creationId xmlns:a16="http://schemas.microsoft.com/office/drawing/2014/main" id="{84BA12FB-EEB5-AC85-8FE3-9B409DEE3035}"/>
              </a:ext>
            </a:extLst>
          </p:cNvPr>
          <p:cNvSpPr>
            <a:spLocks noGrp="1"/>
          </p:cNvSpPr>
          <p:nvPr>
            <p:ph idx="1"/>
          </p:nvPr>
        </p:nvSpPr>
        <p:spPr/>
        <p:txBody>
          <a:bodyPr/>
          <a:lstStyle/>
          <a:p>
            <a:pPr eaLnBrk="1" hangingPunct="1"/>
            <a:r>
              <a:rPr lang="en-US" altLang="en-US"/>
              <a:t>Join IRC channel, monitor all communications</a:t>
            </a:r>
          </a:p>
          <a:p>
            <a:pPr eaLnBrk="1" hangingPunct="1"/>
            <a:endParaRPr lang="en-US" altLang="en-US"/>
          </a:p>
          <a:p>
            <a:pPr eaLnBrk="1" hangingPunct="1"/>
            <a:r>
              <a:rPr lang="en-US" altLang="en-US"/>
              <a:t>This approach became more difficult over time</a:t>
            </a:r>
          </a:p>
          <a:p>
            <a:pPr lvl="1" eaLnBrk="1" hangingPunct="1"/>
            <a:r>
              <a:rPr lang="en-US" altLang="en-US"/>
              <a:t>Move towards encrypted C&amp;C Communication</a:t>
            </a:r>
          </a:p>
          <a:p>
            <a:pPr lvl="1" eaLnBrk="1" hangingPunct="1"/>
            <a:r>
              <a:rPr lang="en-US" altLang="en-US"/>
              <a:t>Move away from IRC-based botnets (as predicted)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AEEA3E21-0231-11CF-527A-496CF2FD4C89}"/>
              </a:ext>
            </a:extLst>
          </p:cNvPr>
          <p:cNvSpPr>
            <a:spLocks noGrp="1"/>
          </p:cNvSpPr>
          <p:nvPr>
            <p:ph type="title"/>
          </p:nvPr>
        </p:nvSpPr>
        <p:spPr/>
        <p:txBody>
          <a:bodyPr/>
          <a:lstStyle/>
          <a:p>
            <a:pPr eaLnBrk="1" hangingPunct="1"/>
            <a:r>
              <a:rPr lang="en-US" altLang="en-US"/>
              <a:t>Botnet Detection and Tracking</a:t>
            </a:r>
          </a:p>
        </p:txBody>
      </p:sp>
      <p:sp>
        <p:nvSpPr>
          <p:cNvPr id="71683" name="Rectangle 3">
            <a:extLst>
              <a:ext uri="{FF2B5EF4-FFF2-40B4-BE49-F238E27FC236}">
                <a16:creationId xmlns:a16="http://schemas.microsoft.com/office/drawing/2014/main" id="{EC1510B7-5710-C251-A15A-5BD01F11DB48}"/>
              </a:ext>
            </a:extLst>
          </p:cNvPr>
          <p:cNvSpPr>
            <a:spLocks noGrp="1"/>
          </p:cNvSpPr>
          <p:nvPr>
            <p:ph idx="1"/>
          </p:nvPr>
        </p:nvSpPr>
        <p:spPr>
          <a:xfrm>
            <a:off x="1485900" y="1200150"/>
            <a:ext cx="6515100" cy="3657600"/>
          </a:xfrm>
        </p:spPr>
        <p:txBody>
          <a:bodyPr/>
          <a:lstStyle/>
          <a:p>
            <a:pPr eaLnBrk="1" hangingPunct="1"/>
            <a:r>
              <a:rPr lang="en-US" altLang="en-US" sz="1800"/>
              <a:t>Network Intrusion Detection Systems (</a:t>
            </a:r>
            <a:r>
              <a:rPr lang="en-US" altLang="en-US" sz="1800" i="1"/>
              <a:t>e.g.,</a:t>
            </a:r>
            <a:r>
              <a:rPr lang="en-US" altLang="en-US" sz="1800"/>
              <a:t> Snort)</a:t>
            </a:r>
          </a:p>
          <a:p>
            <a:pPr lvl="1" eaLnBrk="1" hangingPunct="1"/>
            <a:r>
              <a:rPr lang="en-US" altLang="en-US" sz="1500" b="1">
                <a:solidFill>
                  <a:srgbClr val="FF3300"/>
                </a:solidFill>
              </a:rPr>
              <a:t>Signature:</a:t>
            </a:r>
            <a:r>
              <a:rPr lang="en-US" altLang="en-US" sz="1500"/>
              <a:t> alert tcp any any -&gt; any any (msg:"Agobot/Phatbot Infection Successful"; flow:established; content:"221 </a:t>
            </a:r>
          </a:p>
          <a:p>
            <a:pPr lvl="1" eaLnBrk="1" hangingPunct="1"/>
            <a:endParaRPr lang="en-US" altLang="en-US" sz="1500"/>
          </a:p>
          <a:p>
            <a:pPr eaLnBrk="1" hangingPunct="1"/>
            <a:r>
              <a:rPr lang="en-US" altLang="en-US" sz="1800" b="1">
                <a:solidFill>
                  <a:srgbClr val="FF3300"/>
                </a:solidFill>
              </a:rPr>
              <a:t>Honetpots/Honeynets: </a:t>
            </a:r>
            <a:r>
              <a:rPr lang="en-US" altLang="en-US" sz="1800"/>
              <a:t>gather information</a:t>
            </a:r>
            <a:endParaRPr lang="en-US" altLang="en-US" sz="1800" b="1">
              <a:solidFill>
                <a:srgbClr val="FF3300"/>
              </a:solidFill>
            </a:endParaRPr>
          </a:p>
          <a:p>
            <a:pPr lvl="1" eaLnBrk="1" hangingPunct="1"/>
            <a:r>
              <a:rPr lang="en-US" altLang="en-US" sz="1500"/>
              <a:t>Run unpatched version of Windows</a:t>
            </a:r>
          </a:p>
          <a:p>
            <a:pPr lvl="1" eaLnBrk="1" hangingPunct="1"/>
            <a:r>
              <a:rPr lang="en-US" altLang="en-US" sz="1500"/>
              <a:t>Usually infected within 10 minutes</a:t>
            </a:r>
          </a:p>
          <a:p>
            <a:pPr lvl="1" eaLnBrk="1" hangingPunct="1"/>
            <a:r>
              <a:rPr lang="en-US" altLang="en-US" sz="1500" b="1">
                <a:solidFill>
                  <a:srgbClr val="FF3300"/>
                </a:solidFill>
              </a:rPr>
              <a:t>Capture binary</a:t>
            </a:r>
            <a:r>
              <a:rPr lang="en-US" altLang="en-US" sz="1500" b="1"/>
              <a:t> </a:t>
            </a:r>
          </a:p>
          <a:p>
            <a:pPr lvl="2" eaLnBrk="1" hangingPunct="1"/>
            <a:r>
              <a:rPr lang="en-US" altLang="en-US" sz="1500"/>
              <a:t>determine scanning patterns, etc.</a:t>
            </a:r>
            <a:endParaRPr lang="en-US" altLang="en-US" sz="1500" b="1"/>
          </a:p>
          <a:p>
            <a:pPr lvl="1" eaLnBrk="1" hangingPunct="1"/>
            <a:r>
              <a:rPr lang="en-US" altLang="en-US" sz="1500" b="1">
                <a:solidFill>
                  <a:srgbClr val="FF3300"/>
                </a:solidFill>
              </a:rPr>
              <a:t>Capture network traffic</a:t>
            </a:r>
          </a:p>
          <a:p>
            <a:pPr lvl="2" eaLnBrk="1" hangingPunct="1"/>
            <a:r>
              <a:rPr lang="en-US" altLang="en-US" sz="1500"/>
              <a:t>Locate identity of command and control, other bots, etc.</a:t>
            </a:r>
          </a:p>
          <a:p>
            <a:pPr lvl="2" eaLnBrk="1" hangingPunct="1"/>
            <a:endParaRPr lang="en-US" altLang="en-US" sz="1200" b="1">
              <a:solidFill>
                <a:srgbClr val="FF0000"/>
              </a:solidFill>
            </a:endParaRPr>
          </a:p>
          <a:p>
            <a:pPr eaLnBrk="1" hangingPunct="1"/>
            <a:r>
              <a:rPr lang="en-US" altLang="en-US" sz="1800" b="1">
                <a:solidFill>
                  <a:srgbClr val="FF0000"/>
                </a:solidFill>
              </a:rPr>
              <a:t>“Internet Motion Sensor”</a:t>
            </a:r>
          </a:p>
          <a:p>
            <a:pPr lvl="1" eaLnBrk="1" hangingPunct="1"/>
            <a:endParaRPr lang="en-US" altLang="en-US" sz="15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683">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683">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1683">
                                            <p:txEl>
                                              <p:pRg st="9" end="9"/>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16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414EC835-00AB-70CE-9F85-57A768CAA0A4}"/>
              </a:ext>
            </a:extLst>
          </p:cNvPr>
          <p:cNvSpPr>
            <a:spLocks noGrp="1"/>
          </p:cNvSpPr>
          <p:nvPr>
            <p:ph type="title"/>
          </p:nvPr>
        </p:nvSpPr>
        <p:spPr/>
        <p:txBody>
          <a:bodyPr/>
          <a:lstStyle/>
          <a:p>
            <a:pPr eaLnBrk="1" hangingPunct="1"/>
            <a:r>
              <a:rPr lang="en-US" altLang="en-US" sz="2700"/>
              <a:t>Using DNS Traffic to Find Controllers</a:t>
            </a:r>
          </a:p>
        </p:txBody>
      </p:sp>
      <p:sp>
        <p:nvSpPr>
          <p:cNvPr id="109570" name="Rectangle 3">
            <a:extLst>
              <a:ext uri="{FF2B5EF4-FFF2-40B4-BE49-F238E27FC236}">
                <a16:creationId xmlns:a16="http://schemas.microsoft.com/office/drawing/2014/main" id="{072A7798-9D37-5C49-A39C-D6E403B46722}"/>
              </a:ext>
            </a:extLst>
          </p:cNvPr>
          <p:cNvSpPr>
            <a:spLocks noGrp="1"/>
          </p:cNvSpPr>
          <p:nvPr>
            <p:ph idx="1"/>
          </p:nvPr>
        </p:nvSpPr>
        <p:spPr/>
        <p:txBody>
          <a:bodyPr/>
          <a:lstStyle/>
          <a:p>
            <a:pPr eaLnBrk="1" hangingPunct="1">
              <a:lnSpc>
                <a:spcPct val="124000"/>
              </a:lnSpc>
              <a:buSzPct val="75000"/>
              <a:buFont typeface="StarSymbol" charset="0"/>
              <a:buChar char="•"/>
            </a:pPr>
            <a:r>
              <a:rPr lang="en-GB" altLang="en-US" sz="1800"/>
              <a:t>Different types of queries may reveal info</a:t>
            </a:r>
          </a:p>
          <a:p>
            <a:pPr lvl="1" eaLnBrk="1" hangingPunct="1">
              <a:lnSpc>
                <a:spcPct val="124000"/>
              </a:lnSpc>
              <a:buSzPct val="75000"/>
              <a:buFont typeface="StarSymbol" charset="0"/>
              <a:buChar char="–"/>
            </a:pPr>
            <a:r>
              <a:rPr lang="en-GB" altLang="en-US"/>
              <a:t>Repetitive A queries may indicate bot/controller</a:t>
            </a:r>
          </a:p>
          <a:p>
            <a:pPr lvl="1" eaLnBrk="1" hangingPunct="1">
              <a:lnSpc>
                <a:spcPct val="124000"/>
              </a:lnSpc>
              <a:buSzPct val="75000"/>
              <a:buFont typeface="StarSymbol" charset="0"/>
              <a:buChar char="–"/>
            </a:pPr>
            <a:r>
              <a:rPr lang="en-GB" altLang="en-US"/>
              <a:t>MX queries may indicate spam bot</a:t>
            </a:r>
          </a:p>
          <a:p>
            <a:pPr lvl="1" eaLnBrk="1" hangingPunct="1">
              <a:lnSpc>
                <a:spcPct val="124000"/>
              </a:lnSpc>
              <a:buSzPct val="75000"/>
              <a:buFont typeface="StarSymbol" charset="0"/>
              <a:buChar char="–"/>
            </a:pPr>
            <a:r>
              <a:rPr lang="en-GB" altLang="en-US"/>
              <a:t>PTR queries may indicate a server</a:t>
            </a:r>
          </a:p>
          <a:p>
            <a:pPr eaLnBrk="1" hangingPunct="1">
              <a:lnSpc>
                <a:spcPct val="124000"/>
              </a:lnSpc>
              <a:buSzPct val="75000"/>
              <a:buFont typeface="StarSymbol" charset="0"/>
              <a:buChar char="•"/>
            </a:pPr>
            <a:r>
              <a:rPr lang="en-GB" altLang="en-US" sz="1800"/>
              <a:t>Usually 3 level: hostname.subdomain.TLD</a:t>
            </a:r>
          </a:p>
          <a:p>
            <a:pPr eaLnBrk="1" hangingPunct="1">
              <a:lnSpc>
                <a:spcPct val="124000"/>
              </a:lnSpc>
              <a:buSzPct val="75000"/>
              <a:buFont typeface="StarSymbol" charset="0"/>
              <a:buChar char="•"/>
            </a:pPr>
            <a:r>
              <a:rPr lang="en-GB" altLang="en-US" sz="1800"/>
              <a:t>Names and subdomains that just look rogue</a:t>
            </a:r>
          </a:p>
          <a:p>
            <a:pPr lvl="1" eaLnBrk="1" hangingPunct="1">
              <a:lnSpc>
                <a:spcPct val="124000"/>
              </a:lnSpc>
              <a:buSzPct val="75000"/>
              <a:buFont typeface="StarSymbol" charset="0"/>
              <a:buChar char="–"/>
            </a:pPr>
            <a:r>
              <a:rPr lang="en-GB" altLang="en-US"/>
              <a:t>(</a:t>
            </a:r>
            <a:r>
              <a:rPr lang="en-GB" altLang="en-US" i="1"/>
              <a:t>e.g., </a:t>
            </a:r>
            <a:r>
              <a:rPr lang="en-GB" altLang="en-US"/>
              <a:t>irc.big-bot.de)</a:t>
            </a:r>
            <a:endParaRPr lang="en-US" altLang="en-US"/>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D96A62E8-2FF7-D44B-7109-E7CE1D693617}"/>
              </a:ext>
            </a:extLst>
          </p:cNvPr>
          <p:cNvSpPr>
            <a:spLocks noGrp="1"/>
          </p:cNvSpPr>
          <p:nvPr>
            <p:ph type="title"/>
          </p:nvPr>
        </p:nvSpPr>
        <p:spPr/>
        <p:txBody>
          <a:bodyPr/>
          <a:lstStyle/>
          <a:p>
            <a:pPr eaLnBrk="1" hangingPunct="1"/>
            <a:r>
              <a:rPr lang="en-US" altLang="en-US"/>
              <a:t>DNS Monitoring</a:t>
            </a:r>
          </a:p>
        </p:txBody>
      </p:sp>
      <p:sp>
        <p:nvSpPr>
          <p:cNvPr id="77827" name="Rectangle 3">
            <a:extLst>
              <a:ext uri="{FF2B5EF4-FFF2-40B4-BE49-F238E27FC236}">
                <a16:creationId xmlns:a16="http://schemas.microsoft.com/office/drawing/2014/main" id="{1B6DBFB3-D7BC-1410-9D60-9F179D271638}"/>
              </a:ext>
            </a:extLst>
          </p:cNvPr>
          <p:cNvSpPr>
            <a:spLocks noGrp="1"/>
          </p:cNvSpPr>
          <p:nvPr>
            <p:ph idx="1"/>
          </p:nvPr>
        </p:nvSpPr>
        <p:spPr/>
        <p:txBody>
          <a:bodyPr/>
          <a:lstStyle/>
          <a:p>
            <a:pPr eaLnBrk="1" hangingPunct="1">
              <a:lnSpc>
                <a:spcPct val="90000"/>
              </a:lnSpc>
            </a:pPr>
            <a:r>
              <a:rPr lang="en-US" altLang="en-US"/>
              <a:t>Command-and-control hijack</a:t>
            </a:r>
          </a:p>
          <a:p>
            <a:pPr lvl="1" eaLnBrk="1" hangingPunct="1">
              <a:lnSpc>
                <a:spcPct val="90000"/>
              </a:lnSpc>
            </a:pPr>
            <a:r>
              <a:rPr lang="en-US" altLang="en-US" b="1">
                <a:solidFill>
                  <a:srgbClr val="FF3300"/>
                </a:solidFill>
              </a:rPr>
              <a:t>Advantages:</a:t>
            </a:r>
            <a:r>
              <a:rPr lang="en-US" altLang="en-US"/>
              <a:t> accurate estimation of bot population</a:t>
            </a:r>
          </a:p>
          <a:p>
            <a:pPr lvl="1" eaLnBrk="1" hangingPunct="1">
              <a:lnSpc>
                <a:spcPct val="90000"/>
              </a:lnSpc>
            </a:pPr>
            <a:r>
              <a:rPr lang="en-US" altLang="en-US" b="1">
                <a:solidFill>
                  <a:srgbClr val="FF3300"/>
                </a:solidFill>
              </a:rPr>
              <a:t>Disadvantages: </a:t>
            </a:r>
            <a:r>
              <a:rPr lang="en-US" altLang="en-US"/>
              <a:t>bot is rendered useless; can</a:t>
            </a:r>
            <a:r>
              <a:rPr lang="ja-JP" altLang="en-US">
                <a:latin typeface="Arial" panose="020B0604020202020204" pitchFamily="34" charset="0"/>
              </a:rPr>
              <a:t>’</a:t>
            </a:r>
            <a:r>
              <a:rPr lang="en-US" altLang="ja-JP"/>
              <a:t>t monitor activity from command and control</a:t>
            </a:r>
          </a:p>
          <a:p>
            <a:pPr lvl="1" eaLnBrk="1" hangingPunct="1">
              <a:lnSpc>
                <a:spcPct val="90000"/>
              </a:lnSpc>
            </a:pPr>
            <a:endParaRPr lang="en-US" altLang="en-US"/>
          </a:p>
          <a:p>
            <a:pPr eaLnBrk="1" hangingPunct="1">
              <a:lnSpc>
                <a:spcPct val="90000"/>
              </a:lnSpc>
            </a:pPr>
            <a:r>
              <a:rPr lang="en-US" altLang="en-US"/>
              <a:t>Complete TCP three-way handshakes</a:t>
            </a:r>
          </a:p>
          <a:p>
            <a:pPr lvl="1" eaLnBrk="1" hangingPunct="1">
              <a:lnSpc>
                <a:spcPct val="90000"/>
              </a:lnSpc>
            </a:pPr>
            <a:r>
              <a:rPr lang="en-US" altLang="en-US"/>
              <a:t>Can distinguish distinct infections</a:t>
            </a:r>
          </a:p>
          <a:p>
            <a:pPr lvl="1" eaLnBrk="1" hangingPunct="1">
              <a:lnSpc>
                <a:spcPct val="90000"/>
              </a:lnSpc>
            </a:pPr>
            <a:r>
              <a:rPr lang="en-US" altLang="en-US"/>
              <a:t>Can distinguish infected bots from port scans, etc.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782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782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782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78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7740</TotalTime>
  <Words>2720</Words>
  <Application>Microsoft Macintosh PowerPoint</Application>
  <PresentationFormat>On-screen Show (16:9)</PresentationFormat>
  <Paragraphs>448</Paragraphs>
  <Slides>50</Slides>
  <Notes>43</Notes>
  <HiddenSlides>2</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50</vt:i4>
      </vt:variant>
    </vt:vector>
  </HeadingPairs>
  <TitlesOfParts>
    <vt:vector size="64" baseType="lpstr">
      <vt:lpstr>Arial</vt:lpstr>
      <vt:lpstr>ＭＳ Ｐゴシック</vt:lpstr>
      <vt:lpstr>Calibri</vt:lpstr>
      <vt:lpstr>Lucida Sans</vt:lpstr>
      <vt:lpstr>Tahoma</vt:lpstr>
      <vt:lpstr>Wingdings</vt:lpstr>
      <vt:lpstr>Courier New</vt:lpstr>
      <vt:lpstr>American Typewriter</vt:lpstr>
      <vt:lpstr>Gill Sans MT</vt:lpstr>
      <vt:lpstr>Wingdings 2</vt:lpstr>
      <vt:lpstr>StarSymbol</vt:lpstr>
      <vt:lpstr>Times New Roman</vt:lpstr>
      <vt:lpstr>Cordia New</vt:lpstr>
      <vt:lpstr>Office Theme</vt:lpstr>
      <vt:lpstr>Worms and Botnets</vt:lpstr>
      <vt:lpstr>Viruses</vt:lpstr>
      <vt:lpstr>Virus Structure</vt:lpstr>
      <vt:lpstr>Types of Viruses</vt:lpstr>
      <vt:lpstr>What is a Worm?</vt:lpstr>
      <vt:lpstr>Worms: then and now</vt:lpstr>
      <vt:lpstr>Morris Worm</vt:lpstr>
      <vt:lpstr>Morris Internet Worm</vt:lpstr>
      <vt:lpstr>Morris Internet Worm</vt:lpstr>
      <vt:lpstr>Morris Worm Redux</vt:lpstr>
      <vt:lpstr>2000s: Worms Go “Mainstream”</vt:lpstr>
      <vt:lpstr>Summer of 2001</vt:lpstr>
      <vt:lpstr>Example Worm: Code Red</vt:lpstr>
      <vt:lpstr>Code Red I</vt:lpstr>
      <vt:lpstr>Code Red: Revisions</vt:lpstr>
      <vt:lpstr>Code Red: Host Infection Rate</vt:lpstr>
      <vt:lpstr>Modeling the Spread of Code Red</vt:lpstr>
      <vt:lpstr>Modeling the Spread of Code Red</vt:lpstr>
      <vt:lpstr>Designing Fast-Spreading Worms</vt:lpstr>
      <vt:lpstr>Code Red I v2</vt:lpstr>
      <vt:lpstr>Code Red II</vt:lpstr>
      <vt:lpstr>Nimda</vt:lpstr>
      <vt:lpstr>Signature-Based Defenses Don’t Help</vt:lpstr>
      <vt:lpstr>Code Red I and II   (Paxson)</vt:lpstr>
      <vt:lpstr>Designing Fast-Spreading Worms</vt:lpstr>
      <vt:lpstr>Code Red Worm Background</vt:lpstr>
      <vt:lpstr>Slammer (Sapphire) Worm</vt:lpstr>
      <vt:lpstr>Slammer Propagation</vt:lpstr>
      <vt:lpstr>05:29:00 UTC, January 25, 2003</vt:lpstr>
      <vt:lpstr>30 Minutes Later</vt:lpstr>
      <vt:lpstr>Slammer Impact</vt:lpstr>
      <vt:lpstr>Slammer’s Speed</vt:lpstr>
      <vt:lpstr>Storm / Peacomm (2007)</vt:lpstr>
      <vt:lpstr>Storm Worm Characteristics</vt:lpstr>
      <vt:lpstr>Storm Worm Outbreaks</vt:lpstr>
      <vt:lpstr>Other “Famous” Botnets</vt:lpstr>
      <vt:lpstr>Mirai (2016)</vt:lpstr>
      <vt:lpstr>Botnets</vt:lpstr>
      <vt:lpstr>Botnets</vt:lpstr>
      <vt:lpstr>“Rallying” the Botnet</vt:lpstr>
      <vt:lpstr>Botnet Control</vt:lpstr>
      <vt:lpstr>Botnet Command and Control (C&amp;C)</vt:lpstr>
      <vt:lpstr>Botnet History: How we got here</vt:lpstr>
      <vt:lpstr>Putting it together</vt:lpstr>
      <vt:lpstr>Botnet Usage </vt:lpstr>
      <vt:lpstr>Defenses: Monitoring and Takedown</vt:lpstr>
      <vt:lpstr>Early Days: IRC-Based Monitoring</vt:lpstr>
      <vt:lpstr>Botnet Detection and Tracking</vt:lpstr>
      <vt:lpstr>Using DNS Traffic to Find Controllers</vt:lpstr>
      <vt:lpstr>DNS Monitoring</vt:lpstr>
    </vt:vector>
  </TitlesOfParts>
  <Company>Georgia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Viruses and Related Threats</dc:title>
  <dc:creator>Nick Feamster</dc:creator>
  <cp:lastModifiedBy>Nick Feamster</cp:lastModifiedBy>
  <cp:revision>108</cp:revision>
  <dcterms:created xsi:type="dcterms:W3CDTF">2009-02-23T20:06:22Z</dcterms:created>
  <dcterms:modified xsi:type="dcterms:W3CDTF">2026-06-02T14:04:50Z</dcterms:modified>
</cp:coreProperties>
</file>