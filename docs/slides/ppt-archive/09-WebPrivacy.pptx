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compatMode="1" saveSubsetFonts="1" autoCompressPictures="0">
  <p:sldMasterIdLst>
    <p:sldMasterId id="2147483662" r:id="rId1"/>
  </p:sldMasterIdLst>
  <p:notesMasterIdLst>
    <p:notesMasterId r:id="rId43"/>
  </p:notesMasterIdLst>
  <p:sldIdLst>
    <p:sldId id="392" r:id="rId2"/>
    <p:sldId id="747" r:id="rId3"/>
    <p:sldId id="736" r:id="rId4"/>
    <p:sldId id="737" r:id="rId5"/>
    <p:sldId id="738" r:id="rId6"/>
    <p:sldId id="745" r:id="rId7"/>
    <p:sldId id="739" r:id="rId8"/>
    <p:sldId id="273" r:id="rId9"/>
    <p:sldId id="746" r:id="rId10"/>
    <p:sldId id="274" r:id="rId11"/>
    <p:sldId id="275" r:id="rId12"/>
    <p:sldId id="748" r:id="rId13"/>
    <p:sldId id="276" r:id="rId14"/>
    <p:sldId id="277" r:id="rId15"/>
    <p:sldId id="278" r:id="rId16"/>
    <p:sldId id="279" r:id="rId17"/>
    <p:sldId id="280" r:id="rId18"/>
    <p:sldId id="283" r:id="rId19"/>
    <p:sldId id="741" r:id="rId20"/>
    <p:sldId id="742" r:id="rId21"/>
    <p:sldId id="321" r:id="rId22"/>
    <p:sldId id="322" r:id="rId23"/>
    <p:sldId id="740" r:id="rId24"/>
    <p:sldId id="286" r:id="rId25"/>
    <p:sldId id="287" r:id="rId26"/>
    <p:sldId id="743" r:id="rId27"/>
    <p:sldId id="288" r:id="rId28"/>
    <p:sldId id="289" r:id="rId29"/>
    <p:sldId id="290" r:id="rId30"/>
    <p:sldId id="291" r:id="rId31"/>
    <p:sldId id="292" r:id="rId32"/>
    <p:sldId id="293" r:id="rId33"/>
    <p:sldId id="294" r:id="rId34"/>
    <p:sldId id="295" r:id="rId35"/>
    <p:sldId id="296" r:id="rId36"/>
    <p:sldId id="744" r:id="rId37"/>
    <p:sldId id="299" r:id="rId38"/>
    <p:sldId id="749" r:id="rId39"/>
    <p:sldId id="300" r:id="rId40"/>
    <p:sldId id="297" r:id="rId41"/>
    <p:sldId id="298" r:id="rId42"/>
  </p:sldIdLst>
  <p:sldSz cx="9144000" cy="5143500" type="screen16x9"/>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449"/>
    <p:restoredTop sz="80000"/>
  </p:normalViewPr>
  <p:slideViewPr>
    <p:cSldViewPr>
      <p:cViewPr varScale="1">
        <p:scale>
          <a:sx n="160" d="100"/>
          <a:sy n="160" d="100"/>
        </p:scale>
        <p:origin x="1800" y="168"/>
      </p:cViewPr>
      <p:guideLst>
        <p:guide orient="horz" pos="1620"/>
        <p:guide pos="2880"/>
      </p:guideLst>
    </p:cSldViewPr>
  </p:slideViewPr>
  <p:notesTextViewPr>
    <p:cViewPr>
      <p:scale>
        <a:sx n="100" d="100"/>
        <a:sy n="100" d="100"/>
      </p:scale>
      <p:origin x="0" y="0"/>
    </p:cViewPr>
  </p:notesTextViewPr>
  <p:sorterViewPr>
    <p:cViewPr>
      <p:scale>
        <a:sx n="1" d="1"/>
        <a:sy n="1" d="1"/>
      </p:scale>
      <p:origin x="0" y="76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E752E79-5CF0-0CB1-0D05-A693161B790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4099" name="Rectangle 3">
            <a:extLst>
              <a:ext uri="{FF2B5EF4-FFF2-40B4-BE49-F238E27FC236}">
                <a16:creationId xmlns:a16="http://schemas.microsoft.com/office/drawing/2014/main" id="{41EF97B1-8F18-8B2C-5F1F-5013CE4FBFC7}"/>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15364" name="Rectangle 4">
            <a:extLst>
              <a:ext uri="{FF2B5EF4-FFF2-40B4-BE49-F238E27FC236}">
                <a16:creationId xmlns:a16="http://schemas.microsoft.com/office/drawing/2014/main" id="{401D0B32-85AB-8ED2-53A6-BCF325A89F60}"/>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6E6DFE12-A832-D32B-93AF-FC85A3DE8363}"/>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0BF49C5F-C564-65BB-3190-AD786A08382E}"/>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4103" name="Rectangle 7">
            <a:extLst>
              <a:ext uri="{FF2B5EF4-FFF2-40B4-BE49-F238E27FC236}">
                <a16:creationId xmlns:a16="http://schemas.microsoft.com/office/drawing/2014/main" id="{FA56721F-90E5-D817-6094-6F34A474F3FD}"/>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C0E2729-F6EF-9C4F-8A96-B8A4D261293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donottrack.us/implementations" TargetMode="External"/><Relationship Id="rId2" Type="http://schemas.openxmlformats.org/officeDocument/2006/relationships/slide" Target="../slides/slide40.xml"/><Relationship Id="rId1" Type="http://schemas.openxmlformats.org/officeDocument/2006/relationships/notesMaster" Target="../notesMasters/notesMaster1.xml"/><Relationship Id="rId6" Type="http://schemas.openxmlformats.org/officeDocument/2006/relationships/hyperlink" Target="http://europa.eu/rapid/press-release_SPEECH-11-461_en.htm" TargetMode="External"/><Relationship Id="rId5" Type="http://schemas.openxmlformats.org/officeDocument/2006/relationships/hyperlink" Target="http://www.ftc.gov/speeches/ramirez/130417americanad-fed.pdf" TargetMode="External"/><Relationship Id="rId4" Type="http://schemas.openxmlformats.org/officeDocument/2006/relationships/hyperlink" Target="https://www.eff.org/deeplinks/2012/02/white-house-google-and-other-advertising-companies-commit-supporting-do-not-track"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E54E8072-E128-C385-3547-D777CA68082E}"/>
              </a:ext>
            </a:extLst>
          </p:cNvPr>
          <p:cNvSpPr>
            <a:spLocks noGrp="1" noRot="1" noChangeAspect="1" noChangeArrowheads="1" noTextEdit="1"/>
          </p:cNvSpPr>
          <p:nvPr>
            <p:ph type="sldImg"/>
          </p:nvPr>
        </p:nvSpPr>
        <p:spPr>
          <a:ln/>
        </p:spPr>
      </p:sp>
      <p:sp>
        <p:nvSpPr>
          <p:cNvPr id="19458" name="Notes Placeholder 2">
            <a:extLst>
              <a:ext uri="{FF2B5EF4-FFF2-40B4-BE49-F238E27FC236}">
                <a16:creationId xmlns:a16="http://schemas.microsoft.com/office/drawing/2014/main" id="{8EF792DC-4CE9-F74A-8099-17FDF05E71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Imagine if this cartoon from 1993 were published today…</a:t>
            </a:r>
          </a:p>
        </p:txBody>
      </p:sp>
      <p:sp>
        <p:nvSpPr>
          <p:cNvPr id="19459" name="Slide Number Placeholder 3">
            <a:extLst>
              <a:ext uri="{FF2B5EF4-FFF2-40B4-BE49-F238E27FC236}">
                <a16:creationId xmlns:a16="http://schemas.microsoft.com/office/drawing/2014/main" id="{44E0EAF4-C9A2-7308-1F71-D955543DEB3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E31ED03-BA48-CB45-A792-DE5BE3D839A7}" type="slidenum">
              <a:rPr lang="en-US" altLang="en-US" smtClean="0"/>
              <a:pPr/>
              <a:t>3</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a:extLst>
              <a:ext uri="{FF2B5EF4-FFF2-40B4-BE49-F238E27FC236}">
                <a16:creationId xmlns:a16="http://schemas.microsoft.com/office/drawing/2014/main" id="{8BA5A667-A39C-B1C3-586F-0778A0983874}"/>
              </a:ext>
            </a:extLst>
          </p:cNvPr>
          <p:cNvSpPr>
            <a:spLocks noGrp="1" noRot="1" noChangeAspect="1" noChangeArrowheads="1" noTextEdit="1"/>
          </p:cNvSpPr>
          <p:nvPr>
            <p:ph type="sldImg"/>
          </p:nvPr>
        </p:nvSpPr>
        <p:spPr>
          <a:ln/>
        </p:spPr>
      </p:sp>
      <p:sp>
        <p:nvSpPr>
          <p:cNvPr id="21506" name="Notes Placeholder 2">
            <a:extLst>
              <a:ext uri="{FF2B5EF4-FFF2-40B4-BE49-F238E27FC236}">
                <a16:creationId xmlns:a16="http://schemas.microsoft.com/office/drawing/2014/main" id="{70BF16C8-CFF1-E13A-9F97-1DBAABCC2E8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21507" name="Slide Number Placeholder 3">
            <a:extLst>
              <a:ext uri="{FF2B5EF4-FFF2-40B4-BE49-F238E27FC236}">
                <a16:creationId xmlns:a16="http://schemas.microsoft.com/office/drawing/2014/main" id="{839A1F8C-5448-B620-6BE9-067281B981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B5683B1A-986E-1449-B94D-AD9ED98BD0F4}" type="slidenum">
              <a:rPr lang="en-US" altLang="en-US" smtClean="0"/>
              <a:pPr/>
              <a:t>4</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8DD09A6D-D7BE-5F8D-5958-C37AE4ECE6A3}"/>
              </a:ext>
            </a:extLst>
          </p:cNvPr>
          <p:cNvSpPr>
            <a:spLocks noGrp="1" noRot="1" noChangeAspect="1" noChangeArrowheads="1" noTextEdit="1"/>
          </p:cNvSpPr>
          <p:nvPr>
            <p:ph type="sldImg"/>
          </p:nvPr>
        </p:nvSpPr>
        <p:spPr>
          <a:ln/>
        </p:spPr>
      </p:sp>
      <p:sp>
        <p:nvSpPr>
          <p:cNvPr id="23554" name="Notes Placeholder 2">
            <a:extLst>
              <a:ext uri="{FF2B5EF4-FFF2-40B4-BE49-F238E27FC236}">
                <a16:creationId xmlns:a16="http://schemas.microsoft.com/office/drawing/2014/main" id="{EE4B6987-FB8D-4056-3EAE-E6236ED0C71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Screenshot is from a 2012 study of third-party online tracking https://cyberlaw.stanford.edu/files/publication/files/trackingsurvey12.pdf</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Notice all the red boxes: Typically this content is not served by the NYT. There are a lot more trackers that are invisible.</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The combination of cookie and referer is what enables third-party tracking. </a:t>
            </a:r>
            <a:br>
              <a:rPr lang="en-US" altLang="en-US">
                <a:latin typeface="Arial" panose="020B0604020202020204" pitchFamily="34" charset="0"/>
                <a:ea typeface="ＭＳ Ｐゴシック" panose="020B0600070205080204" pitchFamily="34" charset="-128"/>
              </a:rPr>
            </a:br>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Funny aside: the HTTP protocol misspells referrer as referer. It’s part of the protocol specification so it can’t be changed.</a:t>
            </a:r>
          </a:p>
        </p:txBody>
      </p:sp>
      <p:sp>
        <p:nvSpPr>
          <p:cNvPr id="23555" name="Slide Number Placeholder 3">
            <a:extLst>
              <a:ext uri="{FF2B5EF4-FFF2-40B4-BE49-F238E27FC236}">
                <a16:creationId xmlns:a16="http://schemas.microsoft.com/office/drawing/2014/main" id="{0E1A08FF-91ED-9C7A-830D-72D886AC6A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873C0C60-5857-D94A-83B7-5AB9D7CDE674}" type="slidenum">
              <a:rPr lang="en-US" altLang="en-US" smtClean="0"/>
              <a:pPr/>
              <a:t>5</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4DBFC9EA-5F6C-78F2-7AFB-566FC5D376E9}"/>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D44C4640-002F-5D84-CB86-941C35D0ED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a:latin typeface="Arial" panose="020B0604020202020204" pitchFamily="34" charset="0"/>
                <a:ea typeface="ＭＳ Ｐゴシック" panose="020B0600070205080204" pitchFamily="34" charset="-128"/>
              </a:rPr>
              <a:t>It’s not very easy to prevent the ability to track. One try is to block the referer header, but third-party JavaScript can read it anyway, unless it’s in an iFrame.</a:t>
            </a:r>
          </a:p>
        </p:txBody>
      </p:sp>
      <p:sp>
        <p:nvSpPr>
          <p:cNvPr id="26627" name="Slide Number Placeholder 3">
            <a:extLst>
              <a:ext uri="{FF2B5EF4-FFF2-40B4-BE49-F238E27FC236}">
                <a16:creationId xmlns:a16="http://schemas.microsoft.com/office/drawing/2014/main" id="{8B0030AD-0CE6-9C23-01AC-739EE86BFC9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C43EB44-8375-9248-AF2E-9C7254420410}" type="slidenum">
              <a:rPr lang="en-US" altLang="en-US" smtClean="0"/>
              <a:pPr/>
              <a:t>7</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8D6EB083-32EA-4F65-A754-BF45483AC4F8}"/>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E09632F0-7897-ECB1-EEED-52A354D93C5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Co-operative tracking is particularly hard to prevent --- here the first party tells the third party the referring URL.</a:t>
            </a:r>
          </a:p>
        </p:txBody>
      </p:sp>
      <p:sp>
        <p:nvSpPr>
          <p:cNvPr id="28675" name="Slide Number Placeholder 3">
            <a:extLst>
              <a:ext uri="{FF2B5EF4-FFF2-40B4-BE49-F238E27FC236}">
                <a16:creationId xmlns:a16="http://schemas.microsoft.com/office/drawing/2014/main" id="{4CFA8145-1237-8180-805A-3CCAE5F918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254F54E-EE07-6D41-A0DA-0751F7C0E963}" type="slidenum">
              <a:rPr lang="en-US" altLang="en-US" smtClean="0"/>
              <a:pPr/>
              <a:t>8</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D52BDDA2-C3A8-99DD-B7A1-5BAC630759A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39E5DCF0-FB0C-18FE-57BB-3062F802C5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31747" name="Slide Number Placeholder 3">
            <a:extLst>
              <a:ext uri="{FF2B5EF4-FFF2-40B4-BE49-F238E27FC236}">
                <a16:creationId xmlns:a16="http://schemas.microsoft.com/office/drawing/2014/main" id="{7F5711CF-36AF-B9D8-194C-D15E786397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C61424B-AA01-6641-B8E7-FB8F204766BC}" type="slidenum">
              <a:rPr lang="en-US" altLang="en-US" smtClean="0"/>
              <a:pPr/>
              <a:t>10</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9974AC16-EDB7-5399-3511-CAD42D4D21C8}"/>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F6424A55-90A2-6124-A423-B324BAECD6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Think about why these entities are in the business of tracking. You might want to look up some of these and which companies they belong to.</a:t>
            </a:r>
          </a:p>
        </p:txBody>
      </p:sp>
      <p:sp>
        <p:nvSpPr>
          <p:cNvPr id="33795" name="Slide Number Placeholder 3">
            <a:extLst>
              <a:ext uri="{FF2B5EF4-FFF2-40B4-BE49-F238E27FC236}">
                <a16:creationId xmlns:a16="http://schemas.microsoft.com/office/drawing/2014/main" id="{A20D9670-029E-83B5-E732-666F9FC958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2B7CC7FE-E7E7-4B4E-88D3-84963917A183}" type="slidenum">
              <a:rPr lang="en-US" altLang="en-US" smtClean="0"/>
              <a:pPr/>
              <a:t>11</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BA23735E-F1FD-7C5D-2CAE-5F4B091D0FCD}"/>
              </a:ext>
            </a:extLst>
          </p:cNvPr>
          <p:cNvSpPr>
            <a:spLocks noGrp="1" noRot="1" noChangeAspect="1" noChangeArrowheads="1" noTextEdit="1"/>
          </p:cNvSpPr>
          <p:nvPr>
            <p:ph type="sldImg"/>
          </p:nvPr>
        </p:nvSpPr>
        <p:spPr>
          <a:ln/>
        </p:spPr>
      </p:sp>
      <p:sp>
        <p:nvSpPr>
          <p:cNvPr id="36866" name="Notes Placeholder 2">
            <a:extLst>
              <a:ext uri="{FF2B5EF4-FFF2-40B4-BE49-F238E27FC236}">
                <a16:creationId xmlns:a16="http://schemas.microsoft.com/office/drawing/2014/main" id="{C664BE02-968C-D89E-625B-10ECA7A74DC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Profiles based on user’s past activity help ad networks serve targeted ads based on real-time ad auctions.</a:t>
            </a:r>
          </a:p>
        </p:txBody>
      </p:sp>
      <p:sp>
        <p:nvSpPr>
          <p:cNvPr id="36867" name="Slide Number Placeholder 3">
            <a:extLst>
              <a:ext uri="{FF2B5EF4-FFF2-40B4-BE49-F238E27FC236}">
                <a16:creationId xmlns:a16="http://schemas.microsoft.com/office/drawing/2014/main" id="{1B50317D-C189-8F10-1A86-E7C53673F93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B0FE5F4-04AB-8F42-BCAA-753EF082800E}" type="slidenum">
              <a:rPr lang="en-US" altLang="en-US" smtClean="0"/>
              <a:pPr/>
              <a:t>13</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EDB7563F-3AFB-89BB-3765-0A7C1FDAE28E}"/>
              </a:ext>
            </a:extLst>
          </p:cNvPr>
          <p:cNvSpPr>
            <a:spLocks noGrp="1" noRot="1" noChangeAspect="1" noChangeArrowheads="1" noTextEdit="1"/>
          </p:cNvSpPr>
          <p:nvPr>
            <p:ph type="sldImg"/>
          </p:nvPr>
        </p:nvSpPr>
        <p:spPr>
          <a:ln/>
        </p:spPr>
      </p:sp>
      <p:sp>
        <p:nvSpPr>
          <p:cNvPr id="38914" name="Notes Placeholder 2">
            <a:extLst>
              <a:ext uri="{FF2B5EF4-FFF2-40B4-BE49-F238E27FC236}">
                <a16:creationId xmlns:a16="http://schemas.microsoft.com/office/drawing/2014/main" id="{B60EBE66-94AF-ED31-11D8-4E58E77532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38915" name="Slide Number Placeholder 3">
            <a:extLst>
              <a:ext uri="{FF2B5EF4-FFF2-40B4-BE49-F238E27FC236}">
                <a16:creationId xmlns:a16="http://schemas.microsoft.com/office/drawing/2014/main" id="{53CA6CD6-8B29-B63A-B525-A438DA489D5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6A681E8-E6B0-EB44-8768-1205D535A399}" type="slidenum">
              <a:rPr lang="en-US" altLang="en-US" smtClean="0"/>
              <a:pPr/>
              <a:t>14</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A871684B-9731-54A8-7F68-15E20158A56E}"/>
              </a:ext>
            </a:extLst>
          </p:cNvPr>
          <p:cNvSpPr>
            <a:spLocks noGrp="1" noRot="1" noChangeAspect="1" noChangeArrowheads="1" noTextEdit="1"/>
          </p:cNvSpPr>
          <p:nvPr>
            <p:ph type="sldImg"/>
          </p:nvPr>
        </p:nvSpPr>
        <p:spPr>
          <a:ln/>
        </p:spPr>
      </p:sp>
      <p:sp>
        <p:nvSpPr>
          <p:cNvPr id="40962" name="Notes Placeholder 2">
            <a:extLst>
              <a:ext uri="{FF2B5EF4-FFF2-40B4-BE49-F238E27FC236}">
                <a16:creationId xmlns:a16="http://schemas.microsoft.com/office/drawing/2014/main" id="{D9EA634A-2540-600B-71D0-F396603FBE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NSA piggybacks on ad cookies for surveillance and delivering exploits: https://www.washingtonpost.com/news/the-switch/wp/2013/12/10/nsa-uses-google-cookies-to-pinpoint-targets-for-hacking/</a:t>
            </a:r>
          </a:p>
        </p:txBody>
      </p:sp>
      <p:sp>
        <p:nvSpPr>
          <p:cNvPr id="40963" name="Slide Number Placeholder 3">
            <a:extLst>
              <a:ext uri="{FF2B5EF4-FFF2-40B4-BE49-F238E27FC236}">
                <a16:creationId xmlns:a16="http://schemas.microsoft.com/office/drawing/2014/main" id="{9B1BBA9F-8130-EF8C-5887-40E16A046F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268B4D61-EC30-3E44-9B3A-AAFD89017DA7}" type="slidenum">
              <a:rPr lang="en-US" altLang="en-US" smtClean="0"/>
              <a:pPr/>
              <a:t>15</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250B2386-9090-D756-2F8C-A88A1416740D}"/>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685F2E86-F703-AFB4-6C39-BA18A910287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43011" name="Slide Number Placeholder 3">
            <a:extLst>
              <a:ext uri="{FF2B5EF4-FFF2-40B4-BE49-F238E27FC236}">
                <a16:creationId xmlns:a16="http://schemas.microsoft.com/office/drawing/2014/main" id="{EAFC4192-96ED-60D9-FDC8-BBFA9D6591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3DE9B24-FD43-374C-A76E-8652AA41056F}" type="slidenum">
              <a:rPr lang="en-US" altLang="en-US" smtClean="0"/>
              <a:pPr/>
              <a:t>16</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8B96481D-F059-1AAF-1C2C-5F0D3DFBCC41}"/>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EFFA0C3E-0CE3-FB46-7CAB-A6D4409B23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The point of this slide is that numerous web APIs allow placing data in the browser, directly or indirectly, and all of these can be used for uniquely identifying the user and hence tracking their browsing</a:t>
            </a:r>
          </a:p>
        </p:txBody>
      </p:sp>
      <p:sp>
        <p:nvSpPr>
          <p:cNvPr id="45059" name="Slide Number Placeholder 3">
            <a:extLst>
              <a:ext uri="{FF2B5EF4-FFF2-40B4-BE49-F238E27FC236}">
                <a16:creationId xmlns:a16="http://schemas.microsoft.com/office/drawing/2014/main" id="{462EDB14-E3EB-2E13-4329-1F33DA66199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C4AA8E3-A7BC-814E-A197-7391B897BBB3}" type="slidenum">
              <a:rPr lang="en-US" altLang="en-US" smtClean="0"/>
              <a:pPr/>
              <a:t>17</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C32D63BA-992B-9EB3-CEDB-EB2D44400ADA}"/>
              </a:ext>
            </a:extLst>
          </p:cNvPr>
          <p:cNvSpPr>
            <a:spLocks noGrp="1" noRot="1" noChangeAspect="1" noChangeArrowheads="1" noTextEdit="1"/>
          </p:cNvSpPr>
          <p:nvPr>
            <p:ph type="sldImg"/>
          </p:nvPr>
        </p:nvSpPr>
        <p:spPr>
          <a:ln/>
        </p:spPr>
      </p:sp>
      <p:sp>
        <p:nvSpPr>
          <p:cNvPr id="47106" name="Notes Placeholder 2">
            <a:extLst>
              <a:ext uri="{FF2B5EF4-FFF2-40B4-BE49-F238E27FC236}">
                <a16:creationId xmlns:a16="http://schemas.microsoft.com/office/drawing/2014/main" id="{C6D3DC88-E481-1061-7658-5006462D1E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Fingerprinting is more insidious, as it leaves no trace in the browser that the user is being tracked.</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Different devices/browsers will have different fingerprints based on a combination of attributes listed on this slide, and more.</a:t>
            </a:r>
          </a:p>
        </p:txBody>
      </p:sp>
      <p:sp>
        <p:nvSpPr>
          <p:cNvPr id="47107" name="Slide Number Placeholder 3">
            <a:extLst>
              <a:ext uri="{FF2B5EF4-FFF2-40B4-BE49-F238E27FC236}">
                <a16:creationId xmlns:a16="http://schemas.microsoft.com/office/drawing/2014/main" id="{4021F601-3E50-BD70-FB7A-AE9710F514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6453D15-2CED-1D48-A247-B1A0131145EA}" type="slidenum">
              <a:rPr lang="en-US" altLang="en-US" smtClean="0"/>
              <a:pPr/>
              <a:t>18</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a:extLst>
              <a:ext uri="{FF2B5EF4-FFF2-40B4-BE49-F238E27FC236}">
                <a16:creationId xmlns:a16="http://schemas.microsoft.com/office/drawing/2014/main" id="{57DF9D71-8BB4-166D-5E67-F97CB0FCBA59}"/>
              </a:ext>
            </a:extLst>
          </p:cNvPr>
          <p:cNvSpPr>
            <a:spLocks noGrp="1" noRot="1" noChangeAspect="1" noChangeArrowheads="1" noTextEdit="1"/>
          </p:cNvSpPr>
          <p:nvPr>
            <p:ph type="sldImg"/>
          </p:nvPr>
        </p:nvSpPr>
        <p:spPr>
          <a:ln/>
        </p:spPr>
      </p:sp>
      <p:sp>
        <p:nvSpPr>
          <p:cNvPr id="52226" name="Notes Placeholder 2">
            <a:extLst>
              <a:ext uri="{FF2B5EF4-FFF2-40B4-BE49-F238E27FC236}">
                <a16:creationId xmlns:a16="http://schemas.microsoft.com/office/drawing/2014/main" id="{A4FF086A-7E70-4E6E-8108-F9E76B8125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52227" name="Slide Number Placeholder 3">
            <a:extLst>
              <a:ext uri="{FF2B5EF4-FFF2-40B4-BE49-F238E27FC236}">
                <a16:creationId xmlns:a16="http://schemas.microsoft.com/office/drawing/2014/main" id="{D3D2AE62-3415-CD24-2D84-5BFD51FDC7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B3F0B755-6B9B-D14A-BD8E-4A8314CB9FBB}" type="slidenum">
              <a:rPr lang="en-US" altLang="en-US" smtClean="0"/>
              <a:pPr/>
              <a:t>22</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a:extLst>
              <a:ext uri="{FF2B5EF4-FFF2-40B4-BE49-F238E27FC236}">
                <a16:creationId xmlns:a16="http://schemas.microsoft.com/office/drawing/2014/main" id="{F965C17B-4A96-3857-5739-C8092866BBCA}"/>
              </a:ext>
            </a:extLst>
          </p:cNvPr>
          <p:cNvSpPr>
            <a:spLocks noGrp="1" noRot="1" noChangeAspect="1" noChangeArrowheads="1" noTextEdit="1"/>
          </p:cNvSpPr>
          <p:nvPr>
            <p:ph type="sldImg"/>
          </p:nvPr>
        </p:nvSpPr>
        <p:spPr>
          <a:ln/>
        </p:spPr>
      </p:sp>
      <p:sp>
        <p:nvSpPr>
          <p:cNvPr id="55298" name="Notes Placeholder 2">
            <a:extLst>
              <a:ext uri="{FF2B5EF4-FFF2-40B4-BE49-F238E27FC236}">
                <a16:creationId xmlns:a16="http://schemas.microsoft.com/office/drawing/2014/main" id="{D0472E3B-BB26-A3BC-86D9-BE65253E62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55299" name="Slide Number Placeholder 3">
            <a:extLst>
              <a:ext uri="{FF2B5EF4-FFF2-40B4-BE49-F238E27FC236}">
                <a16:creationId xmlns:a16="http://schemas.microsoft.com/office/drawing/2014/main" id="{F3EB5AA1-87DB-4564-231D-00D244F2572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66AA1E5-A220-5844-9CE2-222DB009E176}" type="slidenum">
              <a:rPr lang="en-US" altLang="en-US" smtClean="0"/>
              <a:pPr/>
              <a:t>24</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86F9D5FE-80AD-5FF8-D272-94DA1569E9DE}"/>
              </a:ext>
            </a:extLst>
          </p:cNvPr>
          <p:cNvSpPr>
            <a:spLocks noGrp="1" noRot="1" noChangeAspect="1" noChangeArrowheads="1" noTextEdit="1"/>
          </p:cNvSpPr>
          <p:nvPr>
            <p:ph type="sldImg"/>
          </p:nvPr>
        </p:nvSpPr>
        <p:spPr>
          <a:ln/>
        </p:spPr>
      </p:sp>
      <p:sp>
        <p:nvSpPr>
          <p:cNvPr id="57346" name="Notes Placeholder 2">
            <a:extLst>
              <a:ext uri="{FF2B5EF4-FFF2-40B4-BE49-F238E27FC236}">
                <a16:creationId xmlns:a16="http://schemas.microsoft.com/office/drawing/2014/main" id="{C8EA993D-37C5-8240-C16E-B72813EB7D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Facebook can connect your identity with their tracking of your browsing through the Like button</a:t>
            </a:r>
          </a:p>
        </p:txBody>
      </p:sp>
      <p:sp>
        <p:nvSpPr>
          <p:cNvPr id="57347" name="Slide Number Placeholder 3">
            <a:extLst>
              <a:ext uri="{FF2B5EF4-FFF2-40B4-BE49-F238E27FC236}">
                <a16:creationId xmlns:a16="http://schemas.microsoft.com/office/drawing/2014/main" id="{C142B818-1BDD-BBB0-90FF-67C2B82A64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E5FBA2A-065E-4C4B-9A86-26A120D6C41D}" type="slidenum">
              <a:rPr lang="en-US" altLang="en-US" smtClean="0"/>
              <a:pPr/>
              <a:t>25</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a:extLst>
              <a:ext uri="{FF2B5EF4-FFF2-40B4-BE49-F238E27FC236}">
                <a16:creationId xmlns:a16="http://schemas.microsoft.com/office/drawing/2014/main" id="{996DAE00-3022-C26D-726D-1FA6E3E25F22}"/>
              </a:ext>
            </a:extLst>
          </p:cNvPr>
          <p:cNvSpPr>
            <a:spLocks noGrp="1" noRot="1" noChangeAspect="1" noChangeArrowheads="1" noTextEdit="1"/>
          </p:cNvSpPr>
          <p:nvPr>
            <p:ph type="sldImg"/>
          </p:nvPr>
        </p:nvSpPr>
        <p:spPr>
          <a:ln/>
        </p:spPr>
      </p:sp>
      <p:sp>
        <p:nvSpPr>
          <p:cNvPr id="60418" name="Notes Placeholder 2">
            <a:extLst>
              <a:ext uri="{FF2B5EF4-FFF2-40B4-BE49-F238E27FC236}">
                <a16:creationId xmlns:a16="http://schemas.microsoft.com/office/drawing/2014/main" id="{AA02BA05-651A-378B-2320-00EB7CF61D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Slide shows a request to a third-party resource embedded on a page (in this case sports.com). This is a result of careless programming: the referer header leaks your identity.</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Search terms also frequently leak to third parties.</a:t>
            </a:r>
          </a:p>
        </p:txBody>
      </p:sp>
      <p:sp>
        <p:nvSpPr>
          <p:cNvPr id="60419" name="Slide Number Placeholder 3">
            <a:extLst>
              <a:ext uri="{FF2B5EF4-FFF2-40B4-BE49-F238E27FC236}">
                <a16:creationId xmlns:a16="http://schemas.microsoft.com/office/drawing/2014/main" id="{0475A42A-D545-CE59-7738-B2FA5C2F853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9486782-6EB7-2440-B112-329B0D51E176}" type="slidenum">
              <a:rPr lang="en-US" altLang="en-US" smtClean="0"/>
              <a:pPr/>
              <a:t>27</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a:extLst>
              <a:ext uri="{FF2B5EF4-FFF2-40B4-BE49-F238E27FC236}">
                <a16:creationId xmlns:a16="http://schemas.microsoft.com/office/drawing/2014/main" id="{17767E4F-6B90-178E-F52C-1E2F967C40AA}"/>
              </a:ext>
            </a:extLst>
          </p:cNvPr>
          <p:cNvSpPr>
            <a:spLocks noGrp="1" noRot="1" noChangeAspect="1" noChangeArrowheads="1" noTextEdit="1"/>
          </p:cNvSpPr>
          <p:nvPr>
            <p:ph type="sldImg"/>
          </p:nvPr>
        </p:nvSpPr>
        <p:spPr>
          <a:ln/>
        </p:spPr>
      </p:sp>
      <p:sp>
        <p:nvSpPr>
          <p:cNvPr id="62466" name="Notes Placeholder 2">
            <a:extLst>
              <a:ext uri="{FF2B5EF4-FFF2-40B4-BE49-F238E27FC236}">
                <a16:creationId xmlns:a16="http://schemas.microsoft.com/office/drawing/2014/main" id="{66D38559-42B6-7DEA-BE01-5B5E2195C1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62467" name="Slide Number Placeholder 3">
            <a:extLst>
              <a:ext uri="{FF2B5EF4-FFF2-40B4-BE49-F238E27FC236}">
                <a16:creationId xmlns:a16="http://schemas.microsoft.com/office/drawing/2014/main" id="{3A6534D7-E138-AC24-5D1A-AE937DF7D3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2ED7AD3-1322-4546-9C1F-2B6B8AF1E864}" type="slidenum">
              <a:rPr lang="en-US" altLang="en-US" smtClean="0"/>
              <a:pPr/>
              <a:t>28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a:extLst>
              <a:ext uri="{FF2B5EF4-FFF2-40B4-BE49-F238E27FC236}">
                <a16:creationId xmlns:a16="http://schemas.microsoft.com/office/drawing/2014/main" id="{05F2DBED-B8F1-129D-A82F-D4888BE6872B}"/>
              </a:ext>
            </a:extLst>
          </p:cNvPr>
          <p:cNvSpPr>
            <a:spLocks noGrp="1" noRot="1" noChangeAspect="1" noChangeArrowheads="1" noTextEdit="1"/>
          </p:cNvSpPr>
          <p:nvPr>
            <p:ph type="sldImg"/>
          </p:nvPr>
        </p:nvSpPr>
        <p:spPr>
          <a:ln/>
        </p:spPr>
      </p:sp>
      <p:sp>
        <p:nvSpPr>
          <p:cNvPr id="64514" name="Notes Placeholder 2">
            <a:extLst>
              <a:ext uri="{FF2B5EF4-FFF2-40B4-BE49-F238E27FC236}">
                <a16:creationId xmlns:a16="http://schemas.microsoft.com/office/drawing/2014/main" id="{D44F28E1-F265-AD83-08BC-A2B946C2179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For example, cookie syncing allows linking different IDs that different trackers have assigned to the same user (first bullet in previous slide.)</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Other linking techniques: onboarding (online--offline), cross-device tracking (different devices belonging to same user).</a:t>
            </a:r>
          </a:p>
        </p:txBody>
      </p:sp>
      <p:sp>
        <p:nvSpPr>
          <p:cNvPr id="64515" name="Slide Number Placeholder 3">
            <a:extLst>
              <a:ext uri="{FF2B5EF4-FFF2-40B4-BE49-F238E27FC236}">
                <a16:creationId xmlns:a16="http://schemas.microsoft.com/office/drawing/2014/main" id="{14902853-6D8F-2CB7-EC5C-0BFB05FDF4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B25AB65-051B-9D48-B9B0-BB122DA9DF4F}" type="slidenum">
              <a:rPr lang="en-US" altLang="en-US" smtClean="0"/>
              <a:pPr/>
              <a:t>29</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a:extLst>
              <a:ext uri="{FF2B5EF4-FFF2-40B4-BE49-F238E27FC236}">
                <a16:creationId xmlns:a16="http://schemas.microsoft.com/office/drawing/2014/main" id="{2168ACAA-8D68-2D69-E7BD-EAE32796D811}"/>
              </a:ext>
            </a:extLst>
          </p:cNvPr>
          <p:cNvSpPr>
            <a:spLocks noGrp="1" noRot="1" noChangeAspect="1" noChangeArrowheads="1" noTextEdit="1"/>
          </p:cNvSpPr>
          <p:nvPr>
            <p:ph type="sldImg"/>
          </p:nvPr>
        </p:nvSpPr>
        <p:spPr>
          <a:ln/>
        </p:spPr>
      </p:sp>
      <p:sp>
        <p:nvSpPr>
          <p:cNvPr id="66562" name="Notes Placeholder 2">
            <a:extLst>
              <a:ext uri="{FF2B5EF4-FFF2-40B4-BE49-F238E27FC236}">
                <a16:creationId xmlns:a16="http://schemas.microsoft.com/office/drawing/2014/main" id="{9DF7AC5A-8E6B-13D9-2BD1-2F4F10B4BA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TrackerX embeds its ID for the user into the GET request as a parameter</a:t>
            </a:r>
          </a:p>
        </p:txBody>
      </p:sp>
      <p:sp>
        <p:nvSpPr>
          <p:cNvPr id="66563" name="Slide Number Placeholder 3">
            <a:extLst>
              <a:ext uri="{FF2B5EF4-FFF2-40B4-BE49-F238E27FC236}">
                <a16:creationId xmlns:a16="http://schemas.microsoft.com/office/drawing/2014/main" id="{91C1A353-5F7C-B800-CC3C-D6C804E456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9EA0046F-F485-174C-A6BF-D1187D2FFA7A}" type="slidenum">
              <a:rPr lang="en-US" altLang="en-US" smtClean="0"/>
              <a:pPr/>
              <a:t>30</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a:extLst>
              <a:ext uri="{FF2B5EF4-FFF2-40B4-BE49-F238E27FC236}">
                <a16:creationId xmlns:a16="http://schemas.microsoft.com/office/drawing/2014/main" id="{2490E1DB-06F8-B3F0-3F03-AD6933BC7F81}"/>
              </a:ext>
            </a:extLst>
          </p:cNvPr>
          <p:cNvSpPr>
            <a:spLocks noGrp="1" noRot="1" noChangeAspect="1" noChangeArrowheads="1" noTextEdit="1"/>
          </p:cNvSpPr>
          <p:nvPr>
            <p:ph type="sldImg"/>
          </p:nvPr>
        </p:nvSpPr>
        <p:spPr>
          <a:ln/>
        </p:spPr>
      </p:sp>
      <p:sp>
        <p:nvSpPr>
          <p:cNvPr id="68610" name="Notes Placeholder 2">
            <a:extLst>
              <a:ext uri="{FF2B5EF4-FFF2-40B4-BE49-F238E27FC236}">
                <a16:creationId xmlns:a16="http://schemas.microsoft.com/office/drawing/2014/main" id="{537BF908-E473-47BE-E4BD-833F92618EA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68611" name="Slide Number Placeholder 3">
            <a:extLst>
              <a:ext uri="{FF2B5EF4-FFF2-40B4-BE49-F238E27FC236}">
                <a16:creationId xmlns:a16="http://schemas.microsoft.com/office/drawing/2014/main" id="{D944AD9E-1F0F-A02D-3CAE-B874FD65B84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961B85E6-1115-2B45-8DF9-9E12D3A4CBD7}" type="slidenum">
              <a:rPr lang="en-US" altLang="en-US" smtClean="0"/>
              <a:pPr/>
              <a:t>31</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a:extLst>
              <a:ext uri="{FF2B5EF4-FFF2-40B4-BE49-F238E27FC236}">
                <a16:creationId xmlns:a16="http://schemas.microsoft.com/office/drawing/2014/main" id="{D8B991DA-926C-10CE-D158-2E6EB2C705EC}"/>
              </a:ext>
            </a:extLst>
          </p:cNvPr>
          <p:cNvSpPr>
            <a:spLocks noGrp="1" noRot="1" noChangeAspect="1" noChangeArrowheads="1" noTextEdit="1"/>
          </p:cNvSpPr>
          <p:nvPr>
            <p:ph type="sldImg"/>
          </p:nvPr>
        </p:nvSpPr>
        <p:spPr>
          <a:ln/>
        </p:spPr>
      </p:sp>
      <p:sp>
        <p:nvSpPr>
          <p:cNvPr id="70658" name="Notes Placeholder 2">
            <a:extLst>
              <a:ext uri="{FF2B5EF4-FFF2-40B4-BE49-F238E27FC236}">
                <a16:creationId xmlns:a16="http://schemas.microsoft.com/office/drawing/2014/main" id="{B45743BB-7FD1-19E5-B180-FCCFAF236D7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70659" name="Slide Number Placeholder 3">
            <a:extLst>
              <a:ext uri="{FF2B5EF4-FFF2-40B4-BE49-F238E27FC236}">
                <a16:creationId xmlns:a16="http://schemas.microsoft.com/office/drawing/2014/main" id="{68B6F373-E5E4-391B-F393-70121E0FB4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2C0DD6D-B345-A042-9A61-F41818A3DBF8}" type="slidenum">
              <a:rPr lang="en-US" altLang="en-US" smtClean="0"/>
              <a:pPr/>
              <a:t>32</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a:extLst>
              <a:ext uri="{FF2B5EF4-FFF2-40B4-BE49-F238E27FC236}">
                <a16:creationId xmlns:a16="http://schemas.microsoft.com/office/drawing/2014/main" id="{9149A2C9-5C70-9568-0C6D-4A2A9593A731}"/>
              </a:ext>
            </a:extLst>
          </p:cNvPr>
          <p:cNvSpPr>
            <a:spLocks noGrp="1" noRot="1" noChangeAspect="1" noChangeArrowheads="1" noTextEdit="1"/>
          </p:cNvSpPr>
          <p:nvPr>
            <p:ph type="sldImg"/>
          </p:nvPr>
        </p:nvSpPr>
        <p:spPr>
          <a:ln/>
        </p:spPr>
      </p:sp>
      <p:sp>
        <p:nvSpPr>
          <p:cNvPr id="72706" name="Notes Placeholder 2">
            <a:extLst>
              <a:ext uri="{FF2B5EF4-FFF2-40B4-BE49-F238E27FC236}">
                <a16:creationId xmlns:a16="http://schemas.microsoft.com/office/drawing/2014/main" id="{0C37265C-9F51-8106-DB6A-EAD403BBDA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Note complaints about breakage for this referer-blocking extension</a:t>
            </a:r>
          </a:p>
        </p:txBody>
      </p:sp>
      <p:sp>
        <p:nvSpPr>
          <p:cNvPr id="72707" name="Slide Number Placeholder 3">
            <a:extLst>
              <a:ext uri="{FF2B5EF4-FFF2-40B4-BE49-F238E27FC236}">
                <a16:creationId xmlns:a16="http://schemas.microsoft.com/office/drawing/2014/main" id="{0E02334F-17D1-3CB4-B442-A05CDDD74E9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238844D2-170F-C04D-8B96-319C76E6FDDB}" type="slidenum">
              <a:rPr lang="en-US" altLang="en-US" smtClean="0"/>
              <a:pPr/>
              <a:t>33</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a:extLst>
              <a:ext uri="{FF2B5EF4-FFF2-40B4-BE49-F238E27FC236}">
                <a16:creationId xmlns:a16="http://schemas.microsoft.com/office/drawing/2014/main" id="{5F81F27A-AB13-16B4-1A9D-35C10150735F}"/>
              </a:ext>
            </a:extLst>
          </p:cNvPr>
          <p:cNvSpPr>
            <a:spLocks noGrp="1" noRot="1" noChangeAspect="1" noChangeArrowheads="1" noTextEdit="1"/>
          </p:cNvSpPr>
          <p:nvPr>
            <p:ph type="sldImg"/>
          </p:nvPr>
        </p:nvSpPr>
        <p:spPr>
          <a:ln/>
        </p:spPr>
      </p:sp>
      <p:sp>
        <p:nvSpPr>
          <p:cNvPr id="74754" name="Notes Placeholder 2">
            <a:extLst>
              <a:ext uri="{FF2B5EF4-FFF2-40B4-BE49-F238E27FC236}">
                <a16:creationId xmlns:a16="http://schemas.microsoft.com/office/drawing/2014/main" id="{9247942E-7027-032B-402F-C9F60581942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74755" name="Slide Number Placeholder 3">
            <a:extLst>
              <a:ext uri="{FF2B5EF4-FFF2-40B4-BE49-F238E27FC236}">
                <a16:creationId xmlns:a16="http://schemas.microsoft.com/office/drawing/2014/main" id="{FDC5656F-6F5D-6B55-7BD8-EC68B7016D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D016B7BC-2FA0-5046-8A9C-BE2E3AB4211E}" type="slidenum">
              <a:rPr lang="en-US" altLang="en-US" smtClean="0"/>
              <a:pPr/>
              <a:t>34</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a:extLst>
              <a:ext uri="{FF2B5EF4-FFF2-40B4-BE49-F238E27FC236}">
                <a16:creationId xmlns:a16="http://schemas.microsoft.com/office/drawing/2014/main" id="{D1A6251E-042E-468D-5F8E-57434601781A}"/>
              </a:ext>
            </a:extLst>
          </p:cNvPr>
          <p:cNvSpPr>
            <a:spLocks noGrp="1" noRot="1" noChangeAspect="1" noChangeArrowheads="1" noTextEdit="1"/>
          </p:cNvSpPr>
          <p:nvPr>
            <p:ph type="sldImg"/>
          </p:nvPr>
        </p:nvSpPr>
        <p:spPr>
          <a:ln/>
        </p:spPr>
      </p:sp>
      <p:sp>
        <p:nvSpPr>
          <p:cNvPr id="76802" name="Notes Placeholder 2">
            <a:extLst>
              <a:ext uri="{FF2B5EF4-FFF2-40B4-BE49-F238E27FC236}">
                <a16:creationId xmlns:a16="http://schemas.microsoft.com/office/drawing/2014/main" id="{355E4080-5C14-5CF0-2377-62CFA852C9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76803" name="Slide Number Placeholder 3">
            <a:extLst>
              <a:ext uri="{FF2B5EF4-FFF2-40B4-BE49-F238E27FC236}">
                <a16:creationId xmlns:a16="http://schemas.microsoft.com/office/drawing/2014/main" id="{C01EC1EA-A9ED-8AB9-0D71-A4CC0AAA922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FC8F5FD-8923-5F43-843E-9C347530971C}" type="slidenum">
              <a:rPr lang="en-US" altLang="en-US" smtClean="0"/>
              <a:pPr/>
              <a:t>35</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D9A12662-D04B-0A9A-BF95-2841E93E145C}"/>
              </a:ext>
            </a:extLst>
          </p:cNvPr>
          <p:cNvSpPr>
            <a:spLocks noGrp="1" noRot="1" noChangeAspect="1" noChangeArrowheads="1" noTextEdit="1"/>
          </p:cNvSpPr>
          <p:nvPr>
            <p:ph type="sldImg"/>
          </p:nvPr>
        </p:nvSpPr>
        <p:spPr>
          <a:ln/>
        </p:spPr>
      </p:sp>
      <p:sp>
        <p:nvSpPr>
          <p:cNvPr id="79874" name="Notes Placeholder 2">
            <a:extLst>
              <a:ext uri="{FF2B5EF4-FFF2-40B4-BE49-F238E27FC236}">
                <a16:creationId xmlns:a16="http://schemas.microsoft.com/office/drawing/2014/main" id="{B5685927-EF0D-BD4D-4578-8634A8CBF6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This is by far the most successful approach so far.</a:t>
            </a:r>
          </a:p>
        </p:txBody>
      </p:sp>
      <p:sp>
        <p:nvSpPr>
          <p:cNvPr id="79875" name="Slide Number Placeholder 3">
            <a:extLst>
              <a:ext uri="{FF2B5EF4-FFF2-40B4-BE49-F238E27FC236}">
                <a16:creationId xmlns:a16="http://schemas.microsoft.com/office/drawing/2014/main" id="{AFBEC9E6-570F-4DCE-82D9-C591EFC5AA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1B5AC3E-9504-C142-A6F1-2DF80AD6126D}" type="slidenum">
              <a:rPr lang="en-US" altLang="en-US" smtClean="0"/>
              <a:pPr/>
              <a:t>37</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a:extLst>
              <a:ext uri="{FF2B5EF4-FFF2-40B4-BE49-F238E27FC236}">
                <a16:creationId xmlns:a16="http://schemas.microsoft.com/office/drawing/2014/main" id="{D84FB379-30D3-57B9-F269-709B1F5D3004}"/>
              </a:ext>
            </a:extLst>
          </p:cNvPr>
          <p:cNvSpPr>
            <a:spLocks noGrp="1" noRot="1" noChangeAspect="1" noChangeArrowheads="1" noTextEdit="1"/>
          </p:cNvSpPr>
          <p:nvPr>
            <p:ph type="sldImg"/>
          </p:nvPr>
        </p:nvSpPr>
        <p:spPr>
          <a:ln/>
        </p:spPr>
      </p:sp>
      <p:sp>
        <p:nvSpPr>
          <p:cNvPr id="82946" name="Notes Placeholder 2">
            <a:extLst>
              <a:ext uri="{FF2B5EF4-FFF2-40B4-BE49-F238E27FC236}">
                <a16:creationId xmlns:a16="http://schemas.microsoft.com/office/drawing/2014/main" id="{6D67F5CD-3BF5-8738-D8A2-9330F0B02A7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AdBlock plus: need to install blocklist separately (e.g. EasyPrivacy) to block all trackers like analytics and social widgets.</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There are tradeoffs. E.g., there is some breakage.</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Exercise: if trackers wanted to avoid being blocked by these tools, how would they do it? If an arms race develops, which side has the advantage?</a:t>
            </a:r>
          </a:p>
        </p:txBody>
      </p:sp>
      <p:sp>
        <p:nvSpPr>
          <p:cNvPr id="82947" name="Slide Number Placeholder 3">
            <a:extLst>
              <a:ext uri="{FF2B5EF4-FFF2-40B4-BE49-F238E27FC236}">
                <a16:creationId xmlns:a16="http://schemas.microsoft.com/office/drawing/2014/main" id="{DAC1BB22-8ED6-62EB-CC36-AD342CC8E7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7B4595D0-0FC7-9D44-9D87-615B0DB20A19}" type="slidenum">
              <a:rPr lang="en-US" altLang="en-US" smtClean="0"/>
              <a:pPr/>
              <a:t>39</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2532F892-6C5D-FC91-0374-D043D05AD056}"/>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6BF37629-C718-AA50-5D55-7CBFD9CCD8B0}"/>
              </a:ext>
            </a:extLst>
          </p:cNvPr>
          <p:cNvSpPr>
            <a:spLocks noGrp="1"/>
          </p:cNvSpPr>
          <p:nvPr>
            <p:ph type="body" idx="1"/>
          </p:nvPr>
        </p:nvSpPr>
        <p:spPr/>
        <p:txBody>
          <a:bodyPr/>
          <a:lstStyle/>
          <a:p>
            <a:pPr defTabSz="457200" eaLnBrk="1" fontAlgn="auto" hangingPunct="1">
              <a:spcBef>
                <a:spcPts val="0"/>
              </a:spcBef>
              <a:spcAft>
                <a:spcPts val="0"/>
              </a:spcAft>
              <a:defRPr/>
            </a:pPr>
            <a:r>
              <a:rPr lang="en-US" dirty="0">
                <a:latin typeface="+mn-lt"/>
                <a:ea typeface="+mn-ea"/>
                <a:cs typeface="+mn-cs"/>
              </a:rPr>
              <a:t>Do Not Track signals a user’s opt-out preference with an HTTP header, a simple technology that is completely compatible with the existing web. While some third parties have </a:t>
            </a:r>
            <a:r>
              <a:rPr lang="en-US" dirty="0">
                <a:latin typeface="+mn-lt"/>
                <a:ea typeface="+mn-ea"/>
                <a:cs typeface="+mn-cs"/>
                <a:hlinkClick r:id="rId3"/>
              </a:rPr>
              <a:t>committed to honor Do Not Track</a:t>
            </a:r>
            <a:r>
              <a:rPr lang="en-US" dirty="0">
                <a:latin typeface="+mn-lt"/>
                <a:ea typeface="+mn-ea"/>
                <a:cs typeface="+mn-cs"/>
              </a:rPr>
              <a:t>, many more have not. In February 2012, the major online advertising trade groups </a:t>
            </a:r>
            <a:r>
              <a:rPr lang="en-US" dirty="0">
                <a:latin typeface="+mn-lt"/>
                <a:ea typeface="+mn-ea"/>
                <a:cs typeface="+mn-cs"/>
                <a:hlinkClick r:id="rId4"/>
              </a:rPr>
              <a:t>pledged</a:t>
            </a:r>
            <a:r>
              <a:rPr lang="en-US" dirty="0">
                <a:latin typeface="+mn-lt"/>
                <a:ea typeface="+mn-ea"/>
                <a:cs typeface="+mn-cs"/>
              </a:rPr>
              <a:t> at the White House to support Do Not Track by year-end; that promise remains unfulfilled. Efforts to standardize Do Not Track in the World Wide Web Consortium have resulted in deadlock, despite frequent urging by </a:t>
            </a:r>
            <a:r>
              <a:rPr lang="en-US" dirty="0">
                <a:latin typeface="+mn-lt"/>
                <a:ea typeface="+mn-ea"/>
                <a:cs typeface="+mn-cs"/>
                <a:hlinkClick r:id="rId5"/>
              </a:rPr>
              <a:t>American</a:t>
            </a:r>
            <a:r>
              <a:rPr lang="en-US" dirty="0">
                <a:latin typeface="+mn-lt"/>
                <a:ea typeface="+mn-ea"/>
                <a:cs typeface="+mn-cs"/>
              </a:rPr>
              <a:t> and </a:t>
            </a:r>
            <a:r>
              <a:rPr lang="en-US" dirty="0">
                <a:latin typeface="+mn-lt"/>
                <a:ea typeface="+mn-ea"/>
                <a:cs typeface="+mn-cs"/>
                <a:hlinkClick r:id="rId6"/>
              </a:rPr>
              <a:t>European</a:t>
            </a:r>
            <a:r>
              <a:rPr lang="en-US" dirty="0">
                <a:latin typeface="+mn-lt"/>
                <a:ea typeface="+mn-ea"/>
                <a:cs typeface="+mn-cs"/>
              </a:rPr>
              <a:t> policymakers. </a:t>
            </a:r>
            <a:endParaRPr lang="en-US" dirty="0"/>
          </a:p>
        </p:txBody>
      </p:sp>
      <p:sp>
        <p:nvSpPr>
          <p:cNvPr id="84995" name="Slide Number Placeholder 3">
            <a:extLst>
              <a:ext uri="{FF2B5EF4-FFF2-40B4-BE49-F238E27FC236}">
                <a16:creationId xmlns:a16="http://schemas.microsoft.com/office/drawing/2014/main" id="{6087163A-9017-3C71-3A6D-91F1AA100F5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3EBBC07-419B-9B44-8360-4B35597C7413}" type="slidenum">
              <a:rPr lang="en-US" altLang="en-US" smtClean="0"/>
              <a:pPr/>
              <a:t>40</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a:extLst>
              <a:ext uri="{FF2B5EF4-FFF2-40B4-BE49-F238E27FC236}">
                <a16:creationId xmlns:a16="http://schemas.microsoft.com/office/drawing/2014/main" id="{00490FAC-F824-CFDC-92A5-AFBE863B7918}"/>
              </a:ext>
            </a:extLst>
          </p:cNvPr>
          <p:cNvSpPr>
            <a:spLocks noGrp="1" noRot="1" noChangeAspect="1" noChangeArrowheads="1" noTextEdit="1"/>
          </p:cNvSpPr>
          <p:nvPr>
            <p:ph type="sldImg"/>
          </p:nvPr>
        </p:nvSpPr>
        <p:spPr>
          <a:ln/>
        </p:spPr>
      </p:sp>
      <p:sp>
        <p:nvSpPr>
          <p:cNvPr id="87042" name="Notes Placeholder 2">
            <a:extLst>
              <a:ext uri="{FF2B5EF4-FFF2-40B4-BE49-F238E27FC236}">
                <a16:creationId xmlns:a16="http://schemas.microsoft.com/office/drawing/2014/main" id="{3A242429-521E-3D56-4978-1E9104E2E6A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The idea is to give users a universal way to opt-out of all third-party tracking. Single checkbox in browser, preference is communicated to all sites via HTTP header.</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Very few sites respect Do Not Track, absent regulatory or commercial pressures.</a:t>
            </a:r>
          </a:p>
        </p:txBody>
      </p:sp>
      <p:sp>
        <p:nvSpPr>
          <p:cNvPr id="87043" name="Slide Number Placeholder 3">
            <a:extLst>
              <a:ext uri="{FF2B5EF4-FFF2-40B4-BE49-F238E27FC236}">
                <a16:creationId xmlns:a16="http://schemas.microsoft.com/office/drawing/2014/main" id="{E8AEF866-1A3F-3BD4-1D38-4D5DCA09BB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6A1944A-FD31-474E-B1B1-13451D72479D}" type="slidenum">
              <a:rPr lang="en-US" altLang="en-US" smtClean="0"/>
              <a:pPr/>
              <a:t>41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0E93599-2B67-E838-ECF1-FEDB73598DB5}"/>
              </a:ext>
            </a:extLst>
          </p:cNvPr>
          <p:cNvSpPr>
            <a:spLocks noGrp="1"/>
          </p:cNvSpPr>
          <p:nvPr>
            <p:ph type="dt" sz="half" idx="10"/>
          </p:nvPr>
        </p:nvSpPr>
        <p:spPr/>
        <p:txBody>
          <a:bodyPr/>
          <a:lstStyle>
            <a:lvl1pPr>
              <a:defRPr/>
            </a:lvl1pPr>
          </a:lstStyle>
          <a:p>
            <a:pPr>
              <a:defRPr/>
            </a:pPr>
            <a:fld id="{955FEF85-0C39-AA41-9FC3-34ECD54A14BF}"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73117133-775B-9842-EEE1-CC1E2629704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47C2343-BD39-6F4A-B8AB-E572B11A7B55}"/>
              </a:ext>
            </a:extLst>
          </p:cNvPr>
          <p:cNvSpPr>
            <a:spLocks noGrp="1"/>
          </p:cNvSpPr>
          <p:nvPr>
            <p:ph type="sldNum" sz="quarter" idx="12"/>
          </p:nvPr>
        </p:nvSpPr>
        <p:spPr/>
        <p:txBody>
          <a:bodyPr/>
          <a:lstStyle>
            <a:lvl1pPr>
              <a:defRPr/>
            </a:lvl1pPr>
          </a:lstStyle>
          <a:p>
            <a:pPr>
              <a:defRPr/>
            </a:pPr>
            <a:fld id="{7BB5516D-B75F-8846-BE95-634C77A0FA1B}" type="slidenum">
              <a:rPr lang="en-US" altLang="en-US"/>
              <a:pPr>
                <a:defRPr/>
              </a:pPr>
              <a:t>‹#›</a:t>
            </a:fld>
            <a:endParaRPr lang="en-US" altLang="en-US"/>
          </a:p>
        </p:txBody>
      </p:sp>
    </p:spTree>
    <p:extLst>
      <p:ext uri="{BB962C8B-B14F-4D97-AF65-F5344CB8AC3E}">
        <p14:creationId xmlns:p14="http://schemas.microsoft.com/office/powerpoint/2010/main" val="3062963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7DAFC5-1955-914C-0A0E-C5C8764A4649}"/>
              </a:ext>
            </a:extLst>
          </p:cNvPr>
          <p:cNvSpPr>
            <a:spLocks noGrp="1"/>
          </p:cNvSpPr>
          <p:nvPr>
            <p:ph type="dt" sz="half" idx="10"/>
          </p:nvPr>
        </p:nvSpPr>
        <p:spPr/>
        <p:txBody>
          <a:bodyPr/>
          <a:lstStyle>
            <a:lvl1pPr>
              <a:defRPr/>
            </a:lvl1pPr>
          </a:lstStyle>
          <a:p>
            <a:pPr>
              <a:defRPr/>
            </a:pPr>
            <a:fld id="{D7F0B6DD-9CA3-C349-A856-70D6930F6321}"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5323FFE4-D6F0-1484-2C0E-569B65C319D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CF55983-A164-0ED5-F878-921A0946E1E2}"/>
              </a:ext>
            </a:extLst>
          </p:cNvPr>
          <p:cNvSpPr>
            <a:spLocks noGrp="1"/>
          </p:cNvSpPr>
          <p:nvPr>
            <p:ph type="sldNum" sz="quarter" idx="12"/>
          </p:nvPr>
        </p:nvSpPr>
        <p:spPr/>
        <p:txBody>
          <a:bodyPr/>
          <a:lstStyle>
            <a:lvl1pPr>
              <a:defRPr/>
            </a:lvl1pPr>
          </a:lstStyle>
          <a:p>
            <a:pPr>
              <a:defRPr/>
            </a:pPr>
            <a:fld id="{38F026FB-B8AA-CA4A-9470-413396C3807A}" type="slidenum">
              <a:rPr lang="en-US" altLang="en-US"/>
              <a:pPr>
                <a:defRPr/>
              </a:pPr>
              <a:t>‹#›</a:t>
            </a:fld>
            <a:endParaRPr lang="en-US" altLang="en-US"/>
          </a:p>
        </p:txBody>
      </p:sp>
    </p:spTree>
    <p:extLst>
      <p:ext uri="{BB962C8B-B14F-4D97-AF65-F5344CB8AC3E}">
        <p14:creationId xmlns:p14="http://schemas.microsoft.com/office/powerpoint/2010/main" val="212710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80B2F5-46EB-6FFC-6FCF-4F62AD6765B4}"/>
              </a:ext>
            </a:extLst>
          </p:cNvPr>
          <p:cNvSpPr>
            <a:spLocks noGrp="1"/>
          </p:cNvSpPr>
          <p:nvPr>
            <p:ph type="dt" sz="half" idx="10"/>
          </p:nvPr>
        </p:nvSpPr>
        <p:spPr/>
        <p:txBody>
          <a:bodyPr/>
          <a:lstStyle>
            <a:lvl1pPr>
              <a:defRPr/>
            </a:lvl1pPr>
          </a:lstStyle>
          <a:p>
            <a:pPr>
              <a:defRPr/>
            </a:pPr>
            <a:fld id="{2AF5350C-4202-524D-8FFB-08B18629DA08}"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F07AEDB3-4D9F-34FB-D18F-81EEE738B76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1EBC2D8-68BF-3E53-0BF0-18966FAB8B4D}"/>
              </a:ext>
            </a:extLst>
          </p:cNvPr>
          <p:cNvSpPr>
            <a:spLocks noGrp="1"/>
          </p:cNvSpPr>
          <p:nvPr>
            <p:ph type="sldNum" sz="quarter" idx="12"/>
          </p:nvPr>
        </p:nvSpPr>
        <p:spPr/>
        <p:txBody>
          <a:bodyPr/>
          <a:lstStyle>
            <a:lvl1pPr>
              <a:defRPr/>
            </a:lvl1pPr>
          </a:lstStyle>
          <a:p>
            <a:pPr>
              <a:defRPr/>
            </a:pPr>
            <a:fld id="{7E41E9C5-8DC2-A94B-85FF-55629E73491F}" type="slidenum">
              <a:rPr lang="en-US" altLang="en-US"/>
              <a:pPr>
                <a:defRPr/>
              </a:pPr>
              <a:t>‹#›</a:t>
            </a:fld>
            <a:endParaRPr lang="en-US" altLang="en-US"/>
          </a:p>
        </p:txBody>
      </p:sp>
    </p:spTree>
    <p:extLst>
      <p:ext uri="{BB962C8B-B14F-4D97-AF65-F5344CB8AC3E}">
        <p14:creationId xmlns:p14="http://schemas.microsoft.com/office/powerpoint/2010/main" val="3593041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B41239F-8EBB-FE07-77E2-B6DBD571D401}"/>
              </a:ext>
            </a:extLst>
          </p:cNvPr>
          <p:cNvSpPr>
            <a:spLocks noGrp="1"/>
          </p:cNvSpPr>
          <p:nvPr>
            <p:ph type="dt" sz="half" idx="10"/>
          </p:nvPr>
        </p:nvSpPr>
        <p:spPr/>
        <p:txBody>
          <a:bodyPr/>
          <a:lstStyle>
            <a:lvl1pPr>
              <a:defRPr/>
            </a:lvl1pPr>
          </a:lstStyle>
          <a:p>
            <a:pPr>
              <a:defRPr/>
            </a:pPr>
            <a:fld id="{3C1DF7C3-2413-5648-8A3A-03624C3751DD}" type="datetimeFigureOut">
              <a:rPr lang="en-US" altLang="en-US"/>
              <a:pPr>
                <a:defRPr/>
              </a:pPr>
              <a:t>6/2/26</a:t>
            </a:fld>
            <a:endParaRPr lang="en-US" altLang="en-US"/>
          </a:p>
        </p:txBody>
      </p:sp>
      <p:sp>
        <p:nvSpPr>
          <p:cNvPr id="6" name="Footer Placeholder 4">
            <a:extLst>
              <a:ext uri="{FF2B5EF4-FFF2-40B4-BE49-F238E27FC236}">
                <a16:creationId xmlns:a16="http://schemas.microsoft.com/office/drawing/2014/main" id="{4EF89922-6C8F-6C93-782C-15CCF14FB71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16191BE-8FA2-644F-571C-6B500597F5BE}"/>
              </a:ext>
            </a:extLst>
          </p:cNvPr>
          <p:cNvSpPr>
            <a:spLocks noGrp="1"/>
          </p:cNvSpPr>
          <p:nvPr>
            <p:ph type="sldNum" sz="quarter" idx="12"/>
          </p:nvPr>
        </p:nvSpPr>
        <p:spPr/>
        <p:txBody>
          <a:bodyPr/>
          <a:lstStyle>
            <a:lvl1pPr>
              <a:defRPr/>
            </a:lvl1pPr>
          </a:lstStyle>
          <a:p>
            <a:pPr>
              <a:defRPr/>
            </a:pPr>
            <a:fld id="{43FED1A2-0FC7-1A4A-88FD-B27C752BF1F6}" type="slidenum">
              <a:rPr lang="en-US" altLang="en-US"/>
              <a:pPr>
                <a:defRPr/>
              </a:pPr>
              <a:t>‹#›</a:t>
            </a:fld>
            <a:endParaRPr lang="en-US" altLang="en-US"/>
          </a:p>
        </p:txBody>
      </p:sp>
    </p:spTree>
    <p:extLst>
      <p:ext uri="{BB962C8B-B14F-4D97-AF65-F5344CB8AC3E}">
        <p14:creationId xmlns:p14="http://schemas.microsoft.com/office/powerpoint/2010/main" val="1724685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93D3653E-DE76-B8A2-349C-6B64AAD3D705}"/>
              </a:ext>
            </a:extLst>
          </p:cNvPr>
          <p:cNvSpPr>
            <a:spLocks noGrp="1"/>
          </p:cNvSpPr>
          <p:nvPr>
            <p:ph type="dt" sz="half" idx="10"/>
          </p:nvPr>
        </p:nvSpPr>
        <p:spPr/>
        <p:txBody>
          <a:bodyPr/>
          <a:lstStyle>
            <a:lvl1pPr>
              <a:defRPr/>
            </a:lvl1pPr>
          </a:lstStyle>
          <a:p>
            <a:pPr>
              <a:defRPr/>
            </a:pPr>
            <a:fld id="{E9172D61-D867-514D-A990-F12E95F6A076}" type="datetimeFigureOut">
              <a:rPr lang="en-US" altLang="en-US"/>
              <a:pPr>
                <a:defRPr/>
              </a:pPr>
              <a:t>6/2/26</a:t>
            </a:fld>
            <a:endParaRPr lang="en-US" altLang="en-US"/>
          </a:p>
        </p:txBody>
      </p:sp>
      <p:sp>
        <p:nvSpPr>
          <p:cNvPr id="8" name="Footer Placeholder 4">
            <a:extLst>
              <a:ext uri="{FF2B5EF4-FFF2-40B4-BE49-F238E27FC236}">
                <a16:creationId xmlns:a16="http://schemas.microsoft.com/office/drawing/2014/main" id="{3382BB83-B6FA-60A1-2D6A-F05060676CB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E921E17-1A05-CB4E-079C-26CC9BFA586B}"/>
              </a:ext>
            </a:extLst>
          </p:cNvPr>
          <p:cNvSpPr>
            <a:spLocks noGrp="1"/>
          </p:cNvSpPr>
          <p:nvPr>
            <p:ph type="sldNum" sz="quarter" idx="12"/>
          </p:nvPr>
        </p:nvSpPr>
        <p:spPr/>
        <p:txBody>
          <a:bodyPr/>
          <a:lstStyle>
            <a:lvl1pPr>
              <a:defRPr/>
            </a:lvl1pPr>
          </a:lstStyle>
          <a:p>
            <a:pPr>
              <a:defRPr/>
            </a:pPr>
            <a:fld id="{F81AECF1-04EF-F04F-992B-64C46ED521DC}" type="slidenum">
              <a:rPr lang="en-US" altLang="en-US"/>
              <a:pPr>
                <a:defRPr/>
              </a:pPr>
              <a:t>‹#›</a:t>
            </a:fld>
            <a:endParaRPr lang="en-US" altLang="en-US"/>
          </a:p>
        </p:txBody>
      </p:sp>
    </p:spTree>
    <p:extLst>
      <p:ext uri="{BB962C8B-B14F-4D97-AF65-F5344CB8AC3E}">
        <p14:creationId xmlns:p14="http://schemas.microsoft.com/office/powerpoint/2010/main" val="2817547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D992A24-A5C1-01FF-5C1C-6974726CEFF5}"/>
              </a:ext>
            </a:extLst>
          </p:cNvPr>
          <p:cNvSpPr>
            <a:spLocks noGrp="1"/>
          </p:cNvSpPr>
          <p:nvPr>
            <p:ph type="dt" sz="half" idx="10"/>
          </p:nvPr>
        </p:nvSpPr>
        <p:spPr/>
        <p:txBody>
          <a:bodyPr/>
          <a:lstStyle>
            <a:lvl1pPr>
              <a:defRPr/>
            </a:lvl1pPr>
          </a:lstStyle>
          <a:p>
            <a:pPr>
              <a:defRPr/>
            </a:pPr>
            <a:fld id="{AFDAD6E2-B856-434C-94DC-06A828C31D12}" type="datetimeFigureOut">
              <a:rPr lang="en-US" altLang="en-US"/>
              <a:pPr>
                <a:defRPr/>
              </a:pPr>
              <a:t>6/2/26</a:t>
            </a:fld>
            <a:endParaRPr lang="en-US" altLang="en-US"/>
          </a:p>
        </p:txBody>
      </p:sp>
      <p:sp>
        <p:nvSpPr>
          <p:cNvPr id="4" name="Footer Placeholder 4">
            <a:extLst>
              <a:ext uri="{FF2B5EF4-FFF2-40B4-BE49-F238E27FC236}">
                <a16:creationId xmlns:a16="http://schemas.microsoft.com/office/drawing/2014/main" id="{6594D37E-3180-87B0-09A6-60E6571D77F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0757D0C-E850-3F0A-9A1B-EBB10D5BCE56}"/>
              </a:ext>
            </a:extLst>
          </p:cNvPr>
          <p:cNvSpPr>
            <a:spLocks noGrp="1"/>
          </p:cNvSpPr>
          <p:nvPr>
            <p:ph type="sldNum" sz="quarter" idx="12"/>
          </p:nvPr>
        </p:nvSpPr>
        <p:spPr/>
        <p:txBody>
          <a:bodyPr/>
          <a:lstStyle>
            <a:lvl1pPr>
              <a:defRPr/>
            </a:lvl1pPr>
          </a:lstStyle>
          <a:p>
            <a:pPr>
              <a:defRPr/>
            </a:pPr>
            <a:fld id="{A23C0F61-6232-C747-A3BB-2B1BADE142C3}" type="slidenum">
              <a:rPr lang="en-US" altLang="en-US"/>
              <a:pPr>
                <a:defRPr/>
              </a:pPr>
              <a:t>‹#›</a:t>
            </a:fld>
            <a:endParaRPr lang="en-US" altLang="en-US"/>
          </a:p>
        </p:txBody>
      </p:sp>
    </p:spTree>
    <p:extLst>
      <p:ext uri="{BB962C8B-B14F-4D97-AF65-F5344CB8AC3E}">
        <p14:creationId xmlns:p14="http://schemas.microsoft.com/office/powerpoint/2010/main" val="770426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8DAB544-4157-3B6B-CE4A-1448096EC797}"/>
              </a:ext>
            </a:extLst>
          </p:cNvPr>
          <p:cNvSpPr>
            <a:spLocks noGrp="1"/>
          </p:cNvSpPr>
          <p:nvPr>
            <p:ph type="dt" sz="half" idx="10"/>
          </p:nvPr>
        </p:nvSpPr>
        <p:spPr/>
        <p:txBody>
          <a:bodyPr/>
          <a:lstStyle>
            <a:lvl1pPr>
              <a:defRPr/>
            </a:lvl1pPr>
          </a:lstStyle>
          <a:p>
            <a:pPr>
              <a:defRPr/>
            </a:pPr>
            <a:fld id="{69A9039B-451C-9F4D-867F-D4F2DAE81B4D}" type="datetimeFigureOut">
              <a:rPr lang="en-US" altLang="en-US"/>
              <a:pPr>
                <a:defRPr/>
              </a:pPr>
              <a:t>6/2/26</a:t>
            </a:fld>
            <a:endParaRPr lang="en-US" altLang="en-US"/>
          </a:p>
        </p:txBody>
      </p:sp>
      <p:sp>
        <p:nvSpPr>
          <p:cNvPr id="3" name="Footer Placeholder 4">
            <a:extLst>
              <a:ext uri="{FF2B5EF4-FFF2-40B4-BE49-F238E27FC236}">
                <a16:creationId xmlns:a16="http://schemas.microsoft.com/office/drawing/2014/main" id="{B56D7FAC-D356-A18E-39B7-E81952C771B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BA22CEC-6EBD-EB6C-819C-52B4D546A627}"/>
              </a:ext>
            </a:extLst>
          </p:cNvPr>
          <p:cNvSpPr>
            <a:spLocks noGrp="1"/>
          </p:cNvSpPr>
          <p:nvPr>
            <p:ph type="sldNum" sz="quarter" idx="12"/>
          </p:nvPr>
        </p:nvSpPr>
        <p:spPr/>
        <p:txBody>
          <a:bodyPr/>
          <a:lstStyle>
            <a:lvl1pPr>
              <a:defRPr/>
            </a:lvl1pPr>
          </a:lstStyle>
          <a:p>
            <a:pPr>
              <a:defRPr/>
            </a:pPr>
            <a:fld id="{D1A96359-EB23-4948-8C37-0C68948C9A86}" type="slidenum">
              <a:rPr lang="en-US" altLang="en-US"/>
              <a:pPr>
                <a:defRPr/>
              </a:pPr>
              <a:t>‹#›</a:t>
            </a:fld>
            <a:endParaRPr lang="en-US" altLang="en-US"/>
          </a:p>
        </p:txBody>
      </p:sp>
    </p:spTree>
    <p:extLst>
      <p:ext uri="{BB962C8B-B14F-4D97-AF65-F5344CB8AC3E}">
        <p14:creationId xmlns:p14="http://schemas.microsoft.com/office/powerpoint/2010/main" val="1214076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E659C588-36BA-C917-0953-3B18F8F1D93E}"/>
              </a:ext>
            </a:extLst>
          </p:cNvPr>
          <p:cNvSpPr>
            <a:spLocks noGrp="1"/>
          </p:cNvSpPr>
          <p:nvPr>
            <p:ph type="dt" sz="half" idx="10"/>
          </p:nvPr>
        </p:nvSpPr>
        <p:spPr/>
        <p:txBody>
          <a:bodyPr/>
          <a:lstStyle>
            <a:lvl1pPr>
              <a:defRPr/>
            </a:lvl1pPr>
          </a:lstStyle>
          <a:p>
            <a:pPr>
              <a:defRPr/>
            </a:pPr>
            <a:fld id="{79B08108-D5F0-A942-936A-678334990626}" type="datetimeFigureOut">
              <a:rPr lang="en-US" altLang="en-US"/>
              <a:pPr>
                <a:defRPr/>
              </a:pPr>
              <a:t>6/2/26</a:t>
            </a:fld>
            <a:endParaRPr lang="en-US" altLang="en-US"/>
          </a:p>
        </p:txBody>
      </p:sp>
      <p:sp>
        <p:nvSpPr>
          <p:cNvPr id="6" name="Footer Placeholder 4">
            <a:extLst>
              <a:ext uri="{FF2B5EF4-FFF2-40B4-BE49-F238E27FC236}">
                <a16:creationId xmlns:a16="http://schemas.microsoft.com/office/drawing/2014/main" id="{ED622677-975F-1420-4DD9-88255826A1C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32B5BD1-CB9C-DB07-31A7-E509BF2FF856}"/>
              </a:ext>
            </a:extLst>
          </p:cNvPr>
          <p:cNvSpPr>
            <a:spLocks noGrp="1"/>
          </p:cNvSpPr>
          <p:nvPr>
            <p:ph type="sldNum" sz="quarter" idx="12"/>
          </p:nvPr>
        </p:nvSpPr>
        <p:spPr/>
        <p:txBody>
          <a:bodyPr/>
          <a:lstStyle>
            <a:lvl1pPr>
              <a:defRPr/>
            </a:lvl1pPr>
          </a:lstStyle>
          <a:p>
            <a:pPr>
              <a:defRPr/>
            </a:pPr>
            <a:fld id="{0D54A6F5-DE6B-C64A-AACF-CC891241BA8C}" type="slidenum">
              <a:rPr lang="en-US" altLang="en-US"/>
              <a:pPr>
                <a:defRPr/>
              </a:pPr>
              <a:t>‹#›</a:t>
            </a:fld>
            <a:endParaRPr lang="en-US" altLang="en-US"/>
          </a:p>
        </p:txBody>
      </p:sp>
    </p:spTree>
    <p:extLst>
      <p:ext uri="{BB962C8B-B14F-4D97-AF65-F5344CB8AC3E}">
        <p14:creationId xmlns:p14="http://schemas.microsoft.com/office/powerpoint/2010/main" val="163964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1843A190-9779-CAD0-D10C-C2CDB351A9B5}"/>
              </a:ext>
            </a:extLst>
          </p:cNvPr>
          <p:cNvSpPr>
            <a:spLocks noGrp="1"/>
          </p:cNvSpPr>
          <p:nvPr>
            <p:ph type="dt" sz="half" idx="10"/>
          </p:nvPr>
        </p:nvSpPr>
        <p:spPr/>
        <p:txBody>
          <a:bodyPr/>
          <a:lstStyle>
            <a:lvl1pPr>
              <a:defRPr/>
            </a:lvl1pPr>
          </a:lstStyle>
          <a:p>
            <a:pPr>
              <a:defRPr/>
            </a:pPr>
            <a:fld id="{C358BC3D-0986-AE4C-92D9-ED5DD987CDE1}" type="datetimeFigureOut">
              <a:rPr lang="en-US" altLang="en-US"/>
              <a:pPr>
                <a:defRPr/>
              </a:pPr>
              <a:t>6/2/26</a:t>
            </a:fld>
            <a:endParaRPr lang="en-US" altLang="en-US"/>
          </a:p>
        </p:txBody>
      </p:sp>
      <p:sp>
        <p:nvSpPr>
          <p:cNvPr id="6" name="Footer Placeholder 4">
            <a:extLst>
              <a:ext uri="{FF2B5EF4-FFF2-40B4-BE49-F238E27FC236}">
                <a16:creationId xmlns:a16="http://schemas.microsoft.com/office/drawing/2014/main" id="{AD4B2299-8D8C-F7C2-7FD4-E0B6CDA9257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DEF5DA3-5F8F-F6C1-F810-0404EF0A5A64}"/>
              </a:ext>
            </a:extLst>
          </p:cNvPr>
          <p:cNvSpPr>
            <a:spLocks noGrp="1"/>
          </p:cNvSpPr>
          <p:nvPr>
            <p:ph type="sldNum" sz="quarter" idx="12"/>
          </p:nvPr>
        </p:nvSpPr>
        <p:spPr/>
        <p:txBody>
          <a:bodyPr/>
          <a:lstStyle>
            <a:lvl1pPr>
              <a:defRPr/>
            </a:lvl1pPr>
          </a:lstStyle>
          <a:p>
            <a:pPr>
              <a:defRPr/>
            </a:pPr>
            <a:fld id="{E6561577-74D1-6D46-A9A6-E1C2D589BB1C}" type="slidenum">
              <a:rPr lang="en-US" altLang="en-US"/>
              <a:pPr>
                <a:defRPr/>
              </a:pPr>
              <a:t>‹#›</a:t>
            </a:fld>
            <a:endParaRPr lang="en-US" altLang="en-US"/>
          </a:p>
        </p:txBody>
      </p:sp>
    </p:spTree>
    <p:extLst>
      <p:ext uri="{BB962C8B-B14F-4D97-AF65-F5344CB8AC3E}">
        <p14:creationId xmlns:p14="http://schemas.microsoft.com/office/powerpoint/2010/main" val="3787405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2DA10F-0BCF-C551-5902-5A22EA325391}"/>
              </a:ext>
            </a:extLst>
          </p:cNvPr>
          <p:cNvSpPr>
            <a:spLocks noGrp="1"/>
          </p:cNvSpPr>
          <p:nvPr>
            <p:ph type="dt" sz="half" idx="10"/>
          </p:nvPr>
        </p:nvSpPr>
        <p:spPr/>
        <p:txBody>
          <a:bodyPr/>
          <a:lstStyle>
            <a:lvl1pPr>
              <a:defRPr/>
            </a:lvl1pPr>
          </a:lstStyle>
          <a:p>
            <a:pPr>
              <a:defRPr/>
            </a:pPr>
            <a:fld id="{2D7C6A7B-899D-024A-89A4-E0436DDAC637}"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70FC2CD4-5CFD-BFAE-91DD-12816F4EF2D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6E3C515-8233-AB44-B197-B15114BB4995}"/>
              </a:ext>
            </a:extLst>
          </p:cNvPr>
          <p:cNvSpPr>
            <a:spLocks noGrp="1"/>
          </p:cNvSpPr>
          <p:nvPr>
            <p:ph type="sldNum" sz="quarter" idx="12"/>
          </p:nvPr>
        </p:nvSpPr>
        <p:spPr/>
        <p:txBody>
          <a:bodyPr/>
          <a:lstStyle>
            <a:lvl1pPr>
              <a:defRPr/>
            </a:lvl1pPr>
          </a:lstStyle>
          <a:p>
            <a:pPr>
              <a:defRPr/>
            </a:pPr>
            <a:fld id="{B4B986FD-5BB6-DF4B-9FE6-86D2340CB14D}" type="slidenum">
              <a:rPr lang="en-US" altLang="en-US"/>
              <a:pPr>
                <a:defRPr/>
              </a:pPr>
              <a:t>‹#›</a:t>
            </a:fld>
            <a:endParaRPr lang="en-US" altLang="en-US"/>
          </a:p>
        </p:txBody>
      </p:sp>
    </p:spTree>
    <p:extLst>
      <p:ext uri="{BB962C8B-B14F-4D97-AF65-F5344CB8AC3E}">
        <p14:creationId xmlns:p14="http://schemas.microsoft.com/office/powerpoint/2010/main" val="2864010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183E3-8A76-D9AD-EF0A-8DC9A238960B}"/>
              </a:ext>
            </a:extLst>
          </p:cNvPr>
          <p:cNvSpPr>
            <a:spLocks noGrp="1"/>
          </p:cNvSpPr>
          <p:nvPr>
            <p:ph type="dt" sz="half" idx="10"/>
          </p:nvPr>
        </p:nvSpPr>
        <p:spPr/>
        <p:txBody>
          <a:bodyPr/>
          <a:lstStyle>
            <a:lvl1pPr>
              <a:defRPr/>
            </a:lvl1pPr>
          </a:lstStyle>
          <a:p>
            <a:pPr>
              <a:defRPr/>
            </a:pPr>
            <a:fld id="{9377A3A7-23A4-D74D-93BD-70E30DB283C9}"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A31BDEA8-E053-AD8A-DFBA-529CC2C3296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8A4B2D8-4B13-4D93-73E8-0A5F87FCA9BB}"/>
              </a:ext>
            </a:extLst>
          </p:cNvPr>
          <p:cNvSpPr>
            <a:spLocks noGrp="1"/>
          </p:cNvSpPr>
          <p:nvPr>
            <p:ph type="sldNum" sz="quarter" idx="12"/>
          </p:nvPr>
        </p:nvSpPr>
        <p:spPr/>
        <p:txBody>
          <a:bodyPr/>
          <a:lstStyle>
            <a:lvl1pPr>
              <a:defRPr/>
            </a:lvl1pPr>
          </a:lstStyle>
          <a:p>
            <a:pPr>
              <a:defRPr/>
            </a:pPr>
            <a:fld id="{53C0D39B-FF14-2545-BE78-37FA8A3A40A0}" type="slidenum">
              <a:rPr lang="en-US" altLang="en-US"/>
              <a:pPr>
                <a:defRPr/>
              </a:pPr>
              <a:t>‹#›</a:t>
            </a:fld>
            <a:endParaRPr lang="en-US" altLang="en-US"/>
          </a:p>
        </p:txBody>
      </p:sp>
    </p:spTree>
    <p:extLst>
      <p:ext uri="{BB962C8B-B14F-4D97-AF65-F5344CB8AC3E}">
        <p14:creationId xmlns:p14="http://schemas.microsoft.com/office/powerpoint/2010/main" val="4056901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114551"/>
            <a:ext cx="7772400" cy="1021556"/>
          </a:xfrm>
        </p:spPr>
        <p:txBody>
          <a:bodyPr anchor="t">
            <a:normAutofit/>
          </a:bodyPr>
          <a:lstStyle>
            <a:lvl1pPr algn="ctr">
              <a:defRPr sz="3300" b="0" cap="all">
                <a:solidFill>
                  <a:schemeClr val="tx1"/>
                </a:solidFill>
                <a:latin typeface="Lucida Sans" panose="020B0602030504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BC974D58-BAAB-4B33-32D1-CE9946E4431F}"/>
              </a:ext>
            </a:extLst>
          </p:cNvPr>
          <p:cNvSpPr>
            <a:spLocks noGrp="1"/>
          </p:cNvSpPr>
          <p:nvPr>
            <p:ph type="dt" sz="half" idx="10"/>
          </p:nvPr>
        </p:nvSpPr>
        <p:spPr/>
        <p:txBody>
          <a:bodyPr/>
          <a:lstStyle>
            <a:lvl1pPr>
              <a:defRPr/>
            </a:lvl1pPr>
          </a:lstStyle>
          <a:p>
            <a:pPr>
              <a:defRPr/>
            </a:pPr>
            <a:fld id="{C7553612-6883-0346-A4B3-BAB97851F8A6}" type="datetime1">
              <a:rPr lang="en-US" altLang="en-US"/>
              <a:pPr>
                <a:defRPr/>
              </a:pPr>
              <a:t>6/2/26</a:t>
            </a:fld>
            <a:endParaRPr lang="en-US" altLang="en-US"/>
          </a:p>
        </p:txBody>
      </p:sp>
      <p:sp>
        <p:nvSpPr>
          <p:cNvPr id="4" name="Footer Placeholder 4">
            <a:extLst>
              <a:ext uri="{FF2B5EF4-FFF2-40B4-BE49-F238E27FC236}">
                <a16:creationId xmlns:a16="http://schemas.microsoft.com/office/drawing/2014/main" id="{FB0BDC6D-36AA-0728-F238-6BD43CF38BEE}"/>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13D743F-E179-3A5A-04C1-5AC6A2CDC2F9}"/>
              </a:ext>
            </a:extLst>
          </p:cNvPr>
          <p:cNvSpPr>
            <a:spLocks noGrp="1"/>
          </p:cNvSpPr>
          <p:nvPr>
            <p:ph type="sldNum" sz="quarter" idx="12"/>
          </p:nvPr>
        </p:nvSpPr>
        <p:spPr/>
        <p:txBody>
          <a:bodyPr/>
          <a:lstStyle>
            <a:lvl1pPr>
              <a:defRPr/>
            </a:lvl1pPr>
          </a:lstStyle>
          <a:p>
            <a:pPr>
              <a:defRPr/>
            </a:pPr>
            <a:fld id="{5761602D-8F56-E749-8339-451BCC4B7F4F}" type="slidenum">
              <a:rPr lang="en-US" altLang="en-US"/>
              <a:pPr>
                <a:defRPr/>
              </a:pPr>
              <a:t>‹#›</a:t>
            </a:fld>
            <a:endParaRPr lang="en-US" altLang="en-US"/>
          </a:p>
        </p:txBody>
      </p:sp>
    </p:spTree>
    <p:extLst>
      <p:ext uri="{BB962C8B-B14F-4D97-AF65-F5344CB8AC3E}">
        <p14:creationId xmlns:p14="http://schemas.microsoft.com/office/powerpoint/2010/main" val="4637543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114551"/>
            <a:ext cx="7772400" cy="1021556"/>
          </a:xfrm>
        </p:spPr>
        <p:txBody>
          <a:bodyPr anchor="t">
            <a:normAutofit/>
          </a:bodyPr>
          <a:lstStyle>
            <a:lvl1pPr algn="ctr">
              <a:defRPr sz="3300" b="0" cap="all">
                <a:solidFill>
                  <a:schemeClr val="tx1"/>
                </a:solidFill>
                <a:latin typeface="Lucida Sans" panose="020B0602030504020204"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28FF6DD6-06BB-162A-1517-12E8AD9EB745}"/>
              </a:ext>
            </a:extLst>
          </p:cNvPr>
          <p:cNvSpPr>
            <a:spLocks noGrp="1"/>
          </p:cNvSpPr>
          <p:nvPr>
            <p:ph type="dt" sz="half" idx="10"/>
          </p:nvPr>
        </p:nvSpPr>
        <p:spPr/>
        <p:txBody>
          <a:bodyPr/>
          <a:lstStyle>
            <a:lvl1pPr>
              <a:defRPr/>
            </a:lvl1pPr>
          </a:lstStyle>
          <a:p>
            <a:pPr>
              <a:defRPr/>
            </a:pPr>
            <a:fld id="{2357280E-3AAD-5646-8ABB-7408D466ADA2}" type="datetime1">
              <a:rPr lang="en-US" altLang="en-US"/>
              <a:pPr>
                <a:defRPr/>
              </a:pPr>
              <a:t>6/2/26</a:t>
            </a:fld>
            <a:endParaRPr lang="en-US" altLang="en-US"/>
          </a:p>
        </p:txBody>
      </p:sp>
      <p:sp>
        <p:nvSpPr>
          <p:cNvPr id="4" name="Footer Placeholder 4">
            <a:extLst>
              <a:ext uri="{FF2B5EF4-FFF2-40B4-BE49-F238E27FC236}">
                <a16:creationId xmlns:a16="http://schemas.microsoft.com/office/drawing/2014/main" id="{780AEC9A-1BEB-A61F-EBFB-444258E29F4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C7D0253-098A-F1C2-6AC6-03BBAF1689C3}"/>
              </a:ext>
            </a:extLst>
          </p:cNvPr>
          <p:cNvSpPr>
            <a:spLocks noGrp="1"/>
          </p:cNvSpPr>
          <p:nvPr>
            <p:ph type="sldNum" sz="quarter" idx="12"/>
          </p:nvPr>
        </p:nvSpPr>
        <p:spPr/>
        <p:txBody>
          <a:bodyPr/>
          <a:lstStyle>
            <a:lvl1pPr>
              <a:defRPr/>
            </a:lvl1pPr>
          </a:lstStyle>
          <a:p>
            <a:pPr>
              <a:defRPr/>
            </a:pPr>
            <a:fld id="{1E81FC08-8579-AB4B-84A6-00DABA98A0D8}" type="slidenum">
              <a:rPr lang="en-US" altLang="en-US"/>
              <a:pPr>
                <a:defRPr/>
              </a:pPr>
              <a:t>‹#›</a:t>
            </a:fld>
            <a:endParaRPr lang="en-US" altLang="en-US"/>
          </a:p>
        </p:txBody>
      </p:sp>
    </p:spTree>
    <p:extLst>
      <p:ext uri="{BB962C8B-B14F-4D97-AF65-F5344CB8AC3E}">
        <p14:creationId xmlns:p14="http://schemas.microsoft.com/office/powerpoint/2010/main" val="93520634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BE57FFA-68E8-F4C2-0704-69540591DB97}"/>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84F2798C-E931-C8BB-F4AD-48D512F878A3}"/>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70C1E55-19B0-1FD9-5622-4606609E4B89}"/>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eaLnBrk="1" hangingPunct="1">
              <a:defRPr sz="900">
                <a:solidFill>
                  <a:srgbClr val="898989"/>
                </a:solidFill>
              </a:defRPr>
            </a:lvl1pPr>
          </a:lstStyle>
          <a:p>
            <a:pPr>
              <a:defRPr/>
            </a:pPr>
            <a:fld id="{FB05BA49-1147-B149-9711-E13902C31040}" type="datetimeFigureOut">
              <a:rPr lang="en-US" altLang="en-US"/>
              <a:pPr>
                <a:defRPr/>
              </a:pPr>
              <a:t>6/2/26</a:t>
            </a:fld>
            <a:endParaRPr lang="en-US" altLang="en-US"/>
          </a:p>
        </p:txBody>
      </p:sp>
      <p:sp>
        <p:nvSpPr>
          <p:cNvPr id="5" name="Footer Placeholder 4">
            <a:extLst>
              <a:ext uri="{FF2B5EF4-FFF2-40B4-BE49-F238E27FC236}">
                <a16:creationId xmlns:a16="http://schemas.microsoft.com/office/drawing/2014/main" id="{27DED4BF-AACF-76C0-E3B9-2D59B9FC31B2}"/>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eaLnBrk="1" hangingPunct="1">
              <a:defRPr sz="900">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4C2B974C-F719-B0D0-5B98-2F5E59703874}"/>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a:defRPr/>
            </a:pPr>
            <a:fld id="{05DE4F65-1F19-BF41-9C40-0C44AB9C847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Lst>
  <p:txStyles>
    <p:titleStyle>
      <a:lvl1pPr algn="ctr" defTabSz="342900" rtl="0" eaLnBrk="0" fontAlgn="base" hangingPunct="0">
        <a:spcBef>
          <a:spcPct val="0"/>
        </a:spcBef>
        <a:spcAft>
          <a:spcPct val="0"/>
        </a:spcAft>
        <a:defRPr sz="3300" kern="1200">
          <a:solidFill>
            <a:schemeClr val="tx1"/>
          </a:solidFill>
          <a:latin typeface="+mj-lt"/>
          <a:ea typeface="ＭＳ Ｐゴシック" panose="020B0600070205080204" pitchFamily="34" charset="-128"/>
          <a:cs typeface="+mj-cs"/>
        </a:defRPr>
      </a:lvl1pPr>
      <a:lvl2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2pPr>
      <a:lvl3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3pPr>
      <a:lvl4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4pPr>
      <a:lvl5pPr algn="ctr" defTabSz="342900" rtl="0" eaLnBrk="0" fontAlgn="base" hangingPunct="0">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5pPr>
      <a:lvl6pPr marL="3429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6pPr>
      <a:lvl7pPr marL="6858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7pPr>
      <a:lvl8pPr marL="10287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8pPr>
      <a:lvl9pPr marL="1371600" algn="ctr" defTabSz="342900" rtl="0" fontAlgn="base">
        <a:spcBef>
          <a:spcPct val="0"/>
        </a:spcBef>
        <a:spcAft>
          <a:spcPct val="0"/>
        </a:spcAft>
        <a:defRPr sz="3300">
          <a:solidFill>
            <a:schemeClr val="tx1"/>
          </a:solidFill>
          <a:latin typeface="Calibri" panose="020F0502020204030204" pitchFamily="34" charset="0"/>
          <a:ea typeface="ＭＳ Ｐゴシック" panose="020B0600070205080204" pitchFamily="34" charset="-128"/>
        </a:defRPr>
      </a:lvl9pPr>
    </p:titleStyle>
    <p:body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panose="020B0600070205080204" pitchFamily="34" charset="-128"/>
          <a:cs typeface="+mn-cs"/>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ＭＳ Ｐゴシック" panose="020B0600070205080204" pitchFamily="34" charset="-128"/>
          <a:cs typeface="+mn-cs"/>
        </a:defRPr>
      </a:lvl2pPr>
      <a:lvl3pPr marL="857250" indent="-171450"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ＭＳ Ｐゴシック" panose="020B0600070205080204" pitchFamily="34" charset="-128"/>
          <a:cs typeface="+mn-cs"/>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panose="020B0600070205080204" pitchFamily="34" charset="-128"/>
          <a:cs typeface="+mn-cs"/>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panose="020B0600070205080204" pitchFamily="34" charset="-128"/>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9211AB6F-E96E-15FD-44A2-90D6EC16DBE4}"/>
              </a:ext>
            </a:extLst>
          </p:cNvPr>
          <p:cNvSpPr>
            <a:spLocks noGrp="1"/>
          </p:cNvSpPr>
          <p:nvPr>
            <p:ph type="ctrTitle"/>
          </p:nvPr>
        </p:nvSpPr>
        <p:spPr>
          <a:xfrm>
            <a:off x="198438" y="841375"/>
            <a:ext cx="8353425" cy="1192213"/>
          </a:xfrm>
        </p:spPr>
        <p:txBody>
          <a:bodyPr/>
          <a:lstStyle/>
          <a:p>
            <a:pPr eaLnBrk="1" hangingPunct="1"/>
            <a:r>
              <a:rPr lang="en-US" altLang="en-US" sz="3600"/>
              <a:t>Web Privacy and Tracking</a:t>
            </a:r>
          </a:p>
        </p:txBody>
      </p:sp>
      <p:sp>
        <p:nvSpPr>
          <p:cNvPr id="6" name="Subtitle 2">
            <a:extLst>
              <a:ext uri="{FF2B5EF4-FFF2-40B4-BE49-F238E27FC236}">
                <a16:creationId xmlns:a16="http://schemas.microsoft.com/office/drawing/2014/main" id="{8A79CC6A-1367-5462-DC31-42D67FFA4487}"/>
              </a:ext>
            </a:extLst>
          </p:cNvPr>
          <p:cNvSpPr txBox="1">
            <a:spLocks noGrp="1"/>
          </p:cNvSpPr>
          <p:nvPr>
            <p:ph type="subTitle" idx="1"/>
          </p:nvPr>
        </p:nvSpPr>
        <p:spPr/>
        <p:txBody>
          <a:bodyPr lIns="51435" tIns="25718" rIns="51435" bIns="25718" rtlCol="0">
            <a:normAutofit fontScale="92500" lnSpcReduction="10000"/>
          </a:bodyPr>
          <a:lstStyle>
            <a:lvl1pPr marL="0" indent="0" algn="ctr" defTabSz="3429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defRPr/>
            </a:pPr>
            <a:r>
              <a:rPr lang="en-US" dirty="0">
                <a:solidFill>
                  <a:schemeClr val="bg1">
                    <a:lumMod val="65000"/>
                  </a:schemeClr>
                </a:solidFill>
              </a:rPr>
              <a:t>Security, Privacy, and Consumer Protection</a:t>
            </a:r>
            <a:br>
              <a:rPr lang="en-US" dirty="0">
                <a:solidFill>
                  <a:schemeClr val="bg1">
                    <a:lumMod val="65000"/>
                  </a:schemeClr>
                </a:solidFill>
              </a:rPr>
            </a:br>
            <a:br>
              <a:rPr lang="en-US" dirty="0">
                <a:solidFill>
                  <a:schemeClr val="bg1">
                    <a:lumMod val="65000"/>
                  </a:schemeClr>
                </a:solidFill>
              </a:rPr>
            </a:br>
            <a:r>
              <a:rPr lang="en-US" dirty="0">
                <a:solidFill>
                  <a:schemeClr val="bg1">
                    <a:lumMod val="65000"/>
                  </a:schemeClr>
                </a:solidFill>
              </a:rPr>
              <a:t>Nick Feamster</a:t>
            </a:r>
            <a:br>
              <a:rPr lang="en-US" dirty="0">
                <a:solidFill>
                  <a:schemeClr val="bg1">
                    <a:lumMod val="65000"/>
                  </a:schemeClr>
                </a:solidFill>
              </a:rPr>
            </a:br>
            <a:r>
              <a:rPr lang="en-US" dirty="0">
                <a:solidFill>
                  <a:schemeClr val="bg1">
                    <a:lumMod val="65000"/>
                  </a:schemeClr>
                </a:solidFill>
              </a:rPr>
              <a:t>University of Chicago</a:t>
            </a:r>
          </a:p>
          <a:p>
            <a:pPr>
              <a:defRPr/>
            </a:pPr>
            <a:endParaRPr lang="en-US" dirty="0">
              <a:solidFill>
                <a:schemeClr val="bg1">
                  <a:lumMod val="6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3">
            <a:extLst>
              <a:ext uri="{FF2B5EF4-FFF2-40B4-BE49-F238E27FC236}">
                <a16:creationId xmlns:a16="http://schemas.microsoft.com/office/drawing/2014/main" id="{3BE8C4E4-AA1B-119E-7BB9-0B67A9802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9550"/>
            <a:ext cx="8001000" cy="479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2" descr="https://upload.wikimedia.org/wikipedia/en/f/f8/Internet_dog.jpg">
            <a:extLst>
              <a:ext uri="{FF2B5EF4-FFF2-40B4-BE49-F238E27FC236}">
                <a16:creationId xmlns:a16="http://schemas.microsoft.com/office/drawing/2014/main" id="{AE888A1E-FB14-7AED-F36D-E94C2EF148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25" y="438150"/>
            <a:ext cx="2443163"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ACEC64F-6F3F-256A-9763-486EA73FC4CA}"/>
              </a:ext>
            </a:extLst>
          </p:cNvPr>
          <p:cNvSpPr txBox="1">
            <a:spLocks noChangeArrowheads="1"/>
          </p:cNvSpPr>
          <p:nvPr/>
        </p:nvSpPr>
        <p:spPr bwMode="auto">
          <a:xfrm>
            <a:off x="1957388" y="3629025"/>
            <a:ext cx="4886325" cy="1477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Lucida Sans" panose="020B0602030504020204" pitchFamily="34" charset="77"/>
              </a:rPr>
              <a:t>It’s the Internet! Of course they know you’re a dog. They also know your favorite brand of pet food and the name of the cute poodle at the park you have a crush 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6673D59E-4891-BEAE-2BEB-47475F4285E1}"/>
              </a:ext>
            </a:extLst>
          </p:cNvPr>
          <p:cNvSpPr>
            <a:spLocks noGrp="1"/>
          </p:cNvSpPr>
          <p:nvPr>
            <p:ph type="title"/>
          </p:nvPr>
        </p:nvSpPr>
        <p:spPr/>
        <p:txBody>
          <a:bodyPr/>
          <a:lstStyle/>
          <a:p>
            <a:r>
              <a:rPr lang="en-US" altLang="en-US"/>
              <a:t>“Third Party” Online Tracking</a:t>
            </a:r>
          </a:p>
        </p:txBody>
      </p:sp>
      <p:sp>
        <p:nvSpPr>
          <p:cNvPr id="20482" name="Content Placeholder 2">
            <a:extLst>
              <a:ext uri="{FF2B5EF4-FFF2-40B4-BE49-F238E27FC236}">
                <a16:creationId xmlns:a16="http://schemas.microsoft.com/office/drawing/2014/main" id="{9983F467-5CDC-922D-685D-F512A830EEB7}"/>
              </a:ext>
            </a:extLst>
          </p:cNvPr>
          <p:cNvSpPr>
            <a:spLocks noGrp="1"/>
          </p:cNvSpPr>
          <p:nvPr>
            <p:ph idx="1"/>
          </p:nvPr>
        </p:nvSpPr>
        <p:spPr/>
        <p:txBody>
          <a:bodyPr/>
          <a:lstStyle/>
          <a:p>
            <a:pPr marL="0" indent="0">
              <a:buFont typeface="Arial" panose="020B0604020202020204" pitchFamily="34" charset="0"/>
              <a:buNone/>
            </a:pPr>
            <a:endParaRPr lang="en-US" altLang="en-US"/>
          </a:p>
          <a:p>
            <a:pPr marL="0" indent="0">
              <a:buFont typeface="Arial" panose="020B0604020202020204" pitchFamily="34" charset="0"/>
              <a:buNone/>
            </a:pPr>
            <a:r>
              <a:rPr lang="en-US" altLang="en-US"/>
              <a:t>Sites </a:t>
            </a:r>
            <a:r>
              <a:rPr lang="en-US" altLang="en-US" u="sng"/>
              <a:t>other than</a:t>
            </a:r>
            <a:r>
              <a:rPr lang="en-US" altLang="en-US"/>
              <a:t> the one you’re visiting</a:t>
            </a:r>
          </a:p>
          <a:p>
            <a:pPr marL="0" indent="0">
              <a:buFont typeface="Arial" panose="020B0604020202020204" pitchFamily="34" charset="0"/>
              <a:buNone/>
            </a:pPr>
            <a:endParaRPr lang="en-US" altLang="en-US"/>
          </a:p>
          <a:p>
            <a:pPr marL="0" indent="0">
              <a:buFont typeface="Arial" panose="020B0604020202020204" pitchFamily="34" charset="0"/>
              <a:buNone/>
            </a:pPr>
            <a:r>
              <a:rPr lang="en-US" altLang="en-US" u="sng"/>
              <a:t>typically invisible</a:t>
            </a:r>
          </a:p>
          <a:p>
            <a:pPr marL="0" indent="0">
              <a:buFont typeface="Arial" panose="020B0604020202020204" pitchFamily="34" charset="0"/>
              <a:buNone/>
            </a:pPr>
            <a:endParaRPr lang="en-US" altLang="en-US"/>
          </a:p>
          <a:p>
            <a:pPr marL="0" indent="0">
              <a:buFont typeface="Arial" panose="020B0604020202020204" pitchFamily="34" charset="0"/>
              <a:buNone/>
            </a:pPr>
            <a:r>
              <a:rPr lang="en-US" altLang="en-US"/>
              <a:t>compiling </a:t>
            </a:r>
            <a:r>
              <a:rPr lang="en-US" altLang="en-US" u="sng"/>
              <a:t>profiles</a:t>
            </a:r>
            <a:r>
              <a:rPr lang="en-US" altLang="en-US"/>
              <a:t> of your browsing history</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59863C-B31F-1BD8-5F06-BFC240275794}"/>
              </a:ext>
            </a:extLst>
          </p:cNvPr>
          <p:cNvSpPr/>
          <p:nvPr/>
        </p:nvSpPr>
        <p:spPr>
          <a:xfrm>
            <a:off x="1385888" y="3105150"/>
            <a:ext cx="3729037" cy="1176338"/>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anchor="ctr"/>
          <a:lstStyle/>
          <a:p>
            <a:pPr>
              <a:defRPr/>
            </a:pPr>
            <a:r>
              <a:rPr lang="en-US" sz="1400" b="1" dirty="0">
                <a:latin typeface="Consolas" panose="020B0609020204030204" pitchFamily="49" charset="0"/>
                <a:cs typeface="Consolas" panose="020B0609020204030204" pitchFamily="49" charset="0"/>
              </a:rPr>
              <a:t>GET      </a:t>
            </a:r>
            <a:r>
              <a:rPr lang="en-US" sz="1400" dirty="0">
                <a:latin typeface="Consolas" panose="020B0609020204030204" pitchFamily="49" charset="0"/>
                <a:cs typeface="Consolas" panose="020B0609020204030204" pitchFamily="49" charset="0"/>
              </a:rPr>
              <a:t>https://</a:t>
            </a:r>
            <a:r>
              <a:rPr lang="en-US" sz="1400" b="1" dirty="0">
                <a:latin typeface="Consolas" panose="020B0609020204030204" pitchFamily="49" charset="0"/>
                <a:cs typeface="Consolas" panose="020B0609020204030204" pitchFamily="49" charset="0"/>
              </a:rPr>
              <a:t>youtube.com</a:t>
            </a:r>
            <a:r>
              <a:rPr lang="en-US" sz="1400" dirty="0">
                <a:latin typeface="Consolas" panose="020B0609020204030204" pitchFamily="49" charset="0"/>
                <a:cs typeface="Consolas" panose="020B0609020204030204" pitchFamily="49" charset="0"/>
              </a:rPr>
              <a:t>/watch?v=gHStnhGxlP</a:t>
            </a:r>
          </a:p>
          <a:p>
            <a:pPr>
              <a:defRPr/>
            </a:pPr>
            <a:r>
              <a:rPr lang="en-US" sz="1400" b="1" dirty="0">
                <a:latin typeface="Consolas" panose="020B0609020204030204" pitchFamily="49" charset="0"/>
                <a:cs typeface="Consolas" panose="020B0609020204030204" pitchFamily="49" charset="0"/>
              </a:rPr>
              <a:t>Cookie:  id=35c192bcfe0000b1...</a:t>
            </a:r>
          </a:p>
          <a:p>
            <a:pPr>
              <a:defRPr/>
            </a:pPr>
            <a:r>
              <a:rPr lang="en-US" sz="1400" b="1" dirty="0" err="1">
                <a:solidFill>
                  <a:srgbClr val="C00000"/>
                </a:solidFill>
                <a:latin typeface="Consolas" panose="020B0609020204030204" pitchFamily="49" charset="0"/>
                <a:cs typeface="Consolas" panose="020B0609020204030204" pitchFamily="49" charset="0"/>
              </a:rPr>
              <a:t>Referer</a:t>
            </a:r>
            <a:r>
              <a:rPr lang="en-US" sz="1400" b="1" dirty="0">
                <a:solidFill>
                  <a:srgbClr val="C00000"/>
                </a:solidFill>
                <a:latin typeface="Consolas" panose="020B0609020204030204" pitchFamily="49" charset="0"/>
                <a:cs typeface="Consolas" panose="020B0609020204030204" pitchFamily="49" charset="0"/>
              </a:rPr>
              <a:t>: </a:t>
            </a:r>
            <a:r>
              <a:rPr lang="en-US" sz="1400" dirty="0">
                <a:solidFill>
                  <a:srgbClr val="C00000"/>
                </a:solidFill>
                <a:latin typeface="Consolas" panose="020B0609020204030204" pitchFamily="49" charset="0"/>
                <a:cs typeface="Consolas" panose="020B0609020204030204" pitchFamily="49" charset="0"/>
              </a:rPr>
              <a:t>https://</a:t>
            </a:r>
            <a:r>
              <a:rPr lang="en-US" sz="1400" b="1" dirty="0">
                <a:solidFill>
                  <a:srgbClr val="C00000"/>
                </a:solidFill>
                <a:latin typeface="Consolas" panose="020B0609020204030204" pitchFamily="49" charset="0"/>
                <a:cs typeface="Consolas" panose="020B0609020204030204" pitchFamily="49" charset="0"/>
              </a:rPr>
              <a:t>www.nytimes.com</a:t>
            </a:r>
            <a:r>
              <a:rPr lang="en-US" sz="1400" dirty="0">
                <a:solidFill>
                  <a:srgbClr val="C00000"/>
                </a:solidFill>
                <a:latin typeface="Consolas" panose="020B0609020204030204" pitchFamily="49" charset="0"/>
                <a:cs typeface="Consolas" panose="020B0609020204030204" pitchFamily="49" charset="0"/>
              </a:rPr>
              <a:t>/</a:t>
            </a:r>
          </a:p>
        </p:txBody>
      </p:sp>
      <p:pic>
        <p:nvPicPr>
          <p:cNvPr id="22530" name="Picture 2">
            <a:extLst>
              <a:ext uri="{FF2B5EF4-FFF2-40B4-BE49-F238E27FC236}">
                <a16:creationId xmlns:a16="http://schemas.microsoft.com/office/drawing/2014/main" id="{041027A2-B2FA-C13B-C5C6-156E99FDEE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50" y="571500"/>
            <a:ext cx="4464050"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1" name="Picture 3">
            <a:extLst>
              <a:ext uri="{FF2B5EF4-FFF2-40B4-BE49-F238E27FC236}">
                <a16:creationId xmlns:a16="http://schemas.microsoft.com/office/drawing/2014/main" id="{EEC3E536-6E69-168E-1C8D-7CB1480249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61950"/>
            <a:ext cx="3479800"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09F26E70-E4F4-E7A4-B706-1E008DEA99DA}"/>
              </a:ext>
            </a:extLst>
          </p:cNvPr>
          <p:cNvSpPr>
            <a:spLocks noGrp="1"/>
          </p:cNvSpPr>
          <p:nvPr>
            <p:ph type="title"/>
          </p:nvPr>
        </p:nvSpPr>
        <p:spPr>
          <a:xfrm>
            <a:off x="304800" y="361950"/>
            <a:ext cx="8229600" cy="857250"/>
          </a:xfrm>
        </p:spPr>
        <p:txBody>
          <a:bodyPr/>
          <a:lstStyle/>
          <a:p>
            <a:r>
              <a:rPr lang="en-US" altLang="en-US"/>
              <a:t>Thunderbeam/Lightbeam Experiment</a:t>
            </a:r>
          </a:p>
        </p:txBody>
      </p:sp>
      <p:pic>
        <p:nvPicPr>
          <p:cNvPr id="24578" name="Picture 2">
            <a:extLst>
              <a:ext uri="{FF2B5EF4-FFF2-40B4-BE49-F238E27FC236}">
                <a16:creationId xmlns:a16="http://schemas.microsoft.com/office/drawing/2014/main" id="{C22B3CEE-0170-A5ED-D1F7-748FB86C94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219200"/>
            <a:ext cx="3784600" cy="342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219346A6-F106-E7FE-AC1E-F94B9FD58F1C}"/>
              </a:ext>
            </a:extLst>
          </p:cNvPr>
          <p:cNvSpPr>
            <a:spLocks noGrp="1"/>
          </p:cNvSpPr>
          <p:nvPr>
            <p:ph type="title"/>
          </p:nvPr>
        </p:nvSpPr>
        <p:spPr/>
        <p:txBody>
          <a:bodyPr/>
          <a:lstStyle/>
          <a:p>
            <a:r>
              <a:rPr lang="en-US" altLang="en-US"/>
              <a:t>What if User Blocks Referer?</a:t>
            </a:r>
          </a:p>
        </p:txBody>
      </p:sp>
      <p:sp>
        <p:nvSpPr>
          <p:cNvPr id="6" name="Content Placeholder 2">
            <a:extLst>
              <a:ext uri="{FF2B5EF4-FFF2-40B4-BE49-F238E27FC236}">
                <a16:creationId xmlns:a16="http://schemas.microsoft.com/office/drawing/2014/main" id="{A8E7D730-C629-9C5B-C0DB-4BFDC1BD5E4D}"/>
              </a:ext>
            </a:extLst>
          </p:cNvPr>
          <p:cNvSpPr txBox="1">
            <a:spLocks/>
          </p:cNvSpPr>
          <p:nvPr/>
        </p:nvSpPr>
        <p:spPr>
          <a:xfrm>
            <a:off x="1485900" y="1200150"/>
            <a:ext cx="6343650" cy="3394075"/>
          </a:xfrm>
          <a:prstGeom prst="rect">
            <a:avLst/>
          </a:prstGeom>
        </p:spPr>
        <p:txBody>
          <a:bodyPr/>
          <a:lst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panose="020B0600070205080204" pitchFamily="34" charset="-128"/>
                <a:cs typeface="+mn-cs"/>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ＭＳ Ｐゴシック" panose="020B0600070205080204" pitchFamily="34" charset="-128"/>
                <a:cs typeface="+mn-cs"/>
              </a:defRPr>
            </a:lvl2pPr>
            <a:lvl3pPr marL="857250" indent="-171450"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ＭＳ Ｐゴシック" panose="020B0600070205080204" pitchFamily="34" charset="-128"/>
                <a:cs typeface="+mn-cs"/>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panose="020B0600070205080204" pitchFamily="34" charset="-128"/>
                <a:cs typeface="+mn-cs"/>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panose="020B0600070205080204" pitchFamily="34" charset="-128"/>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lvl="1">
              <a:defRPr/>
            </a:pPr>
            <a:endParaRPr lang="en-US" dirty="0"/>
          </a:p>
          <a:p>
            <a:pPr lvl="1">
              <a:defRPr/>
            </a:pPr>
            <a:endParaRPr lang="en-US" dirty="0"/>
          </a:p>
          <a:p>
            <a:pPr lvl="1">
              <a:defRPr/>
            </a:pPr>
            <a:endParaRPr lang="en-US" dirty="0"/>
          </a:p>
          <a:p>
            <a:pPr marL="0" indent="0">
              <a:buFont typeface="Arial" panose="020B0604020202020204" pitchFamily="34" charset="0"/>
              <a:buNone/>
              <a:defRPr/>
            </a:pPr>
            <a:endParaRPr lang="en-US" dirty="0"/>
          </a:p>
          <a:p>
            <a:pPr marL="0" indent="0">
              <a:buFont typeface="Arial" panose="020B0604020202020204" pitchFamily="34" charset="0"/>
              <a:buNone/>
              <a:defRPr/>
            </a:pPr>
            <a:r>
              <a:rPr lang="en-US" b="1" dirty="0">
                <a:solidFill>
                  <a:srgbClr val="C00000"/>
                </a:solidFill>
              </a:rPr>
              <a:t>Read page URL using JavaScript? (</a:t>
            </a:r>
            <a:r>
              <a:rPr lang="en-US" b="1" dirty="0" err="1">
                <a:solidFill>
                  <a:srgbClr val="C00000"/>
                </a:solidFill>
                <a:latin typeface="Consolas" panose="020B0609020204030204" pitchFamily="49" charset="0"/>
                <a:cs typeface="Consolas" panose="020B0609020204030204" pitchFamily="49" charset="0"/>
              </a:rPr>
              <a:t>top.location.href</a:t>
            </a:r>
            <a:r>
              <a:rPr lang="en-US" b="1" dirty="0">
                <a:solidFill>
                  <a:srgbClr val="C00000"/>
                </a:solidFill>
              </a:rPr>
              <a:t>)</a:t>
            </a:r>
          </a:p>
          <a:p>
            <a:pPr marL="342900" lvl="1" indent="0">
              <a:buFont typeface="Arial" panose="020B0604020202020204" pitchFamily="34" charset="0"/>
              <a:buNone/>
              <a:defRPr/>
            </a:pPr>
            <a:r>
              <a:rPr lang="en-US" dirty="0"/>
              <a:t>	Yes, but not if inside iframe</a:t>
            </a:r>
          </a:p>
        </p:txBody>
      </p:sp>
      <p:sp>
        <p:nvSpPr>
          <p:cNvPr id="25603" name="Rectangle 6">
            <a:extLst>
              <a:ext uri="{FF2B5EF4-FFF2-40B4-BE49-F238E27FC236}">
                <a16:creationId xmlns:a16="http://schemas.microsoft.com/office/drawing/2014/main" id="{BD918DBD-CC9F-4F7E-FBDB-6C154D413073}"/>
              </a:ext>
            </a:extLst>
          </p:cNvPr>
          <p:cNvSpPr>
            <a:spLocks noChangeArrowheads="1"/>
          </p:cNvSpPr>
          <p:nvPr/>
        </p:nvSpPr>
        <p:spPr bwMode="auto">
          <a:xfrm>
            <a:off x="1485900" y="1181100"/>
            <a:ext cx="565785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100" b="1">
                <a:latin typeface="Consolas" panose="020B0609020204030204" pitchFamily="49" charset="0"/>
                <a:cs typeface="Consolas" panose="020B0609020204030204" pitchFamily="49" charset="0"/>
              </a:rPr>
              <a:t>GET      </a:t>
            </a:r>
            <a:r>
              <a:rPr lang="en-US" altLang="en-US" sz="2100">
                <a:latin typeface="Consolas" panose="020B0609020204030204" pitchFamily="49" charset="0"/>
                <a:cs typeface="Consolas" panose="020B0609020204030204" pitchFamily="49" charset="0"/>
              </a:rPr>
              <a:t>http://</a:t>
            </a:r>
            <a:r>
              <a:rPr lang="en-US" altLang="en-US" sz="2100" b="1">
                <a:latin typeface="Consolas" panose="020B0609020204030204" pitchFamily="49" charset="0"/>
                <a:cs typeface="Consolas" panose="020B0609020204030204" pitchFamily="49" charset="0"/>
              </a:rPr>
              <a:t>youtube.com</a:t>
            </a:r>
            <a:r>
              <a:rPr lang="en-US" altLang="en-US" sz="2100">
                <a:latin typeface="Consolas" panose="020B0609020204030204" pitchFamily="49" charset="0"/>
                <a:cs typeface="Consolas" panose="020B0609020204030204" pitchFamily="49" charset="0"/>
              </a:rPr>
              <a:t>/watch?v=gHStnhGxlP</a:t>
            </a:r>
          </a:p>
          <a:p>
            <a:r>
              <a:rPr lang="en-US" altLang="en-US" sz="2100" b="1">
                <a:latin typeface="Consolas" panose="020B0609020204030204" pitchFamily="49" charset="0"/>
                <a:cs typeface="Consolas" panose="020B0609020204030204" pitchFamily="49" charset="0"/>
              </a:rPr>
              <a:t>Cookie:  id=35c192bcfe0000b1...</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fade">
                                      <p:cBhvr>
                                        <p:cTn id="7" dur="500"/>
                                        <p:tgtEl>
                                          <p:spTgt spid="6">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5" end="5"/>
                                            </p:txEl>
                                          </p:spTgt>
                                        </p:tgtEl>
                                        <p:attrNameLst>
                                          <p:attrName>style.visibility</p:attrName>
                                        </p:attrNameLst>
                                      </p:cBhvr>
                                      <p:to>
                                        <p:strVal val="visible"/>
                                      </p:to>
                                    </p:set>
                                    <p:animEffect transition="in" filter="fade">
                                      <p:cBhvr>
                                        <p:cTn id="10"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B921A6B-3028-DE4B-6901-0000E196BC03}"/>
              </a:ext>
            </a:extLst>
          </p:cNvPr>
          <p:cNvSpPr/>
          <p:nvPr/>
        </p:nvSpPr>
        <p:spPr>
          <a:xfrm>
            <a:off x="2428875" y="1200150"/>
            <a:ext cx="5953125" cy="3714750"/>
          </a:xfrm>
          <a:prstGeom prst="roundRect">
            <a:avLst>
              <a:gd name="adj" fmla="val 1174"/>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endParaRPr lang="en-US" dirty="0"/>
          </a:p>
        </p:txBody>
      </p:sp>
      <p:sp>
        <p:nvSpPr>
          <p:cNvPr id="7" name="Rounded Rectangle 6">
            <a:extLst>
              <a:ext uri="{FF2B5EF4-FFF2-40B4-BE49-F238E27FC236}">
                <a16:creationId xmlns:a16="http://schemas.microsoft.com/office/drawing/2014/main" id="{AC045A26-4F63-68E4-920A-75075655278D}"/>
              </a:ext>
            </a:extLst>
          </p:cNvPr>
          <p:cNvSpPr/>
          <p:nvPr/>
        </p:nvSpPr>
        <p:spPr>
          <a:xfrm>
            <a:off x="3843338" y="3252788"/>
            <a:ext cx="2405062" cy="1376362"/>
          </a:xfrm>
          <a:prstGeom prst="roundRect">
            <a:avLst>
              <a:gd name="adj" fmla="val 2000"/>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endParaRPr lang="en-US" dirty="0"/>
          </a:p>
        </p:txBody>
      </p:sp>
      <p:sp>
        <p:nvSpPr>
          <p:cNvPr id="27651" name="TextBox 7">
            <a:extLst>
              <a:ext uri="{FF2B5EF4-FFF2-40B4-BE49-F238E27FC236}">
                <a16:creationId xmlns:a16="http://schemas.microsoft.com/office/drawing/2014/main" id="{CE5BCB0C-E0DF-A6AA-BFD1-1D31340AA01D}"/>
              </a:ext>
            </a:extLst>
          </p:cNvPr>
          <p:cNvSpPr txBox="1">
            <a:spLocks noChangeArrowheads="1"/>
          </p:cNvSpPr>
          <p:nvPr/>
        </p:nvSpPr>
        <p:spPr bwMode="auto">
          <a:xfrm>
            <a:off x="3975100" y="1255713"/>
            <a:ext cx="2130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http://firstparty.com</a:t>
            </a:r>
          </a:p>
        </p:txBody>
      </p:sp>
      <p:cxnSp>
        <p:nvCxnSpPr>
          <p:cNvPr id="9" name="Straight Connector 8">
            <a:extLst>
              <a:ext uri="{FF2B5EF4-FFF2-40B4-BE49-F238E27FC236}">
                <a16:creationId xmlns:a16="http://schemas.microsoft.com/office/drawing/2014/main" id="{532E5911-BBA5-718D-DAEC-116344125F86}"/>
              </a:ext>
            </a:extLst>
          </p:cNvPr>
          <p:cNvCxnSpPr/>
          <p:nvPr/>
        </p:nvCxnSpPr>
        <p:spPr>
          <a:xfrm>
            <a:off x="2428875" y="1590675"/>
            <a:ext cx="4286250" cy="0"/>
          </a:xfrm>
          <a:prstGeom prst="line">
            <a:avLst/>
          </a:prstGeom>
        </p:spPr>
        <p:style>
          <a:lnRef idx="2">
            <a:schemeClr val="accent2"/>
          </a:lnRef>
          <a:fillRef idx="1">
            <a:schemeClr val="lt1"/>
          </a:fillRef>
          <a:effectRef idx="0">
            <a:schemeClr val="accent2"/>
          </a:effectRef>
          <a:fontRef idx="minor">
            <a:schemeClr val="dk1"/>
          </a:fontRef>
        </p:style>
      </p:cxnSp>
      <p:sp>
        <p:nvSpPr>
          <p:cNvPr id="27653" name="TextBox 9">
            <a:extLst>
              <a:ext uri="{FF2B5EF4-FFF2-40B4-BE49-F238E27FC236}">
                <a16:creationId xmlns:a16="http://schemas.microsoft.com/office/drawing/2014/main" id="{0640BF58-ECEC-BB64-AC46-A047B6DBBBAC}"/>
              </a:ext>
            </a:extLst>
          </p:cNvPr>
          <p:cNvSpPr txBox="1">
            <a:spLocks noChangeArrowheads="1"/>
          </p:cNvSpPr>
          <p:nvPr/>
        </p:nvSpPr>
        <p:spPr bwMode="auto">
          <a:xfrm>
            <a:off x="3865563" y="3308350"/>
            <a:ext cx="2363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https://tracker.com/…</a:t>
            </a:r>
          </a:p>
        </p:txBody>
      </p:sp>
      <p:sp>
        <p:nvSpPr>
          <p:cNvPr id="15" name="Rectangle 14">
            <a:extLst>
              <a:ext uri="{FF2B5EF4-FFF2-40B4-BE49-F238E27FC236}">
                <a16:creationId xmlns:a16="http://schemas.microsoft.com/office/drawing/2014/main" id="{E21037D3-683B-993D-ECC6-14F874EF59EC}"/>
              </a:ext>
            </a:extLst>
          </p:cNvPr>
          <p:cNvSpPr/>
          <p:nvPr/>
        </p:nvSpPr>
        <p:spPr>
          <a:xfrm>
            <a:off x="2514600" y="1971675"/>
            <a:ext cx="5491163" cy="857250"/>
          </a:xfrm>
          <a:prstGeom prst="rect">
            <a:avLst/>
          </a:prstGeom>
          <a:noFill/>
          <a:ln>
            <a:noFill/>
          </a:ln>
        </p:spPr>
        <p:style>
          <a:lnRef idx="2">
            <a:schemeClr val="dk1"/>
          </a:lnRef>
          <a:fillRef idx="1">
            <a:schemeClr val="lt1"/>
          </a:fillRef>
          <a:effectRef idx="0">
            <a:schemeClr val="dk1"/>
          </a:effectRef>
          <a:fontRef idx="minor">
            <a:schemeClr val="dk1"/>
          </a:fontRef>
        </p:style>
        <p:txBody>
          <a:bodyPr anchor="ctr"/>
          <a:lstStyle/>
          <a:p>
            <a:pPr>
              <a:defRPr/>
            </a:pPr>
            <a:r>
              <a:rPr lang="en-US" b="1" dirty="0">
                <a:latin typeface="Consolas" panose="020B0609020204030204" pitchFamily="49" charset="0"/>
                <a:cs typeface="Consolas" panose="020B0609020204030204" pitchFamily="49" charset="0"/>
              </a:rPr>
              <a:t>GET      </a:t>
            </a:r>
            <a:r>
              <a:rPr lang="en-US" dirty="0">
                <a:latin typeface="Consolas" panose="020B0609020204030204" pitchFamily="49" charset="0"/>
                <a:cs typeface="Consolas" panose="020B0609020204030204" pitchFamily="49" charset="0"/>
              </a:rPr>
              <a:t>https://</a:t>
            </a:r>
            <a:r>
              <a:rPr lang="en-US" b="1" dirty="0">
                <a:latin typeface="Consolas" panose="020B0609020204030204" pitchFamily="49" charset="0"/>
                <a:cs typeface="Consolas" panose="020B0609020204030204" pitchFamily="49" charset="0"/>
              </a:rPr>
              <a:t>tracker.com/?from=firstparty.com</a:t>
            </a:r>
          </a:p>
          <a:p>
            <a:pPr>
              <a:defRPr/>
            </a:pPr>
            <a:r>
              <a:rPr lang="en-US" b="1" dirty="0">
                <a:latin typeface="Consolas" panose="020B0609020204030204" pitchFamily="49" charset="0"/>
                <a:cs typeface="Consolas" panose="020B0609020204030204" pitchFamily="49" charset="0"/>
              </a:rPr>
              <a:t>Cookie:  id=35c192bcfe0000b1...</a:t>
            </a:r>
          </a:p>
        </p:txBody>
      </p:sp>
      <p:sp>
        <p:nvSpPr>
          <p:cNvPr id="27655" name="Title 1">
            <a:extLst>
              <a:ext uri="{FF2B5EF4-FFF2-40B4-BE49-F238E27FC236}">
                <a16:creationId xmlns:a16="http://schemas.microsoft.com/office/drawing/2014/main" id="{244E7B7D-27C2-AECF-7D14-07AF98AB338B}"/>
              </a:ext>
            </a:extLst>
          </p:cNvPr>
          <p:cNvSpPr>
            <a:spLocks noGrp="1"/>
          </p:cNvSpPr>
          <p:nvPr>
            <p:ph type="title"/>
          </p:nvPr>
        </p:nvSpPr>
        <p:spPr/>
        <p:txBody>
          <a:bodyPr/>
          <a:lstStyle/>
          <a:p>
            <a:r>
              <a:rPr lang="en-US" altLang="en-US"/>
              <a:t>Cooperative Tracking</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4">
            <a:extLst>
              <a:ext uri="{FF2B5EF4-FFF2-40B4-BE49-F238E27FC236}">
                <a16:creationId xmlns:a16="http://schemas.microsoft.com/office/drawing/2014/main" id="{3BB6FB46-5F9D-06C0-64B3-1EE1B4B9E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638550"/>
            <a:ext cx="22764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8" name="Picture 5">
            <a:extLst>
              <a:ext uri="{FF2B5EF4-FFF2-40B4-BE49-F238E27FC236}">
                <a16:creationId xmlns:a16="http://schemas.microsoft.com/office/drawing/2014/main" id="{E234A170-A0A8-21E6-1D47-DDB55EA79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1688" y="1200150"/>
            <a:ext cx="18415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itle 6">
            <a:extLst>
              <a:ext uri="{FF2B5EF4-FFF2-40B4-BE49-F238E27FC236}">
                <a16:creationId xmlns:a16="http://schemas.microsoft.com/office/drawing/2014/main" id="{3E5E64B2-466F-8B53-4259-E8492591ACF8}"/>
              </a:ext>
            </a:extLst>
          </p:cNvPr>
          <p:cNvSpPr>
            <a:spLocks noGrp="1"/>
          </p:cNvSpPr>
          <p:nvPr>
            <p:ph type="title"/>
          </p:nvPr>
        </p:nvSpPr>
        <p:spPr/>
        <p:txBody>
          <a:bodyPr/>
          <a:lstStyle/>
          <a:p>
            <a:r>
              <a:rPr lang="en-US" altLang="en-US"/>
              <a:t>Cookies from Embedded Content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Box 4">
            <a:extLst>
              <a:ext uri="{FF2B5EF4-FFF2-40B4-BE49-F238E27FC236}">
                <a16:creationId xmlns:a16="http://schemas.microsoft.com/office/drawing/2014/main" id="{DD895EAC-879E-6E70-D5CD-88AEB23FF84D}"/>
              </a:ext>
            </a:extLst>
          </p:cNvPr>
          <p:cNvSpPr txBox="1">
            <a:spLocks noChangeArrowheads="1"/>
          </p:cNvSpPr>
          <p:nvPr/>
        </p:nvSpPr>
        <p:spPr bwMode="auto">
          <a:xfrm>
            <a:off x="4186238" y="1733550"/>
            <a:ext cx="9540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5400"/>
              <a:t>64</a:t>
            </a:r>
          </a:p>
        </p:txBody>
      </p:sp>
      <p:sp>
        <p:nvSpPr>
          <p:cNvPr id="30722" name="TextBox 6">
            <a:extLst>
              <a:ext uri="{FF2B5EF4-FFF2-40B4-BE49-F238E27FC236}">
                <a16:creationId xmlns:a16="http://schemas.microsoft.com/office/drawing/2014/main" id="{D67D29DD-0430-8F12-FB81-D9B05B833782}"/>
              </a:ext>
            </a:extLst>
          </p:cNvPr>
          <p:cNvSpPr txBox="1">
            <a:spLocks noChangeArrowheads="1"/>
          </p:cNvSpPr>
          <p:nvPr/>
        </p:nvSpPr>
        <p:spPr bwMode="auto">
          <a:xfrm>
            <a:off x="2643188" y="2808288"/>
            <a:ext cx="3916362"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Independent tracking mechanisms</a:t>
            </a:r>
            <a:br>
              <a:rPr lang="en-US" altLang="en-US" sz="2400"/>
            </a:br>
            <a:r>
              <a:rPr lang="en-US" altLang="en-US" sz="2400"/>
              <a:t>on typical top-50 sites</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8C7A174C-D7A9-048D-5FB5-B1B763DDC62C}"/>
              </a:ext>
            </a:extLst>
          </p:cNvPr>
          <p:cNvSpPr>
            <a:spLocks noGrp="1"/>
          </p:cNvSpPr>
          <p:nvPr>
            <p:ph type="title"/>
          </p:nvPr>
        </p:nvSpPr>
        <p:spPr/>
        <p:txBody>
          <a:bodyPr/>
          <a:lstStyle/>
          <a:p>
            <a:r>
              <a:rPr lang="en-US" altLang="en-US"/>
              <a:t>Who are the Third Parties?</a:t>
            </a:r>
          </a:p>
        </p:txBody>
      </p:sp>
      <p:sp>
        <p:nvSpPr>
          <p:cNvPr id="32770" name="Content Placeholder 8">
            <a:extLst>
              <a:ext uri="{FF2B5EF4-FFF2-40B4-BE49-F238E27FC236}">
                <a16:creationId xmlns:a16="http://schemas.microsoft.com/office/drawing/2014/main" id="{5042C9E2-78E9-B397-3EFA-8B08965C046D}"/>
              </a:ext>
            </a:extLst>
          </p:cNvPr>
          <p:cNvSpPr>
            <a:spLocks noGrp="1"/>
          </p:cNvSpPr>
          <p:nvPr>
            <p:ph idx="1"/>
          </p:nvPr>
        </p:nvSpPr>
        <p:spPr/>
        <p:txBody>
          <a:bodyPr/>
          <a:lstStyle/>
          <a:p>
            <a:pPr marL="0" indent="0">
              <a:buFont typeface="Arial" panose="020B0604020202020204" pitchFamily="34" charset="0"/>
              <a:buNone/>
            </a:pPr>
            <a:r>
              <a:rPr lang="en-US" altLang="en-US"/>
              <a:t>Some prominent trackers:</a:t>
            </a:r>
          </a:p>
          <a:p>
            <a:pPr lvl="1"/>
            <a:r>
              <a:rPr lang="en-US" altLang="en-US"/>
              <a:t>Facebook</a:t>
            </a:r>
          </a:p>
          <a:p>
            <a:pPr lvl="1"/>
            <a:r>
              <a:rPr lang="en-US" altLang="en-US"/>
              <a:t>Google</a:t>
            </a:r>
          </a:p>
          <a:p>
            <a:pPr lvl="1"/>
            <a:r>
              <a:rPr lang="en-US" altLang="en-US"/>
              <a:t>bluekai.com</a:t>
            </a:r>
          </a:p>
          <a:p>
            <a:pPr lvl="1"/>
            <a:r>
              <a:rPr lang="en-US" altLang="en-US"/>
              <a:t>revsci.net</a:t>
            </a:r>
          </a:p>
          <a:p>
            <a:pPr lvl="1"/>
            <a:r>
              <a:rPr lang="en-US" altLang="en-US"/>
              <a:t>112.2o7.net</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4">
            <a:extLst>
              <a:ext uri="{FF2B5EF4-FFF2-40B4-BE49-F238E27FC236}">
                <a16:creationId xmlns:a16="http://schemas.microsoft.com/office/drawing/2014/main" id="{CC859C4C-9B48-B5A5-E1AA-E4C4C24680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71550"/>
            <a:ext cx="8050213"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CE5AE402-FEA4-B4D7-A863-E96AB0D6C589}"/>
              </a:ext>
            </a:extLst>
          </p:cNvPr>
          <p:cNvSpPr>
            <a:spLocks noGrp="1"/>
          </p:cNvSpPr>
          <p:nvPr>
            <p:ph type="title"/>
          </p:nvPr>
        </p:nvSpPr>
        <p:spPr/>
        <p:txBody>
          <a:bodyPr/>
          <a:lstStyle/>
          <a:p>
            <a:r>
              <a:rPr lang="en-US" altLang="en-US"/>
              <a:t>What is Behavioral Targeting?</a:t>
            </a:r>
          </a:p>
        </p:txBody>
      </p:sp>
      <p:pic>
        <p:nvPicPr>
          <p:cNvPr id="35842" name="Picture 2">
            <a:extLst>
              <a:ext uri="{FF2B5EF4-FFF2-40B4-BE49-F238E27FC236}">
                <a16:creationId xmlns:a16="http://schemas.microsoft.com/office/drawing/2014/main" id="{31346EDB-8E53-BBDF-61A1-C9F05872B7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325" y="942975"/>
            <a:ext cx="5467350" cy="399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2" descr="http://www.cogmap.com/blog/wp-content/uploads/2010/10/LUMA-Display-Ad-Tech-Landscape-for-AdExchanger.jpg">
            <a:extLst>
              <a:ext uri="{FF2B5EF4-FFF2-40B4-BE49-F238E27FC236}">
                <a16:creationId xmlns:a16="http://schemas.microsoft.com/office/drawing/2014/main" id="{DE796A2E-DAA1-0661-EC6C-84187DFE7B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3" y="214313"/>
            <a:ext cx="4706937"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6">
            <a:extLst>
              <a:ext uri="{FF2B5EF4-FFF2-40B4-BE49-F238E27FC236}">
                <a16:creationId xmlns:a16="http://schemas.microsoft.com/office/drawing/2014/main" id="{74624F17-1836-F19A-98BD-B5A2C676B0B1}"/>
              </a:ext>
            </a:extLst>
          </p:cNvPr>
          <p:cNvSpPr>
            <a:spLocks noGrp="1"/>
          </p:cNvSpPr>
          <p:nvPr>
            <p:ph type="title"/>
          </p:nvPr>
        </p:nvSpPr>
        <p:spPr/>
        <p:txBody>
          <a:bodyPr/>
          <a:lstStyle/>
          <a:p>
            <a:r>
              <a:rPr lang="en-US" altLang="en-US"/>
              <a:t>Privacy Worries</a:t>
            </a:r>
          </a:p>
        </p:txBody>
      </p:sp>
      <p:sp>
        <p:nvSpPr>
          <p:cNvPr id="39938" name="Content Placeholder 2">
            <a:extLst>
              <a:ext uri="{FF2B5EF4-FFF2-40B4-BE49-F238E27FC236}">
                <a16:creationId xmlns:a16="http://schemas.microsoft.com/office/drawing/2014/main" id="{C0DEB1EB-5769-0E5D-4236-B808374385DC}"/>
              </a:ext>
            </a:extLst>
          </p:cNvPr>
          <p:cNvSpPr>
            <a:spLocks noGrp="1"/>
          </p:cNvSpPr>
          <p:nvPr>
            <p:ph sz="half" idx="1"/>
          </p:nvPr>
        </p:nvSpPr>
        <p:spPr>
          <a:xfrm>
            <a:off x="457200" y="1200150"/>
            <a:ext cx="4038600" cy="3394075"/>
          </a:xfrm>
        </p:spPr>
        <p:txBody>
          <a:bodyPr/>
          <a:lstStyle/>
          <a:p>
            <a:pPr marL="0" indent="0">
              <a:buFont typeface="Arial" panose="020B0604020202020204" pitchFamily="34" charset="0"/>
              <a:buNone/>
            </a:pPr>
            <a:endParaRPr lang="en-US" altLang="en-US" sz="2400"/>
          </a:p>
          <a:p>
            <a:pPr marL="0" indent="0">
              <a:buFont typeface="Arial" panose="020B0604020202020204" pitchFamily="34" charset="0"/>
              <a:buNone/>
            </a:pPr>
            <a:r>
              <a:rPr lang="en-US" altLang="en-US" sz="2400"/>
              <a:t>Intellectual privacy</a:t>
            </a:r>
          </a:p>
          <a:p>
            <a:pPr marL="0" indent="0">
              <a:buFont typeface="Arial" panose="020B0604020202020204" pitchFamily="34" charset="0"/>
              <a:buNone/>
            </a:pPr>
            <a:endParaRPr lang="en-US" altLang="en-US" sz="2400"/>
          </a:p>
          <a:p>
            <a:pPr marL="0" indent="0">
              <a:buFont typeface="Arial" panose="020B0604020202020204" pitchFamily="34" charset="0"/>
              <a:buNone/>
            </a:pPr>
            <a:r>
              <a:rPr lang="en-US" altLang="en-US" sz="2400"/>
              <a:t>Behavioral targeting</a:t>
            </a:r>
          </a:p>
          <a:p>
            <a:pPr marL="0" indent="0">
              <a:buFont typeface="Arial" panose="020B0604020202020204" pitchFamily="34" charset="0"/>
              <a:buNone/>
            </a:pPr>
            <a:endParaRPr lang="en-US" altLang="en-US" sz="2400"/>
          </a:p>
        </p:txBody>
      </p:sp>
      <p:sp>
        <p:nvSpPr>
          <p:cNvPr id="6" name="Content Placeholder 5">
            <a:extLst>
              <a:ext uri="{FF2B5EF4-FFF2-40B4-BE49-F238E27FC236}">
                <a16:creationId xmlns:a16="http://schemas.microsoft.com/office/drawing/2014/main" id="{D73365AE-2881-D77D-DC25-7011E1CE5243}"/>
              </a:ext>
            </a:extLst>
          </p:cNvPr>
          <p:cNvSpPr>
            <a:spLocks noGrp="1"/>
          </p:cNvSpPr>
          <p:nvPr>
            <p:ph sz="half" idx="2"/>
          </p:nvPr>
        </p:nvSpPr>
        <p:spPr>
          <a:xfrm>
            <a:off x="4648200" y="1200150"/>
            <a:ext cx="4038600" cy="3394075"/>
          </a:xfrm>
        </p:spPr>
        <p:txBody>
          <a:bodyPr/>
          <a:lstStyle/>
          <a:p>
            <a:pPr marL="0" indent="0">
              <a:buFont typeface="Arial" panose="020B0604020202020204" pitchFamily="34" charset="0"/>
              <a:buNone/>
            </a:pPr>
            <a:endParaRPr lang="en-US" altLang="en-US" sz="2400"/>
          </a:p>
          <a:p>
            <a:pPr marL="0" indent="0">
              <a:buFont typeface="Arial" panose="020B0604020202020204" pitchFamily="34" charset="0"/>
              <a:buNone/>
            </a:pPr>
            <a:r>
              <a:rPr lang="en-US" altLang="en-US" sz="2400"/>
              <a:t>Price discrimination</a:t>
            </a:r>
          </a:p>
          <a:p>
            <a:pPr marL="0" indent="0">
              <a:buFont typeface="Arial" panose="020B0604020202020204" pitchFamily="34" charset="0"/>
              <a:buNone/>
            </a:pPr>
            <a:endParaRPr lang="en-US" altLang="en-US" sz="2400"/>
          </a:p>
          <a:p>
            <a:pPr marL="0" indent="0">
              <a:buFont typeface="Arial" panose="020B0604020202020204" pitchFamily="34" charset="0"/>
              <a:buNone/>
            </a:pPr>
            <a:r>
              <a:rPr lang="en-US" altLang="en-US" sz="2400"/>
              <a:t>NSA</a:t>
            </a:r>
          </a:p>
          <a:p>
            <a:pPr marL="0" indent="0">
              <a:buFont typeface="Arial" panose="020B0604020202020204" pitchFamily="34" charset="0"/>
              <a:buNone/>
            </a:pPr>
            <a:endParaRPr lang="en-US" altLang="en-US" sz="24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56948A12-CE13-1FA7-535A-36F320A98AC9}"/>
              </a:ext>
            </a:extLst>
          </p:cNvPr>
          <p:cNvSpPr>
            <a:spLocks noGrp="1"/>
          </p:cNvSpPr>
          <p:nvPr>
            <p:ph type="title"/>
          </p:nvPr>
        </p:nvSpPr>
        <p:spPr>
          <a:xfrm>
            <a:off x="1485900" y="2149475"/>
            <a:ext cx="6172200" cy="857250"/>
          </a:xfrm>
        </p:spPr>
        <p:txBody>
          <a:bodyPr/>
          <a:lstStyle/>
          <a:p>
            <a:r>
              <a:rPr lang="en-US" altLang="en-US"/>
              <a:t>Tracking Techniques</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3">
            <a:extLst>
              <a:ext uri="{FF2B5EF4-FFF2-40B4-BE49-F238E27FC236}">
                <a16:creationId xmlns:a16="http://schemas.microsoft.com/office/drawing/2014/main" id="{04E3DAAF-4BB1-4355-F96E-3277CBA5A7B8}"/>
              </a:ext>
            </a:extLst>
          </p:cNvPr>
          <p:cNvSpPr>
            <a:spLocks noGrp="1"/>
          </p:cNvSpPr>
          <p:nvPr>
            <p:ph type="title"/>
          </p:nvPr>
        </p:nvSpPr>
        <p:spPr/>
        <p:txBody>
          <a:bodyPr/>
          <a:lstStyle/>
          <a:p>
            <a:r>
              <a:rPr lang="en-US" altLang="en-US"/>
              <a:t>Tagging: Placing Data in the Browser</a:t>
            </a:r>
          </a:p>
        </p:txBody>
      </p:sp>
      <p:sp>
        <p:nvSpPr>
          <p:cNvPr id="44034" name="Content Placeholder 4">
            <a:extLst>
              <a:ext uri="{FF2B5EF4-FFF2-40B4-BE49-F238E27FC236}">
                <a16:creationId xmlns:a16="http://schemas.microsoft.com/office/drawing/2014/main" id="{E85D7482-03BC-F40A-799B-F3F195B808C0}"/>
              </a:ext>
            </a:extLst>
          </p:cNvPr>
          <p:cNvSpPr>
            <a:spLocks noGrp="1"/>
          </p:cNvSpPr>
          <p:nvPr>
            <p:ph sz="half" idx="1"/>
          </p:nvPr>
        </p:nvSpPr>
        <p:spPr>
          <a:xfrm>
            <a:off x="457200" y="1200150"/>
            <a:ext cx="4038600" cy="3394075"/>
          </a:xfrm>
        </p:spPr>
        <p:txBody>
          <a:bodyPr/>
          <a:lstStyle/>
          <a:p>
            <a:r>
              <a:rPr lang="en-US" altLang="en-US"/>
              <a:t>HTTP Cookies</a:t>
            </a:r>
          </a:p>
          <a:p>
            <a:r>
              <a:rPr lang="en-US" altLang="en-US"/>
              <a:t>HTTP Auth</a:t>
            </a:r>
          </a:p>
          <a:p>
            <a:r>
              <a:rPr lang="en-US" altLang="en-US"/>
              <a:t>HTTP Etags</a:t>
            </a:r>
          </a:p>
          <a:p>
            <a:r>
              <a:rPr lang="en-US" altLang="en-US"/>
              <a:t>Content cache</a:t>
            </a:r>
          </a:p>
          <a:p>
            <a:r>
              <a:rPr lang="en-US" altLang="en-US"/>
              <a:t>IE userdata</a:t>
            </a:r>
          </a:p>
          <a:p>
            <a:r>
              <a:rPr lang="en-US" altLang="en-US"/>
              <a:t>HTML5 protocol &amp; content handlers</a:t>
            </a:r>
          </a:p>
          <a:p>
            <a:r>
              <a:rPr lang="en-US" altLang="en-US"/>
              <a:t>HTML5 Storage</a:t>
            </a:r>
          </a:p>
          <a:p>
            <a:endParaRPr lang="en-US" altLang="en-US"/>
          </a:p>
        </p:txBody>
      </p:sp>
      <p:sp>
        <p:nvSpPr>
          <p:cNvPr id="44035" name="Content Placeholder 5">
            <a:extLst>
              <a:ext uri="{FF2B5EF4-FFF2-40B4-BE49-F238E27FC236}">
                <a16:creationId xmlns:a16="http://schemas.microsoft.com/office/drawing/2014/main" id="{30D73772-A787-3F68-7EEC-AF6720420AFB}"/>
              </a:ext>
            </a:extLst>
          </p:cNvPr>
          <p:cNvSpPr>
            <a:spLocks noGrp="1"/>
          </p:cNvSpPr>
          <p:nvPr>
            <p:ph sz="half" idx="2"/>
          </p:nvPr>
        </p:nvSpPr>
        <p:spPr>
          <a:xfrm>
            <a:off x="4648200" y="1200150"/>
            <a:ext cx="4038600" cy="3394075"/>
          </a:xfrm>
        </p:spPr>
        <p:txBody>
          <a:bodyPr/>
          <a:lstStyle/>
          <a:p>
            <a:r>
              <a:rPr lang="en-US" altLang="en-US"/>
              <a:t>Flash cookies</a:t>
            </a:r>
          </a:p>
          <a:p>
            <a:r>
              <a:rPr lang="en-US" altLang="en-US"/>
              <a:t>Silverlight storage</a:t>
            </a:r>
          </a:p>
          <a:p>
            <a:r>
              <a:rPr lang="en-US" altLang="en-US"/>
              <a:t>TLS session ID &amp; resume</a:t>
            </a:r>
          </a:p>
          <a:p>
            <a:r>
              <a:rPr lang="en-US" altLang="en-US"/>
              <a:t>Browsing history</a:t>
            </a:r>
          </a:p>
          <a:p>
            <a:r>
              <a:rPr lang="en-US" altLang="en-US"/>
              <a:t>window.name</a:t>
            </a:r>
          </a:p>
          <a:p>
            <a:r>
              <a:rPr lang="en-US" altLang="en-US"/>
              <a:t>HTTP STS</a:t>
            </a:r>
          </a:p>
          <a:p>
            <a:r>
              <a:rPr lang="en-US" altLang="en-US"/>
              <a:t>DNS cache</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478A36-D23C-CBAE-17F1-84DC006F6928}"/>
              </a:ext>
            </a:extLst>
          </p:cNvPr>
          <p:cNvSpPr>
            <a:spLocks noGrp="1"/>
          </p:cNvSpPr>
          <p:nvPr>
            <p:ph type="title"/>
          </p:nvPr>
        </p:nvSpPr>
        <p:spPr/>
        <p:txBody>
          <a:bodyPr>
            <a:normAutofit fontScale="90000"/>
          </a:bodyPr>
          <a:lstStyle/>
          <a:p>
            <a:pPr>
              <a:defRPr/>
            </a:pPr>
            <a:r>
              <a:rPr lang="en-US" dirty="0"/>
              <a:t>Fingerprinting:</a:t>
            </a:r>
            <a:br>
              <a:rPr lang="en-US" dirty="0"/>
            </a:br>
            <a:r>
              <a:rPr lang="en-US" dirty="0"/>
              <a:t>Observing the Browser’s Behavior</a:t>
            </a:r>
          </a:p>
        </p:txBody>
      </p:sp>
      <p:sp>
        <p:nvSpPr>
          <p:cNvPr id="46082" name="Content Placeholder 4">
            <a:extLst>
              <a:ext uri="{FF2B5EF4-FFF2-40B4-BE49-F238E27FC236}">
                <a16:creationId xmlns:a16="http://schemas.microsoft.com/office/drawing/2014/main" id="{DB5A530F-F48D-B19F-61F2-A4A4A5E3E9B7}"/>
              </a:ext>
            </a:extLst>
          </p:cNvPr>
          <p:cNvSpPr>
            <a:spLocks noGrp="1"/>
          </p:cNvSpPr>
          <p:nvPr>
            <p:ph sz="half" idx="1"/>
          </p:nvPr>
        </p:nvSpPr>
        <p:spPr>
          <a:xfrm>
            <a:off x="457200" y="1200150"/>
            <a:ext cx="4038600" cy="3394075"/>
          </a:xfrm>
        </p:spPr>
        <p:txBody>
          <a:bodyPr/>
          <a:lstStyle/>
          <a:p>
            <a:r>
              <a:rPr lang="en-US" altLang="en-US"/>
              <a:t>User-Agent</a:t>
            </a:r>
          </a:p>
          <a:p>
            <a:r>
              <a:rPr lang="en-US" altLang="en-US"/>
              <a:t>HTTP ACCEPT headers</a:t>
            </a:r>
          </a:p>
          <a:p>
            <a:r>
              <a:rPr lang="en-US" altLang="en-US"/>
              <a:t>Browser plug-ins</a:t>
            </a:r>
          </a:p>
          <a:p>
            <a:r>
              <a:rPr lang="en-US" altLang="en-US"/>
              <a:t>MIME support</a:t>
            </a:r>
          </a:p>
          <a:p>
            <a:r>
              <a:rPr lang="en-US" altLang="en-US"/>
              <a:t>Clock skew</a:t>
            </a:r>
          </a:p>
        </p:txBody>
      </p:sp>
      <p:sp>
        <p:nvSpPr>
          <p:cNvPr id="46083" name="Content Placeholder 5">
            <a:extLst>
              <a:ext uri="{FF2B5EF4-FFF2-40B4-BE49-F238E27FC236}">
                <a16:creationId xmlns:a16="http://schemas.microsoft.com/office/drawing/2014/main" id="{20EBC991-86D6-BB68-0630-7832830A0FAF}"/>
              </a:ext>
            </a:extLst>
          </p:cNvPr>
          <p:cNvSpPr>
            <a:spLocks noGrp="1"/>
          </p:cNvSpPr>
          <p:nvPr>
            <p:ph sz="half" idx="2"/>
          </p:nvPr>
        </p:nvSpPr>
        <p:spPr>
          <a:xfrm>
            <a:off x="4648200" y="1200150"/>
            <a:ext cx="4038600" cy="3394075"/>
          </a:xfrm>
        </p:spPr>
        <p:txBody>
          <a:bodyPr/>
          <a:lstStyle/>
          <a:p>
            <a:r>
              <a:rPr lang="en-US" altLang="en-US"/>
              <a:t>Installed fonts</a:t>
            </a:r>
          </a:p>
          <a:p>
            <a:r>
              <a:rPr lang="en-US" altLang="en-US"/>
              <a:t>Cookies enabled?</a:t>
            </a:r>
          </a:p>
          <a:p>
            <a:r>
              <a:rPr lang="en-US" altLang="en-US"/>
              <a:t>Browser add-ons</a:t>
            </a:r>
          </a:p>
          <a:p>
            <a:r>
              <a:rPr lang="en-US" altLang="en-US"/>
              <a:t>Screen resolution</a:t>
            </a:r>
          </a:p>
          <a:p>
            <a:endParaRPr lang="en-US" alt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4">
            <a:extLst>
              <a:ext uri="{FF2B5EF4-FFF2-40B4-BE49-F238E27FC236}">
                <a16:creationId xmlns:a16="http://schemas.microsoft.com/office/drawing/2014/main" id="{1598C621-BB19-F587-6A3D-86BF94453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550" y="6350"/>
            <a:ext cx="7962900"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0" name="Picture 5">
            <a:extLst>
              <a:ext uri="{FF2B5EF4-FFF2-40B4-BE49-F238E27FC236}">
                <a16:creationId xmlns:a16="http://schemas.microsoft.com/office/drawing/2014/main" id="{C938DCD4-C87C-6901-0471-59755693CE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3863" y="438150"/>
            <a:ext cx="5626100"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2">
            <a:extLst>
              <a:ext uri="{FF2B5EF4-FFF2-40B4-BE49-F238E27FC236}">
                <a16:creationId xmlns:a16="http://schemas.microsoft.com/office/drawing/2014/main" id="{618587E7-E333-F5EC-AAAB-C74FB767A5B2}"/>
              </a:ext>
            </a:extLst>
          </p:cNvPr>
          <p:cNvSpPr>
            <a:spLocks noGrp="1"/>
          </p:cNvSpPr>
          <p:nvPr>
            <p:ph type="title"/>
          </p:nvPr>
        </p:nvSpPr>
        <p:spPr>
          <a:xfrm>
            <a:off x="381000" y="1581150"/>
            <a:ext cx="8229600" cy="857250"/>
          </a:xfrm>
        </p:spPr>
        <p:txBody>
          <a:bodyPr/>
          <a:lstStyle/>
          <a:p>
            <a:r>
              <a:rPr lang="en-US" altLang="en-US"/>
              <a:t>Hands-On/Walk Through </a:t>
            </a:r>
            <a:br>
              <a:rPr lang="en-US" altLang="en-US"/>
            </a:br>
            <a:r>
              <a:rPr lang="en-US" altLang="en-US"/>
              <a:t>(Cover Your Tracks)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7">
            <a:extLst>
              <a:ext uri="{FF2B5EF4-FFF2-40B4-BE49-F238E27FC236}">
                <a16:creationId xmlns:a16="http://schemas.microsoft.com/office/drawing/2014/main" id="{31806B55-B7AA-9837-4D60-73E22F4F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325" y="0"/>
            <a:ext cx="393541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B56F32B1-A062-3947-D405-1955DB0F578C}"/>
              </a:ext>
            </a:extLst>
          </p:cNvPr>
          <p:cNvSpPr>
            <a:spLocks noGrp="1"/>
          </p:cNvSpPr>
          <p:nvPr>
            <p:ph type="title"/>
          </p:nvPr>
        </p:nvSpPr>
        <p:spPr/>
        <p:txBody>
          <a:bodyPr/>
          <a:lstStyle/>
          <a:p>
            <a:r>
              <a:rPr lang="en-US" altLang="en-US"/>
              <a:t>Canvas Fingerprinting</a:t>
            </a:r>
          </a:p>
        </p:txBody>
      </p:sp>
      <p:sp>
        <p:nvSpPr>
          <p:cNvPr id="51202" name="Content Placeholder 2">
            <a:extLst>
              <a:ext uri="{FF2B5EF4-FFF2-40B4-BE49-F238E27FC236}">
                <a16:creationId xmlns:a16="http://schemas.microsoft.com/office/drawing/2014/main" id="{99898EAA-7D91-94BD-3F82-830A93F0387A}"/>
              </a:ext>
            </a:extLst>
          </p:cNvPr>
          <p:cNvSpPr>
            <a:spLocks noGrp="1"/>
          </p:cNvSpPr>
          <p:nvPr>
            <p:ph idx="1"/>
          </p:nvPr>
        </p:nvSpPr>
        <p:spPr>
          <a:xfrm>
            <a:off x="457200" y="895350"/>
            <a:ext cx="8229600" cy="990600"/>
          </a:xfrm>
        </p:spPr>
        <p:txBody>
          <a:bodyPr/>
          <a:lstStyle/>
          <a:p>
            <a:pPr>
              <a:buFont typeface="Arial" panose="020B0604020202020204" pitchFamily="34" charset="0"/>
              <a:buNone/>
            </a:pPr>
            <a:r>
              <a:rPr lang="en-US" altLang="en-US" sz="2000"/>
              <a:t>Vast majority of browsers/devices have unique fingerprints </a:t>
            </a:r>
            <a:br>
              <a:rPr lang="en-US" altLang="en-US" sz="2000"/>
            </a:br>
            <a:r>
              <a:rPr lang="en-US" altLang="en-US" sz="2000"/>
              <a:t>(among millions of other devices)</a:t>
            </a:r>
          </a:p>
        </p:txBody>
      </p:sp>
      <p:pic>
        <p:nvPicPr>
          <p:cNvPr id="51203" name="Picture 3">
            <a:extLst>
              <a:ext uri="{FF2B5EF4-FFF2-40B4-BE49-F238E27FC236}">
                <a16:creationId xmlns:a16="http://schemas.microsoft.com/office/drawing/2014/main" id="{4B61DB95-D1BF-C419-E01D-D3A33E6A7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2700" y="1557338"/>
            <a:ext cx="4038600" cy="358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Picture 3">
            <a:extLst>
              <a:ext uri="{FF2B5EF4-FFF2-40B4-BE49-F238E27FC236}">
                <a16:creationId xmlns:a16="http://schemas.microsoft.com/office/drawing/2014/main" id="{2071E772-3546-F5F0-3427-B33FA7B3D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500" y="914400"/>
            <a:ext cx="59690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94A861A6-3149-B972-2BB8-18C6D732B457}"/>
              </a:ext>
            </a:extLst>
          </p:cNvPr>
          <p:cNvSpPr>
            <a:spLocks noGrp="1"/>
          </p:cNvSpPr>
          <p:nvPr>
            <p:ph type="title"/>
          </p:nvPr>
        </p:nvSpPr>
        <p:spPr/>
        <p:txBody>
          <a:bodyPr/>
          <a:lstStyle/>
          <a:p>
            <a:r>
              <a:rPr lang="en-US" altLang="en-US"/>
              <a:t>Anonymous Tracking? Not Quite</a:t>
            </a:r>
          </a:p>
        </p:txBody>
      </p:sp>
      <p:sp>
        <p:nvSpPr>
          <p:cNvPr id="54274" name="Content Placeholder 2">
            <a:extLst>
              <a:ext uri="{FF2B5EF4-FFF2-40B4-BE49-F238E27FC236}">
                <a16:creationId xmlns:a16="http://schemas.microsoft.com/office/drawing/2014/main" id="{4B914E2A-477B-D027-EF6B-1C37B89EB8D3}"/>
              </a:ext>
            </a:extLst>
          </p:cNvPr>
          <p:cNvSpPr>
            <a:spLocks noGrp="1"/>
          </p:cNvSpPr>
          <p:nvPr>
            <p:ph idx="1"/>
          </p:nvPr>
        </p:nvSpPr>
        <p:spPr/>
        <p:txBody>
          <a:bodyPr anchor="ctr"/>
          <a:lstStyle/>
          <a:p>
            <a:pPr marL="0" indent="0">
              <a:buFont typeface="Arial" panose="020B0604020202020204" pitchFamily="34" charset="0"/>
              <a:buNone/>
            </a:pPr>
            <a:r>
              <a:rPr lang="en-US" altLang="en-US"/>
              <a:t>1. Third party is sometimes a first party</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1">
            <a:extLst>
              <a:ext uri="{FF2B5EF4-FFF2-40B4-BE49-F238E27FC236}">
                <a16:creationId xmlns:a16="http://schemas.microsoft.com/office/drawing/2014/main" id="{12835E84-C260-619D-DABE-0CD08AB17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3" y="0"/>
            <a:ext cx="4556125" cy="48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 name="Rectangle 2">
            <a:extLst>
              <a:ext uri="{FF2B5EF4-FFF2-40B4-BE49-F238E27FC236}">
                <a16:creationId xmlns:a16="http://schemas.microsoft.com/office/drawing/2014/main" id="{C718278D-16E3-CD37-734A-4DD3A86EDEF8}"/>
              </a:ext>
            </a:extLst>
          </p:cNvPr>
          <p:cNvSpPr>
            <a:spLocks/>
          </p:cNvSpPr>
          <p:nvPr/>
        </p:nvSpPr>
        <p:spPr bwMode="auto">
          <a:xfrm>
            <a:off x="1295400" y="1276350"/>
            <a:ext cx="411163" cy="314325"/>
          </a:xfrm>
          <a:prstGeom prst="rect">
            <a:avLst/>
          </a:prstGeom>
          <a:noFill/>
          <a:ln w="381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pic>
        <p:nvPicPr>
          <p:cNvPr id="56323" name="Picture 1">
            <a:extLst>
              <a:ext uri="{FF2B5EF4-FFF2-40B4-BE49-F238E27FC236}">
                <a16:creationId xmlns:a16="http://schemas.microsoft.com/office/drawing/2014/main" id="{1B9D72B0-9F20-3048-1B0B-6918688F27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676275"/>
            <a:ext cx="4800600"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1">
            <a:extLst>
              <a:ext uri="{FF2B5EF4-FFF2-40B4-BE49-F238E27FC236}">
                <a16:creationId xmlns:a16="http://schemas.microsoft.com/office/drawing/2014/main" id="{56DFCB21-5751-D550-A977-8484239AC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85750"/>
            <a:ext cx="3873500"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0" name="Picture 2">
            <a:extLst>
              <a:ext uri="{FF2B5EF4-FFF2-40B4-BE49-F238E27FC236}">
                <a16:creationId xmlns:a16="http://schemas.microsoft.com/office/drawing/2014/main" id="{A5478EF6-C077-09A7-2781-AD6F2FD88C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2266950"/>
            <a:ext cx="4851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C2715DC1-1A95-1DBC-6BFC-E4F0E4019460}"/>
              </a:ext>
            </a:extLst>
          </p:cNvPr>
          <p:cNvSpPr>
            <a:spLocks noGrp="1"/>
          </p:cNvSpPr>
          <p:nvPr>
            <p:ph type="title"/>
          </p:nvPr>
        </p:nvSpPr>
        <p:spPr/>
        <p:txBody>
          <a:bodyPr/>
          <a:lstStyle/>
          <a:p>
            <a:r>
              <a:rPr lang="en-US" altLang="en-US"/>
              <a:t>Anonymous Tracking? Not Quite</a:t>
            </a:r>
          </a:p>
        </p:txBody>
      </p:sp>
      <p:sp>
        <p:nvSpPr>
          <p:cNvPr id="59394" name="Content Placeholder 2">
            <a:extLst>
              <a:ext uri="{FF2B5EF4-FFF2-40B4-BE49-F238E27FC236}">
                <a16:creationId xmlns:a16="http://schemas.microsoft.com/office/drawing/2014/main" id="{4612B577-B072-55AE-08D7-A54C7B8C44D7}"/>
              </a:ext>
            </a:extLst>
          </p:cNvPr>
          <p:cNvSpPr>
            <a:spLocks noGrp="1"/>
          </p:cNvSpPr>
          <p:nvPr>
            <p:ph idx="1"/>
          </p:nvPr>
        </p:nvSpPr>
        <p:spPr/>
        <p:txBody>
          <a:bodyPr anchor="ctr"/>
          <a:lstStyle/>
          <a:p>
            <a:pPr marL="0" indent="0">
              <a:buFont typeface="Arial" panose="020B0604020202020204" pitchFamily="34" charset="0"/>
              <a:buNone/>
            </a:pPr>
            <a:r>
              <a:rPr lang="en-US" altLang="en-US"/>
              <a:t>2. Leakage of identifiers</a:t>
            </a:r>
          </a:p>
        </p:txBody>
      </p:sp>
      <p:sp>
        <p:nvSpPr>
          <p:cNvPr id="4" name="Rectangle 3">
            <a:extLst>
              <a:ext uri="{FF2B5EF4-FFF2-40B4-BE49-F238E27FC236}">
                <a16:creationId xmlns:a16="http://schemas.microsoft.com/office/drawing/2014/main" id="{A65B0011-4F2E-078F-3CC3-2D220A28672A}"/>
              </a:ext>
            </a:extLst>
          </p:cNvPr>
          <p:cNvSpPr/>
          <p:nvPr/>
        </p:nvSpPr>
        <p:spPr>
          <a:xfrm>
            <a:off x="2428875" y="3429000"/>
            <a:ext cx="5953125" cy="646113"/>
          </a:xfrm>
          <a:prstGeom prst="rect">
            <a:avLst/>
          </a:prstGeom>
        </p:spPr>
        <p:txBody>
          <a:bodyPr>
            <a:spAutoFit/>
          </a:bodyPr>
          <a:lstStyle/>
          <a:p>
            <a:pPr marL="300038" lvl="1">
              <a:defRPr/>
            </a:pPr>
            <a:r>
              <a:rPr lang="en-US" sz="1200" dirty="0">
                <a:solidFill>
                  <a:schemeClr val="tx1">
                    <a:lumMod val="75000"/>
                    <a:lumOff val="25000"/>
                  </a:schemeClr>
                </a:solidFill>
                <a:latin typeface="Consolas" pitchFamily="49" charset="0"/>
                <a:cs typeface="Consolas" pitchFamily="49" charset="0"/>
              </a:rPr>
              <a:t>GET      http:/​/ad.doubleclick.net/</a:t>
            </a:r>
            <a:r>
              <a:rPr lang="en-US" sz="1200" dirty="0" err="1">
                <a:solidFill>
                  <a:schemeClr val="tx1">
                    <a:lumMod val="75000"/>
                    <a:lumOff val="25000"/>
                  </a:schemeClr>
                </a:solidFill>
                <a:latin typeface="Consolas" pitchFamily="49" charset="0"/>
                <a:cs typeface="Consolas" pitchFamily="49" charset="0"/>
              </a:rPr>
              <a:t>adj</a:t>
            </a:r>
            <a:r>
              <a:rPr lang="en-US" sz="1200" dirty="0">
                <a:solidFill>
                  <a:schemeClr val="tx1">
                    <a:lumMod val="75000"/>
                    <a:lumOff val="25000"/>
                  </a:schemeClr>
                </a:solidFill>
                <a:latin typeface="Consolas" pitchFamily="49" charset="0"/>
                <a:cs typeface="Consolas" pitchFamily="49" charset="0"/>
              </a:rPr>
              <a:t>/...</a:t>
            </a:r>
            <a:br>
              <a:rPr lang="en-US" sz="1200" dirty="0">
                <a:solidFill>
                  <a:schemeClr val="tx1">
                    <a:lumMod val="75000"/>
                    <a:lumOff val="25000"/>
                  </a:schemeClr>
                </a:solidFill>
                <a:latin typeface="Consolas" pitchFamily="49" charset="0"/>
                <a:cs typeface="Consolas" pitchFamily="49" charset="0"/>
              </a:rPr>
            </a:br>
            <a:r>
              <a:rPr lang="en-US" sz="1200" dirty="0" err="1">
                <a:solidFill>
                  <a:schemeClr val="tx1">
                    <a:lumMod val="75000"/>
                    <a:lumOff val="25000"/>
                  </a:schemeClr>
                </a:solidFill>
                <a:latin typeface="Consolas" pitchFamily="49" charset="0"/>
                <a:cs typeface="Consolas" pitchFamily="49" charset="0"/>
              </a:rPr>
              <a:t>Referer</a:t>
            </a:r>
            <a:r>
              <a:rPr lang="en-US" sz="1200" dirty="0">
                <a:solidFill>
                  <a:schemeClr val="tx1">
                    <a:lumMod val="75000"/>
                    <a:lumOff val="25000"/>
                  </a:schemeClr>
                </a:solidFill>
                <a:latin typeface="Consolas" pitchFamily="49" charset="0"/>
                <a:cs typeface="Consolas" pitchFamily="49" charset="0"/>
              </a:rPr>
              <a:t>: http:/​/submit.SPORTS.com/...?email=</a:t>
            </a:r>
            <a:r>
              <a:rPr lang="en-US" sz="1200" dirty="0">
                <a:solidFill>
                  <a:schemeClr val="accent6">
                    <a:lumMod val="75000"/>
                  </a:schemeClr>
                </a:solidFill>
                <a:latin typeface="Consolas" pitchFamily="49" charset="0"/>
                <a:cs typeface="Consolas" pitchFamily="49" charset="0"/>
              </a:rPr>
              <a:t>jdoe@email.com</a:t>
            </a:r>
            <a:br>
              <a:rPr lang="en-US" sz="1200" dirty="0">
                <a:solidFill>
                  <a:schemeClr val="tx1">
                    <a:lumMod val="75000"/>
                    <a:lumOff val="25000"/>
                  </a:schemeClr>
                </a:solidFill>
                <a:latin typeface="Consolas" pitchFamily="49" charset="0"/>
                <a:cs typeface="Consolas" pitchFamily="49" charset="0"/>
              </a:rPr>
            </a:br>
            <a:r>
              <a:rPr lang="en-US" sz="1200" dirty="0">
                <a:solidFill>
                  <a:schemeClr val="tx1">
                    <a:lumMod val="75000"/>
                    <a:lumOff val="25000"/>
                  </a:schemeClr>
                </a:solidFill>
                <a:latin typeface="Consolas" pitchFamily="49" charset="0"/>
                <a:cs typeface="Consolas" pitchFamily="49" charset="0"/>
              </a:rPr>
              <a:t>Cookie:  id=</a:t>
            </a:r>
            <a:r>
              <a:rPr lang="en-US" sz="1200" dirty="0">
                <a:solidFill>
                  <a:schemeClr val="accent6">
                    <a:lumMod val="75000"/>
                  </a:schemeClr>
                </a:solidFill>
                <a:latin typeface="Consolas" pitchFamily="49" charset="0"/>
                <a:cs typeface="Consolas" pitchFamily="49" charset="0"/>
              </a:rPr>
              <a:t>35c192bcfe0000b1...</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1D6AC328-8B05-8520-4767-4E0B48E8F9FF}"/>
              </a:ext>
            </a:extLst>
          </p:cNvPr>
          <p:cNvSpPr>
            <a:spLocks noGrp="1"/>
          </p:cNvSpPr>
          <p:nvPr>
            <p:ph type="title"/>
          </p:nvPr>
        </p:nvSpPr>
        <p:spPr>
          <a:xfrm>
            <a:off x="1485900" y="206375"/>
            <a:ext cx="6257925" cy="857250"/>
          </a:xfrm>
        </p:spPr>
        <p:txBody>
          <a:bodyPr/>
          <a:lstStyle/>
          <a:p>
            <a:r>
              <a:rPr lang="en-US" altLang="en-US"/>
              <a:t>Merging Across Distinct Databases</a:t>
            </a:r>
          </a:p>
        </p:txBody>
      </p:sp>
      <p:sp>
        <p:nvSpPr>
          <p:cNvPr id="3" name="Content Placeholder 2">
            <a:extLst>
              <a:ext uri="{FF2B5EF4-FFF2-40B4-BE49-F238E27FC236}">
                <a16:creationId xmlns:a16="http://schemas.microsoft.com/office/drawing/2014/main" id="{D43AEEC8-97D8-43FB-F46B-5A96CB3EBADC}"/>
              </a:ext>
            </a:extLst>
          </p:cNvPr>
          <p:cNvSpPr>
            <a:spLocks noGrp="1"/>
          </p:cNvSpPr>
          <p:nvPr>
            <p:ph idx="1"/>
          </p:nvPr>
        </p:nvSpPr>
        <p:spPr/>
        <p:txBody>
          <a:bodyPr>
            <a:normAutofit/>
          </a:bodyPr>
          <a:lstStyle/>
          <a:p>
            <a:pPr marL="342900" lvl="1" indent="0">
              <a:buFont typeface="Arial" panose="020B0604020202020204" pitchFamily="34" charset="0"/>
              <a:buNone/>
              <a:defRPr/>
            </a:pPr>
            <a:endParaRPr lang="en-US" sz="2400" dirty="0"/>
          </a:p>
          <a:p>
            <a:pPr lvl="1">
              <a:defRPr/>
            </a:pPr>
            <a:r>
              <a:rPr lang="en-US" sz="2400" dirty="0"/>
              <a:t>Different trackers have different IDs for the user</a:t>
            </a:r>
          </a:p>
          <a:p>
            <a:pPr lvl="1">
              <a:defRPr/>
            </a:pPr>
            <a:r>
              <a:rPr lang="en-US" sz="2400" dirty="0"/>
              <a:t>Different IDs on different devices of the same user</a:t>
            </a:r>
          </a:p>
          <a:p>
            <a:pPr lvl="1">
              <a:defRPr/>
            </a:pPr>
            <a:r>
              <a:rPr lang="en-US" sz="2400" dirty="0"/>
              <a:t>Retail trackers have offline databases</a:t>
            </a:r>
          </a:p>
          <a:p>
            <a:pPr lvl="1">
              <a:defRPr/>
            </a:pPr>
            <a:endParaRPr lang="en-US" sz="2400" dirty="0"/>
          </a:p>
          <a:p>
            <a:pPr marL="342900" lvl="1" indent="0">
              <a:buFont typeface="Arial" panose="020B0604020202020204" pitchFamily="34" charset="0"/>
              <a:buNone/>
              <a:defRPr/>
            </a:pPr>
            <a:r>
              <a:rPr lang="en-US" sz="2400" b="1" dirty="0">
                <a:solidFill>
                  <a:srgbClr val="C00000"/>
                </a:solidFill>
              </a:rPr>
              <a:t>Linking across any of these boundaries is possible.</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15613D5A-6452-0950-F172-38F967A67FC5}"/>
              </a:ext>
            </a:extLst>
          </p:cNvPr>
          <p:cNvSpPr>
            <a:spLocks noGrp="1"/>
          </p:cNvSpPr>
          <p:nvPr>
            <p:ph type="title"/>
          </p:nvPr>
        </p:nvSpPr>
        <p:spPr/>
        <p:txBody>
          <a:bodyPr/>
          <a:lstStyle/>
          <a:p>
            <a:r>
              <a:rPr lang="en-US" altLang="en-US"/>
              <a:t>Cookie Syncing</a:t>
            </a:r>
          </a:p>
        </p:txBody>
      </p:sp>
      <p:sp>
        <p:nvSpPr>
          <p:cNvPr id="3" name="Content Placeholder 2">
            <a:extLst>
              <a:ext uri="{FF2B5EF4-FFF2-40B4-BE49-F238E27FC236}">
                <a16:creationId xmlns:a16="http://schemas.microsoft.com/office/drawing/2014/main" id="{8EC17BFA-C381-50A5-DC3E-EB49CDF11AE4}"/>
              </a:ext>
            </a:extLst>
          </p:cNvPr>
          <p:cNvSpPr>
            <a:spLocks noGrp="1"/>
          </p:cNvSpPr>
          <p:nvPr>
            <p:ph idx="1"/>
          </p:nvPr>
        </p:nvSpPr>
        <p:spPr>
          <a:xfrm>
            <a:off x="1485900" y="1200150"/>
            <a:ext cx="6386513" cy="3394075"/>
          </a:xfrm>
        </p:spPr>
        <p:txBody>
          <a:bodyPr>
            <a:normAutofit lnSpcReduction="10000"/>
          </a:bodyPr>
          <a:lstStyle/>
          <a:p>
            <a:pPr marL="0" indent="0">
              <a:buFont typeface="Arial" panose="020B0604020202020204" pitchFamily="34" charset="0"/>
              <a:buNone/>
              <a:defRPr/>
            </a:pPr>
            <a:endParaRPr lang="en-US" dirty="0"/>
          </a:p>
          <a:p>
            <a:pPr marL="0" indent="0">
              <a:buFont typeface="Arial" panose="020B0604020202020204" pitchFamily="34" charset="0"/>
              <a:buNone/>
              <a:defRPr/>
            </a:pPr>
            <a:r>
              <a:rPr lang="en-US" dirty="0"/>
              <a:t>Tracker X knows a user U by the id x</a:t>
            </a:r>
          </a:p>
          <a:p>
            <a:pPr marL="0" indent="0">
              <a:buFont typeface="Arial" panose="020B0604020202020204" pitchFamily="34" charset="0"/>
              <a:buNone/>
              <a:defRPr/>
            </a:pPr>
            <a:r>
              <a:rPr lang="en-US" dirty="0"/>
              <a:t>Tracker Y knows a user U by the id y</a:t>
            </a:r>
          </a:p>
          <a:p>
            <a:pPr marL="0" indent="0">
              <a:buFont typeface="Arial" panose="020B0604020202020204" pitchFamily="34" charset="0"/>
              <a:buNone/>
              <a:defRPr/>
            </a:pPr>
            <a:endParaRPr lang="en-US" dirty="0"/>
          </a:p>
          <a:p>
            <a:pPr marL="0" indent="0">
              <a:buFont typeface="Arial" panose="020B0604020202020204" pitchFamily="34" charset="0"/>
              <a:buNone/>
              <a:defRPr/>
            </a:pPr>
            <a:r>
              <a:rPr lang="en-US" b="1" dirty="0"/>
              <a:t>How can X &amp; Y link x &amp; y in their databases?</a:t>
            </a:r>
          </a:p>
          <a:p>
            <a:pPr marL="0" indent="0">
              <a:buFont typeface="Arial" panose="020B0604020202020204" pitchFamily="34" charset="0"/>
              <a:buNone/>
              <a:defRPr/>
            </a:pPr>
            <a:endParaRPr lang="en-US" dirty="0"/>
          </a:p>
          <a:p>
            <a:pPr marL="0" indent="0">
              <a:buFont typeface="Arial" panose="020B0604020202020204" pitchFamily="34" charset="0"/>
              <a:buNone/>
              <a:defRPr/>
            </a:pPr>
            <a:r>
              <a:rPr lang="en-US" dirty="0"/>
              <a:t>Hint: this must happen via the browser when user visits a site with either X or Y embedded</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DD102F7F-7309-121C-B29A-BD1FE9487C86}"/>
              </a:ext>
            </a:extLst>
          </p:cNvPr>
          <p:cNvSpPr/>
          <p:nvPr/>
        </p:nvSpPr>
        <p:spPr>
          <a:xfrm>
            <a:off x="228600" y="571500"/>
            <a:ext cx="6486525" cy="4210050"/>
          </a:xfrm>
          <a:prstGeom prst="roundRect">
            <a:avLst>
              <a:gd name="adj" fmla="val 1174"/>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endParaRPr lang="en-US" dirty="0"/>
          </a:p>
        </p:txBody>
      </p:sp>
      <p:sp>
        <p:nvSpPr>
          <p:cNvPr id="7" name="Rounded Rectangle 6">
            <a:extLst>
              <a:ext uri="{FF2B5EF4-FFF2-40B4-BE49-F238E27FC236}">
                <a16:creationId xmlns:a16="http://schemas.microsoft.com/office/drawing/2014/main" id="{0B2FA3FA-8391-2CB8-3051-2F1B1BB77936}"/>
              </a:ext>
            </a:extLst>
          </p:cNvPr>
          <p:cNvSpPr/>
          <p:nvPr/>
        </p:nvSpPr>
        <p:spPr>
          <a:xfrm>
            <a:off x="609600" y="2628900"/>
            <a:ext cx="2581275" cy="1714500"/>
          </a:xfrm>
          <a:prstGeom prst="roundRect">
            <a:avLst>
              <a:gd name="adj" fmla="val 2000"/>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endParaRPr lang="en-US" dirty="0"/>
          </a:p>
        </p:txBody>
      </p:sp>
      <p:sp>
        <p:nvSpPr>
          <p:cNvPr id="65539" name="TextBox 7">
            <a:extLst>
              <a:ext uri="{FF2B5EF4-FFF2-40B4-BE49-F238E27FC236}">
                <a16:creationId xmlns:a16="http://schemas.microsoft.com/office/drawing/2014/main" id="{BC6C1B18-7516-84CE-793B-69A8B555405D}"/>
              </a:ext>
            </a:extLst>
          </p:cNvPr>
          <p:cNvSpPr txBox="1">
            <a:spLocks noChangeArrowheads="1"/>
          </p:cNvSpPr>
          <p:nvPr/>
        </p:nvSpPr>
        <p:spPr bwMode="auto">
          <a:xfrm>
            <a:off x="381000" y="612775"/>
            <a:ext cx="2128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http://firstparty.com</a:t>
            </a:r>
          </a:p>
        </p:txBody>
      </p:sp>
      <p:cxnSp>
        <p:nvCxnSpPr>
          <p:cNvPr id="9" name="Straight Connector 8">
            <a:extLst>
              <a:ext uri="{FF2B5EF4-FFF2-40B4-BE49-F238E27FC236}">
                <a16:creationId xmlns:a16="http://schemas.microsoft.com/office/drawing/2014/main" id="{9678D85A-0726-0CCE-55A4-F4EE1222A600}"/>
              </a:ext>
            </a:extLst>
          </p:cNvPr>
          <p:cNvCxnSpPr/>
          <p:nvPr/>
        </p:nvCxnSpPr>
        <p:spPr>
          <a:xfrm>
            <a:off x="2428875" y="962025"/>
            <a:ext cx="4286250" cy="0"/>
          </a:xfrm>
          <a:prstGeom prst="line">
            <a:avLst/>
          </a:prstGeom>
        </p:spPr>
        <p:style>
          <a:lnRef idx="2">
            <a:schemeClr val="accent3"/>
          </a:lnRef>
          <a:fillRef idx="1">
            <a:schemeClr val="lt1"/>
          </a:fillRef>
          <a:effectRef idx="0">
            <a:schemeClr val="accent3"/>
          </a:effectRef>
          <a:fontRef idx="minor">
            <a:schemeClr val="dk1"/>
          </a:fontRef>
        </p:style>
      </p:cxnSp>
      <p:sp>
        <p:nvSpPr>
          <p:cNvPr id="65541" name="TextBox 9">
            <a:extLst>
              <a:ext uri="{FF2B5EF4-FFF2-40B4-BE49-F238E27FC236}">
                <a16:creationId xmlns:a16="http://schemas.microsoft.com/office/drawing/2014/main" id="{143CA55B-C624-8FF9-BB7A-B600AE2C47F9}"/>
              </a:ext>
            </a:extLst>
          </p:cNvPr>
          <p:cNvSpPr txBox="1">
            <a:spLocks noChangeArrowheads="1"/>
          </p:cNvSpPr>
          <p:nvPr/>
        </p:nvSpPr>
        <p:spPr bwMode="auto">
          <a:xfrm>
            <a:off x="660400" y="2660650"/>
            <a:ext cx="2530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https://trackerX.com/…</a:t>
            </a:r>
          </a:p>
        </p:txBody>
      </p:sp>
      <p:sp>
        <p:nvSpPr>
          <p:cNvPr id="11" name="Rounded Rectangle 10">
            <a:extLst>
              <a:ext uri="{FF2B5EF4-FFF2-40B4-BE49-F238E27FC236}">
                <a16:creationId xmlns:a16="http://schemas.microsoft.com/office/drawing/2014/main" id="{77AEF7F0-E7C6-29AF-5FC0-6A404B8B4030}"/>
              </a:ext>
            </a:extLst>
          </p:cNvPr>
          <p:cNvSpPr/>
          <p:nvPr/>
        </p:nvSpPr>
        <p:spPr>
          <a:xfrm>
            <a:off x="4251325" y="2628900"/>
            <a:ext cx="2463800" cy="1714500"/>
          </a:xfrm>
          <a:prstGeom prst="roundRect">
            <a:avLst>
              <a:gd name="adj" fmla="val 2000"/>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endParaRPr lang="en-US" dirty="0"/>
          </a:p>
        </p:txBody>
      </p:sp>
      <p:sp>
        <p:nvSpPr>
          <p:cNvPr id="12" name="TextBox 11">
            <a:extLst>
              <a:ext uri="{FF2B5EF4-FFF2-40B4-BE49-F238E27FC236}">
                <a16:creationId xmlns:a16="http://schemas.microsoft.com/office/drawing/2014/main" id="{199A64C0-43E1-B647-3F5C-353DE63B3DA2}"/>
              </a:ext>
            </a:extLst>
          </p:cNvPr>
          <p:cNvSpPr txBox="1">
            <a:spLocks noChangeArrowheads="1"/>
          </p:cNvSpPr>
          <p:nvPr/>
        </p:nvSpPr>
        <p:spPr bwMode="auto">
          <a:xfrm>
            <a:off x="4233863" y="2730500"/>
            <a:ext cx="2501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https://trackerY.com/…</a:t>
            </a:r>
          </a:p>
        </p:txBody>
      </p:sp>
      <p:sp>
        <p:nvSpPr>
          <p:cNvPr id="13" name="Right Arrow 12">
            <a:extLst>
              <a:ext uri="{FF2B5EF4-FFF2-40B4-BE49-F238E27FC236}">
                <a16:creationId xmlns:a16="http://schemas.microsoft.com/office/drawing/2014/main" id="{B0855DDD-89CF-93D9-DFD2-027A44ECA665}"/>
              </a:ext>
            </a:extLst>
          </p:cNvPr>
          <p:cNvSpPr/>
          <p:nvPr/>
        </p:nvSpPr>
        <p:spPr>
          <a:xfrm>
            <a:off x="3424238" y="3551238"/>
            <a:ext cx="728662" cy="171450"/>
          </a:xfrm>
          <a:prstGeom prst="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dirty="0"/>
          </a:p>
        </p:txBody>
      </p:sp>
      <p:sp>
        <p:nvSpPr>
          <p:cNvPr id="14" name="TextBox 13">
            <a:extLst>
              <a:ext uri="{FF2B5EF4-FFF2-40B4-BE49-F238E27FC236}">
                <a16:creationId xmlns:a16="http://schemas.microsoft.com/office/drawing/2014/main" id="{57338CB2-45B2-02EA-E353-CEB84C83E499}"/>
              </a:ext>
            </a:extLst>
          </p:cNvPr>
          <p:cNvSpPr txBox="1">
            <a:spLocks noChangeArrowheads="1"/>
          </p:cNvSpPr>
          <p:nvPr/>
        </p:nvSpPr>
        <p:spPr bwMode="auto">
          <a:xfrm>
            <a:off x="3352800" y="3022600"/>
            <a:ext cx="8270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500"/>
          </a:p>
          <a:p>
            <a:pPr algn="ctr"/>
            <a:r>
              <a:rPr lang="en-US" altLang="en-US" sz="1500"/>
              <a:t>redirect</a:t>
            </a:r>
          </a:p>
        </p:txBody>
      </p:sp>
      <p:sp>
        <p:nvSpPr>
          <p:cNvPr id="15" name="Rectangle 14">
            <a:extLst>
              <a:ext uri="{FF2B5EF4-FFF2-40B4-BE49-F238E27FC236}">
                <a16:creationId xmlns:a16="http://schemas.microsoft.com/office/drawing/2014/main" id="{F6025828-B052-F3B9-C583-EEB0CC251ADA}"/>
              </a:ext>
            </a:extLst>
          </p:cNvPr>
          <p:cNvSpPr/>
          <p:nvPr/>
        </p:nvSpPr>
        <p:spPr>
          <a:xfrm>
            <a:off x="838200" y="1371600"/>
            <a:ext cx="5297488" cy="857250"/>
          </a:xfrm>
          <a:prstGeom prst="rect">
            <a:avLst/>
          </a:prstGeom>
          <a:noFill/>
          <a:ln>
            <a:noFill/>
          </a:ln>
        </p:spPr>
        <p:style>
          <a:lnRef idx="2">
            <a:schemeClr val="dk1"/>
          </a:lnRef>
          <a:fillRef idx="1">
            <a:schemeClr val="lt1"/>
          </a:fillRef>
          <a:effectRef idx="0">
            <a:schemeClr val="dk1"/>
          </a:effectRef>
          <a:fontRef idx="minor">
            <a:schemeClr val="dk1"/>
          </a:fontRef>
        </p:style>
        <p:txBody>
          <a:bodyPr anchor="ctr"/>
          <a:lstStyle/>
          <a:p>
            <a:pPr>
              <a:defRPr/>
            </a:pPr>
            <a:r>
              <a:rPr lang="en-US" b="1" dirty="0">
                <a:latin typeface="Consolas" panose="020B0609020204030204" pitchFamily="49" charset="0"/>
                <a:cs typeface="Consolas" panose="020B0609020204030204" pitchFamily="49" charset="0"/>
              </a:rPr>
              <a:t>GET      </a:t>
            </a:r>
            <a:r>
              <a:rPr lang="en-US" dirty="0">
                <a:latin typeface="Consolas" panose="020B0609020204030204" pitchFamily="49" charset="0"/>
                <a:cs typeface="Consolas" panose="020B0609020204030204" pitchFamily="49" charset="0"/>
              </a:rPr>
              <a:t>https://</a:t>
            </a:r>
            <a:r>
              <a:rPr lang="en-US" b="1" dirty="0">
                <a:latin typeface="Consolas" panose="020B0609020204030204" pitchFamily="49" charset="0"/>
                <a:cs typeface="Consolas" panose="020B0609020204030204" pitchFamily="49" charset="0"/>
              </a:rPr>
              <a:t>trackerY.com</a:t>
            </a:r>
            <a:r>
              <a:rPr lang="en-US" dirty="0">
                <a:latin typeface="Consolas" panose="020B0609020204030204" pitchFamily="49" charset="0"/>
                <a:cs typeface="Consolas" panose="020B0609020204030204" pitchFamily="49" charset="0"/>
              </a:rPr>
              <a:t>/</a:t>
            </a:r>
            <a:r>
              <a:rPr lang="en-US" b="1" dirty="0">
                <a:latin typeface="Consolas" panose="020B0609020204030204" pitchFamily="49" charset="0"/>
                <a:cs typeface="Consolas" panose="020B0609020204030204" pitchFamily="49" charset="0"/>
              </a:rPr>
              <a:t>?uid=xxxxxxx</a:t>
            </a:r>
          </a:p>
          <a:p>
            <a:pPr>
              <a:defRPr/>
            </a:pPr>
            <a:r>
              <a:rPr lang="en-US" b="1" dirty="0" err="1">
                <a:latin typeface="Consolas" panose="020B0609020204030204" pitchFamily="49" charset="0"/>
                <a:cs typeface="Consolas" panose="020B0609020204030204" pitchFamily="49" charset="0"/>
              </a:rPr>
              <a:t>Referer</a:t>
            </a:r>
            <a:r>
              <a:rPr lang="en-US" b="1"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http://</a:t>
            </a:r>
            <a:r>
              <a:rPr lang="en-US" b="1" dirty="0">
                <a:latin typeface="Consolas" panose="020B0609020204030204" pitchFamily="49" charset="0"/>
                <a:cs typeface="Consolas" panose="020B0609020204030204" pitchFamily="49" charset="0"/>
              </a:rPr>
              <a:t>trackerX.com</a:t>
            </a:r>
            <a:r>
              <a:rPr lang="en-US" dirty="0">
                <a:latin typeface="Consolas" panose="020B0609020204030204" pitchFamily="49" charset="0"/>
                <a:cs typeface="Consolas" panose="020B0609020204030204" pitchFamily="49" charset="0"/>
              </a:rPr>
              <a:t>/…</a:t>
            </a:r>
          </a:p>
          <a:p>
            <a:pPr>
              <a:defRPr/>
            </a:pPr>
            <a:r>
              <a:rPr lang="en-US" b="1" dirty="0">
                <a:latin typeface="Consolas" panose="020B0609020204030204" pitchFamily="49" charset="0"/>
                <a:cs typeface="Consolas" panose="020B0609020204030204" pitchFamily="49" charset="0"/>
              </a:rPr>
              <a:t>Cookie:  id=</a:t>
            </a:r>
            <a:r>
              <a:rPr lang="en-US" b="1" dirty="0" err="1">
                <a:latin typeface="Consolas" panose="020B0609020204030204" pitchFamily="49" charset="0"/>
                <a:cs typeface="Consolas" panose="020B0609020204030204" pitchFamily="49" charset="0"/>
              </a:rPr>
              <a:t>yyyyyyy</a:t>
            </a:r>
            <a:endParaRPr lang="en-US" b="1" dirty="0">
              <a:latin typeface="Consolas" panose="020B0609020204030204" pitchFamily="49" charset="0"/>
              <a:cs typeface="Consolas" panose="020B0609020204030204" pitchFamily="49" charset="0"/>
            </a:endParaRPr>
          </a:p>
        </p:txBody>
      </p:sp>
      <p:sp>
        <p:nvSpPr>
          <p:cNvPr id="2" name="TextBox 1">
            <a:extLst>
              <a:ext uri="{FF2B5EF4-FFF2-40B4-BE49-F238E27FC236}">
                <a16:creationId xmlns:a16="http://schemas.microsoft.com/office/drawing/2014/main" id="{62F98AD3-CD8D-FD83-3085-72AE3414013C}"/>
              </a:ext>
            </a:extLst>
          </p:cNvPr>
          <p:cNvSpPr txBox="1"/>
          <p:nvPr/>
        </p:nvSpPr>
        <p:spPr>
          <a:xfrm>
            <a:off x="5562600" y="520700"/>
            <a:ext cx="2971800" cy="1200150"/>
          </a:xfrm>
          <a:prstGeom prst="rect">
            <a:avLst/>
          </a:prstGeom>
          <a:solidFill>
            <a:schemeClr val="bg1">
              <a:lumMod val="85000"/>
            </a:schemeClr>
          </a:solidFill>
        </p:spPr>
        <p:txBody>
          <a:bodyPr>
            <a:spAutoFit/>
          </a:bodyPr>
          <a:lstStyle/>
          <a:p>
            <a:pPr>
              <a:defRPr/>
            </a:pPr>
            <a:r>
              <a:rPr lang="en-US" dirty="0" err="1"/>
              <a:t>TrackerX</a:t>
            </a:r>
            <a:r>
              <a:rPr lang="en-US" dirty="0"/>
              <a:t> embeds its ID for the user into the GET request as a parameter</a:t>
            </a:r>
          </a:p>
          <a:p>
            <a:pPr>
              <a:defRPr/>
            </a:pPr>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2">
            <a:extLst>
              <a:ext uri="{FF2B5EF4-FFF2-40B4-BE49-F238E27FC236}">
                <a16:creationId xmlns:a16="http://schemas.microsoft.com/office/drawing/2014/main" id="{6FB152E0-7F6D-FAA1-D94F-BC134F585FD5}"/>
              </a:ext>
            </a:extLst>
          </p:cNvPr>
          <p:cNvSpPr>
            <a:spLocks noGrp="1"/>
          </p:cNvSpPr>
          <p:nvPr>
            <p:ph type="title"/>
          </p:nvPr>
        </p:nvSpPr>
        <p:spPr>
          <a:xfrm>
            <a:off x="1485900" y="1854200"/>
            <a:ext cx="6172200" cy="857250"/>
          </a:xfrm>
        </p:spPr>
        <p:txBody>
          <a:bodyPr/>
          <a:lstStyle/>
          <a:p>
            <a:r>
              <a:rPr lang="en-US" altLang="en-US"/>
              <a:t>Defenses</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1C76AF85-2738-A2FA-5360-3F5571E799AD}"/>
              </a:ext>
            </a:extLst>
          </p:cNvPr>
          <p:cNvSpPr>
            <a:spLocks noGrp="1"/>
          </p:cNvSpPr>
          <p:nvPr>
            <p:ph type="title"/>
          </p:nvPr>
        </p:nvSpPr>
        <p:spPr/>
        <p:txBody>
          <a:bodyPr/>
          <a:lstStyle/>
          <a:p>
            <a:r>
              <a:rPr lang="en-US" altLang="en-US"/>
              <a:t>1. Referer Blocking</a:t>
            </a:r>
          </a:p>
        </p:txBody>
      </p:sp>
      <p:sp>
        <p:nvSpPr>
          <p:cNvPr id="3" name="Content Placeholder 2">
            <a:extLst>
              <a:ext uri="{FF2B5EF4-FFF2-40B4-BE49-F238E27FC236}">
                <a16:creationId xmlns:a16="http://schemas.microsoft.com/office/drawing/2014/main" id="{534881BC-9160-B9E2-3BAA-49450667BEA5}"/>
              </a:ext>
            </a:extLst>
          </p:cNvPr>
          <p:cNvSpPr>
            <a:spLocks noGrp="1"/>
          </p:cNvSpPr>
          <p:nvPr>
            <p:ph idx="1"/>
          </p:nvPr>
        </p:nvSpPr>
        <p:spPr/>
        <p:txBody>
          <a:bodyPr/>
          <a:lstStyle/>
          <a:p>
            <a:pPr marL="0" indent="0">
              <a:buFont typeface="Arial" panose="020B0604020202020204" pitchFamily="34" charset="0"/>
              <a:buNone/>
              <a:defRPr/>
            </a:pPr>
            <a:endParaRPr lang="en-US" dirty="0"/>
          </a:p>
          <a:p>
            <a:pPr marL="0" indent="0">
              <a:buFont typeface="Arial" panose="020B0604020202020204" pitchFamily="34" charset="0"/>
              <a:buNone/>
              <a:defRPr/>
            </a:pPr>
            <a:r>
              <a:rPr lang="en-US" dirty="0"/>
              <a:t>Two drawbacks</a:t>
            </a:r>
          </a:p>
          <a:p>
            <a:pPr marL="0" indent="0">
              <a:buFont typeface="Arial" panose="020B0604020202020204" pitchFamily="34" charset="0"/>
              <a:buNone/>
              <a:defRPr/>
            </a:pPr>
            <a:endParaRPr lang="en-US" dirty="0"/>
          </a:p>
          <a:p>
            <a:pPr marL="385763" indent="-385763">
              <a:buFont typeface="+mj-lt"/>
              <a:buAutoNum type="arabicPeriod"/>
              <a:defRPr/>
            </a:pPr>
            <a:r>
              <a:rPr lang="en-US" sz="2100" dirty="0"/>
              <a:t>Blocking </a:t>
            </a:r>
            <a:r>
              <a:rPr lang="en-US" sz="2100" dirty="0" err="1"/>
              <a:t>referer</a:t>
            </a:r>
            <a:r>
              <a:rPr lang="en-US" sz="2100" dirty="0"/>
              <a:t> indiscriminately will break many sites</a:t>
            </a:r>
          </a:p>
          <a:p>
            <a:pPr marL="385763" indent="-385763">
              <a:buFont typeface="+mj-lt"/>
              <a:buAutoNum type="arabicPeriod"/>
              <a:defRPr/>
            </a:pPr>
            <a:endParaRPr lang="en-US" sz="2100" dirty="0"/>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1" name="Picture 2">
            <a:extLst>
              <a:ext uri="{FF2B5EF4-FFF2-40B4-BE49-F238E27FC236}">
                <a16:creationId xmlns:a16="http://schemas.microsoft.com/office/drawing/2014/main" id="{C401E938-F44F-4AF0-80B3-E5782B9526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4525" y="363538"/>
            <a:ext cx="5229225"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BF060CBC-7422-0895-59EF-8C7FE3F31664}"/>
              </a:ext>
            </a:extLst>
          </p:cNvPr>
          <p:cNvSpPr>
            <a:spLocks noGrp="1"/>
          </p:cNvSpPr>
          <p:nvPr>
            <p:ph type="title"/>
          </p:nvPr>
        </p:nvSpPr>
        <p:spPr/>
        <p:txBody>
          <a:bodyPr/>
          <a:lstStyle/>
          <a:p>
            <a:r>
              <a:rPr lang="en-US" altLang="en-US"/>
              <a:t>1. Referer Blocking</a:t>
            </a:r>
          </a:p>
        </p:txBody>
      </p:sp>
      <p:sp>
        <p:nvSpPr>
          <p:cNvPr id="3" name="Content Placeholder 2">
            <a:extLst>
              <a:ext uri="{FF2B5EF4-FFF2-40B4-BE49-F238E27FC236}">
                <a16:creationId xmlns:a16="http://schemas.microsoft.com/office/drawing/2014/main" id="{A055482F-E434-34E2-2B48-33222C5E5E89}"/>
              </a:ext>
            </a:extLst>
          </p:cNvPr>
          <p:cNvSpPr>
            <a:spLocks noGrp="1"/>
          </p:cNvSpPr>
          <p:nvPr>
            <p:ph idx="1"/>
          </p:nvPr>
        </p:nvSpPr>
        <p:spPr/>
        <p:txBody>
          <a:bodyPr>
            <a:normAutofit/>
          </a:bodyPr>
          <a:lstStyle/>
          <a:p>
            <a:pPr marL="0" indent="0">
              <a:buFont typeface="Arial" panose="020B0604020202020204" pitchFamily="34" charset="0"/>
              <a:buNone/>
              <a:defRPr/>
            </a:pPr>
            <a:endParaRPr lang="en-US" dirty="0"/>
          </a:p>
          <a:p>
            <a:pPr marL="0" indent="0">
              <a:buFont typeface="Arial" panose="020B0604020202020204" pitchFamily="34" charset="0"/>
              <a:buNone/>
              <a:defRPr/>
            </a:pPr>
            <a:r>
              <a:rPr lang="en-US" dirty="0"/>
              <a:t>Two drawbacks</a:t>
            </a:r>
          </a:p>
          <a:p>
            <a:pPr marL="0" indent="0">
              <a:buFont typeface="Arial" panose="020B0604020202020204" pitchFamily="34" charset="0"/>
              <a:buNone/>
              <a:defRPr/>
            </a:pPr>
            <a:endParaRPr lang="en-US" dirty="0"/>
          </a:p>
          <a:p>
            <a:pPr marL="385763" indent="-385763">
              <a:buFont typeface="+mj-lt"/>
              <a:buAutoNum type="arabicPeriod"/>
              <a:defRPr/>
            </a:pPr>
            <a:r>
              <a:rPr lang="en-US" sz="2100" dirty="0"/>
              <a:t>Many sites check </a:t>
            </a:r>
            <a:r>
              <a:rPr lang="en-US" sz="2100" dirty="0" err="1"/>
              <a:t>referer</a:t>
            </a:r>
            <a:r>
              <a:rPr lang="en-US" sz="2100" dirty="0"/>
              <a:t> header for XSRF defense</a:t>
            </a:r>
            <a:br>
              <a:rPr lang="en-US" sz="2100" dirty="0"/>
            </a:br>
            <a:r>
              <a:rPr lang="en-US" sz="2100" dirty="0"/>
              <a:t>Blocking </a:t>
            </a:r>
            <a:r>
              <a:rPr lang="en-US" sz="2100" dirty="0" err="1"/>
              <a:t>referer</a:t>
            </a:r>
            <a:r>
              <a:rPr lang="en-US" sz="2100" dirty="0"/>
              <a:t> indiscriminately will break sites</a:t>
            </a:r>
          </a:p>
          <a:p>
            <a:pPr marL="385763" indent="-385763">
              <a:buFont typeface="+mj-lt"/>
              <a:buAutoNum type="arabicPeriod"/>
              <a:defRPr/>
            </a:pPr>
            <a:endParaRPr lang="en-US" sz="2100" dirty="0"/>
          </a:p>
          <a:p>
            <a:pPr marL="385763" indent="-385763">
              <a:buFont typeface="+mj-lt"/>
              <a:buAutoNum type="arabicPeriod"/>
              <a:defRPr/>
            </a:pPr>
            <a:r>
              <a:rPr lang="en-US" sz="2100" dirty="0"/>
              <a:t>Can’t prevent cooperative tracking</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A7A5063C-4A7B-1201-AEEA-AB9406CE3ECA}"/>
              </a:ext>
            </a:extLst>
          </p:cNvPr>
          <p:cNvSpPr>
            <a:spLocks noGrp="1"/>
          </p:cNvSpPr>
          <p:nvPr>
            <p:ph type="title"/>
          </p:nvPr>
        </p:nvSpPr>
        <p:spPr/>
        <p:txBody>
          <a:bodyPr/>
          <a:lstStyle/>
          <a:p>
            <a:r>
              <a:rPr lang="en-US" altLang="en-US"/>
              <a:t>Third-party Cookie Blocking</a:t>
            </a:r>
          </a:p>
        </p:txBody>
      </p:sp>
      <p:sp>
        <p:nvSpPr>
          <p:cNvPr id="75778" name="Content Placeholder 2">
            <a:extLst>
              <a:ext uri="{FF2B5EF4-FFF2-40B4-BE49-F238E27FC236}">
                <a16:creationId xmlns:a16="http://schemas.microsoft.com/office/drawing/2014/main" id="{44C56B07-33E8-D85C-093A-2D2DA99429B2}"/>
              </a:ext>
            </a:extLst>
          </p:cNvPr>
          <p:cNvSpPr>
            <a:spLocks noGrp="1"/>
          </p:cNvSpPr>
          <p:nvPr>
            <p:ph idx="1"/>
          </p:nvPr>
        </p:nvSpPr>
        <p:spPr/>
        <p:txBody>
          <a:bodyPr/>
          <a:lstStyle/>
          <a:p>
            <a:pPr marL="0" indent="0">
              <a:buFont typeface="Arial" panose="020B0604020202020204" pitchFamily="34" charset="0"/>
              <a:buNone/>
            </a:pPr>
            <a:endParaRPr lang="en-US" altLang="en-US"/>
          </a:p>
          <a:p>
            <a:pPr marL="0" indent="0">
              <a:buFont typeface="Arial" panose="020B0604020202020204" pitchFamily="34" charset="0"/>
              <a:buNone/>
            </a:pPr>
            <a:endParaRPr lang="en-US" altLang="en-US"/>
          </a:p>
          <a:p>
            <a:pPr marL="0" indent="0">
              <a:buFont typeface="Arial" panose="020B0604020202020204" pitchFamily="34" charset="0"/>
              <a:buNone/>
            </a:pPr>
            <a:r>
              <a:rPr lang="en-US" altLang="en-US"/>
              <a:t>Relatively little breakage, but…</a:t>
            </a:r>
          </a:p>
          <a:p>
            <a:pPr marL="0" indent="0">
              <a:buFont typeface="Arial" panose="020B0604020202020204" pitchFamily="34" charset="0"/>
              <a:buNone/>
            </a:pPr>
            <a:endParaRPr lang="en-US" altLang="en-US"/>
          </a:p>
          <a:p>
            <a:pPr marL="0" indent="0">
              <a:buFont typeface="Arial" panose="020B0604020202020204" pitchFamily="34" charset="0"/>
              <a:buNone/>
            </a:pPr>
            <a:r>
              <a:rPr lang="en-US" altLang="en-US"/>
              <a:t>Doesn’t prevent fingerprinting</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5" name="Picture 1">
            <a:extLst>
              <a:ext uri="{FF2B5EF4-FFF2-40B4-BE49-F238E27FC236}">
                <a16:creationId xmlns:a16="http://schemas.microsoft.com/office/drawing/2014/main" id="{D30E180E-5BFC-3692-89CE-D4ABB3200C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666750"/>
            <a:ext cx="693737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3">
            <a:extLst>
              <a:ext uri="{FF2B5EF4-FFF2-40B4-BE49-F238E27FC236}">
                <a16:creationId xmlns:a16="http://schemas.microsoft.com/office/drawing/2014/main" id="{B3A89472-9B18-2447-34BF-9C23731CBEA9}"/>
              </a:ext>
            </a:extLst>
          </p:cNvPr>
          <p:cNvSpPr>
            <a:spLocks noGrp="1"/>
          </p:cNvSpPr>
          <p:nvPr>
            <p:ph type="title"/>
          </p:nvPr>
        </p:nvSpPr>
        <p:spPr/>
        <p:txBody>
          <a:bodyPr/>
          <a:lstStyle/>
          <a:p>
            <a:r>
              <a:rPr lang="en-US" altLang="en-US"/>
              <a:t>HTTP Request Blocking</a:t>
            </a:r>
          </a:p>
        </p:txBody>
      </p:sp>
      <p:sp>
        <p:nvSpPr>
          <p:cNvPr id="5" name="Content Placeholder 4">
            <a:extLst>
              <a:ext uri="{FF2B5EF4-FFF2-40B4-BE49-F238E27FC236}">
                <a16:creationId xmlns:a16="http://schemas.microsoft.com/office/drawing/2014/main" id="{DB7A9BF5-9D8A-4D5A-E25A-56A74D503D4B}"/>
              </a:ext>
            </a:extLst>
          </p:cNvPr>
          <p:cNvSpPr>
            <a:spLocks noGrp="1"/>
          </p:cNvSpPr>
          <p:nvPr>
            <p:ph idx="1"/>
          </p:nvPr>
        </p:nvSpPr>
        <p:spPr/>
        <p:txBody>
          <a:bodyPr>
            <a:normAutofit fontScale="85000" lnSpcReduction="20000"/>
          </a:bodyPr>
          <a:lstStyle/>
          <a:p>
            <a:pPr marL="0" indent="0">
              <a:buFont typeface="Arial" panose="020B0604020202020204" pitchFamily="34" charset="0"/>
              <a:buNone/>
              <a:defRPr/>
            </a:pPr>
            <a:r>
              <a:rPr lang="en-US" dirty="0"/>
              <a:t>Compile and maintain a big list of known trackers</a:t>
            </a:r>
          </a:p>
          <a:p>
            <a:pPr lvl="1">
              <a:defRPr/>
            </a:pPr>
            <a:r>
              <a:rPr lang="en-US" dirty="0"/>
              <a:t>Semi-automated analysis</a:t>
            </a:r>
          </a:p>
          <a:p>
            <a:pPr lvl="1">
              <a:defRPr/>
            </a:pPr>
            <a:r>
              <a:rPr lang="en-US" dirty="0"/>
              <a:t>Based on domains and regular expressions</a:t>
            </a:r>
          </a:p>
          <a:p>
            <a:pPr marL="0" indent="0">
              <a:buFont typeface="Arial" panose="020B0604020202020204" pitchFamily="34" charset="0"/>
              <a:buNone/>
              <a:defRPr/>
            </a:pPr>
            <a:endParaRPr lang="en-US" dirty="0"/>
          </a:p>
          <a:p>
            <a:pPr marL="0" indent="0">
              <a:buFont typeface="Arial" panose="020B0604020202020204" pitchFamily="34" charset="0"/>
              <a:buNone/>
              <a:defRPr/>
            </a:pPr>
            <a:r>
              <a:rPr lang="en-US" dirty="0"/>
              <a:t>User installs browser extension</a:t>
            </a:r>
          </a:p>
          <a:p>
            <a:pPr lvl="1">
              <a:defRPr/>
            </a:pPr>
            <a:r>
              <a:rPr lang="en-US" dirty="0"/>
              <a:t>Downloads list</a:t>
            </a:r>
          </a:p>
          <a:p>
            <a:pPr lvl="1">
              <a:defRPr/>
            </a:pPr>
            <a:r>
              <a:rPr lang="en-US" dirty="0"/>
              <a:t>Blocks requests to objects on the list</a:t>
            </a:r>
          </a:p>
          <a:p>
            <a:pPr marL="0" indent="0">
              <a:buFont typeface="Arial" panose="020B0604020202020204" pitchFamily="34" charset="0"/>
              <a:buNone/>
              <a:defRPr/>
            </a:pPr>
            <a:endParaRPr lang="en-US" dirty="0"/>
          </a:p>
          <a:p>
            <a:pPr marL="0" indent="0">
              <a:buFont typeface="Arial" panose="020B0604020202020204" pitchFamily="34" charset="0"/>
              <a:buNone/>
              <a:defRPr/>
            </a:pPr>
            <a:r>
              <a:rPr lang="en-US" dirty="0"/>
              <a:t>Drawbacks:</a:t>
            </a:r>
          </a:p>
          <a:p>
            <a:pPr lvl="1">
              <a:defRPr/>
            </a:pPr>
            <a:r>
              <a:rPr lang="en-US" dirty="0"/>
              <a:t>False positives and negatives </a:t>
            </a:r>
          </a:p>
          <a:p>
            <a:pPr lvl="1">
              <a:defRPr/>
            </a:pPr>
            <a:r>
              <a:rPr lang="en-US" dirty="0"/>
              <a:t>Need to trust list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500"/>
                                        <p:tgtEl>
                                          <p:spTgt spid="5">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fade">
                                      <p:cBhvr>
                                        <p:cTn id="10" dur="500"/>
                                        <p:tgtEl>
                                          <p:spTgt spid="5">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fade">
                                      <p:cBhvr>
                                        <p:cTn id="13" dur="500"/>
                                        <p:tgtEl>
                                          <p:spTgt spid="5">
                                            <p:txEl>
                                              <p:pRg st="6" end="6"/>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8" end="8"/>
                                            </p:txEl>
                                          </p:spTgt>
                                        </p:tgtEl>
                                        <p:attrNameLst>
                                          <p:attrName>style.visibility</p:attrName>
                                        </p:attrNameLst>
                                      </p:cBhvr>
                                      <p:to>
                                        <p:strVal val="visible"/>
                                      </p:to>
                                    </p:set>
                                    <p:animEffect transition="in" filter="fade">
                                      <p:cBhvr>
                                        <p:cTn id="18" dur="500"/>
                                        <p:tgtEl>
                                          <p:spTgt spid="5">
                                            <p:txEl>
                                              <p:pRg st="8" end="8"/>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animEffect transition="in" filter="fade">
                                      <p:cBhvr>
                                        <p:cTn id="23" dur="500"/>
                                        <p:tgtEl>
                                          <p:spTgt spid="5">
                                            <p:txEl>
                                              <p:pRg st="9" end="9"/>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10" end="10"/>
                                            </p:txEl>
                                          </p:spTgt>
                                        </p:tgtEl>
                                        <p:attrNameLst>
                                          <p:attrName>style.visibility</p:attrName>
                                        </p:attrNameLst>
                                      </p:cBhvr>
                                      <p:to>
                                        <p:strVal val="visible"/>
                                      </p:to>
                                    </p:set>
                                    <p:animEffect transition="in" filter="fade">
                                      <p:cBhvr>
                                        <p:cTn id="28"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3">
            <a:extLst>
              <a:ext uri="{FF2B5EF4-FFF2-40B4-BE49-F238E27FC236}">
                <a16:creationId xmlns:a16="http://schemas.microsoft.com/office/drawing/2014/main" id="{57B32612-0F1C-B279-B032-64CCADF8924E}"/>
              </a:ext>
            </a:extLst>
          </p:cNvPr>
          <p:cNvSpPr>
            <a:spLocks noGrp="1"/>
          </p:cNvSpPr>
          <p:nvPr>
            <p:ph type="title"/>
          </p:nvPr>
        </p:nvSpPr>
        <p:spPr/>
        <p:txBody>
          <a:bodyPr/>
          <a:lstStyle/>
          <a:p>
            <a:r>
              <a:rPr lang="en-US" altLang="en-US"/>
              <a:t>Example: Social Media Blocking</a:t>
            </a:r>
          </a:p>
        </p:txBody>
      </p:sp>
      <p:pic>
        <p:nvPicPr>
          <p:cNvPr id="80898" name="Picture 4">
            <a:extLst>
              <a:ext uri="{FF2B5EF4-FFF2-40B4-BE49-F238E27FC236}">
                <a16:creationId xmlns:a16="http://schemas.microsoft.com/office/drawing/2014/main" id="{27CA94F2-9796-5524-6A79-2049434385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1714500"/>
            <a:ext cx="45847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a:extLst>
              <a:ext uri="{FF2B5EF4-FFF2-40B4-BE49-F238E27FC236}">
                <a16:creationId xmlns:a16="http://schemas.microsoft.com/office/drawing/2014/main" id="{4B2FA239-B326-7E54-B04B-257CE23DC68A}"/>
              </a:ext>
            </a:extLst>
          </p:cNvPr>
          <p:cNvSpPr>
            <a:spLocks noGrp="1"/>
          </p:cNvSpPr>
          <p:nvPr>
            <p:ph type="title"/>
          </p:nvPr>
        </p:nvSpPr>
        <p:spPr/>
        <p:txBody>
          <a:bodyPr/>
          <a:lstStyle/>
          <a:p>
            <a:r>
              <a:rPr lang="en-US" altLang="en-US"/>
              <a:t>Blocking tools</a:t>
            </a:r>
          </a:p>
        </p:txBody>
      </p:sp>
      <p:pic>
        <p:nvPicPr>
          <p:cNvPr id="3074" name="Picture 2" descr="http://i.i.cbsi.com/cnwk.1d/i/tim2/2013/05/06/05_06_13_Ghostery6_610x547.jpg">
            <a:extLst>
              <a:ext uri="{FF2B5EF4-FFF2-40B4-BE49-F238E27FC236}">
                <a16:creationId xmlns:a16="http://schemas.microsoft.com/office/drawing/2014/main" id="{B86094B3-BDE1-E51D-0D6B-7DDA8DEE25D2}"/>
              </a:ext>
            </a:extLst>
          </p:cNvPr>
          <p:cNvPicPr>
            <a:picLocks noChangeAspect="1" noChangeArrowheads="1"/>
          </p:cNvPicPr>
          <p:nvPr/>
        </p:nvPicPr>
        <p:blipFill rotWithShape="1">
          <a:blip r:embed="rId3" cstate="print"/>
          <a:srcRect/>
          <a:stretch/>
        </p:blipFill>
        <p:spPr bwMode="auto">
          <a:xfrm>
            <a:off x="4033838" y="1327150"/>
            <a:ext cx="2865437" cy="3609975"/>
          </a:xfrm>
          <a:prstGeom prst="rect">
            <a:avLst/>
          </a:prstGeom>
          <a:ln w="38100" cap="sq">
            <a:solidFill>
              <a:schemeClr val="bg1">
                <a:lumMod val="85000"/>
              </a:schemeClr>
            </a:solidFill>
            <a:prstDash val="solid"/>
            <a:miter lim="800000"/>
          </a:ln>
          <a:effectLst>
            <a:outerShdw blurRad="50800" dist="38100" dir="2700000" algn="tl" rotWithShape="0">
              <a:srgbClr val="000000">
                <a:alpha val="43000"/>
              </a:srgbClr>
            </a:outerShdw>
          </a:effectLst>
        </p:spPr>
      </p:pic>
      <p:pic>
        <p:nvPicPr>
          <p:cNvPr id="81923" name="Picture 4" descr="http://www.the-digital-reader.com/wp-content/uploads/2012/11/logo-adblock-plus1.png">
            <a:extLst>
              <a:ext uri="{FF2B5EF4-FFF2-40B4-BE49-F238E27FC236}">
                <a16:creationId xmlns:a16="http://schemas.microsoft.com/office/drawing/2014/main" id="{0D2CD237-80D8-2128-C074-4D62BFAC97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75" y="1257300"/>
            <a:ext cx="111442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4" name="Picture 6" descr="http://blog.securitee.org/wp-content/uploads/2013/06/ghostery_logo.png">
            <a:extLst>
              <a:ext uri="{FF2B5EF4-FFF2-40B4-BE49-F238E27FC236}">
                <a16:creationId xmlns:a16="http://schemas.microsoft.com/office/drawing/2014/main" id="{AE4F1C52-DD22-8A41-CAD6-81C4D5D67A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5238" y="3270250"/>
            <a:ext cx="928687"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Arrow Connector 3">
            <a:extLst>
              <a:ext uri="{FF2B5EF4-FFF2-40B4-BE49-F238E27FC236}">
                <a16:creationId xmlns:a16="http://schemas.microsoft.com/office/drawing/2014/main" id="{EF435754-73AE-90AF-EA71-92C2B030E518}"/>
              </a:ext>
            </a:extLst>
          </p:cNvPr>
          <p:cNvCxnSpPr/>
          <p:nvPr/>
        </p:nvCxnSpPr>
        <p:spPr>
          <a:xfrm flipV="1">
            <a:off x="3403600" y="3132138"/>
            <a:ext cx="568325" cy="84613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81926" name="TextBox 4">
            <a:extLst>
              <a:ext uri="{FF2B5EF4-FFF2-40B4-BE49-F238E27FC236}">
                <a16:creationId xmlns:a16="http://schemas.microsoft.com/office/drawing/2014/main" id="{3F025E27-5A31-533A-8F6D-F43640DFF53F}"/>
              </a:ext>
            </a:extLst>
          </p:cNvPr>
          <p:cNvSpPr txBox="1">
            <a:spLocks noChangeArrowheads="1"/>
          </p:cNvSpPr>
          <p:nvPr/>
        </p:nvSpPr>
        <p:spPr bwMode="auto">
          <a:xfrm>
            <a:off x="2598738" y="2716213"/>
            <a:ext cx="15446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AdBlock Plus</a:t>
            </a:r>
          </a:p>
        </p:txBody>
      </p:sp>
      <p:sp>
        <p:nvSpPr>
          <p:cNvPr id="81927" name="TextBox 8">
            <a:extLst>
              <a:ext uri="{FF2B5EF4-FFF2-40B4-BE49-F238E27FC236}">
                <a16:creationId xmlns:a16="http://schemas.microsoft.com/office/drawing/2014/main" id="{2AE3BBAE-BA37-1FCC-8D6F-B459E3A37D67}"/>
              </a:ext>
            </a:extLst>
          </p:cNvPr>
          <p:cNvSpPr txBox="1">
            <a:spLocks noChangeArrowheads="1"/>
          </p:cNvSpPr>
          <p:nvPr/>
        </p:nvSpPr>
        <p:spPr bwMode="auto">
          <a:xfrm>
            <a:off x="2713038" y="4752975"/>
            <a:ext cx="1120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Ghostery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074"/>
                                        </p:tgtEl>
                                        <p:attrNameLst>
                                          <p:attrName>style.visibility</p:attrName>
                                        </p:attrNameLst>
                                      </p:cBhvr>
                                      <p:to>
                                        <p:strVal val="visible"/>
                                      </p:to>
                                    </p:set>
                                    <p:animEffect transition="in" filter="fade">
                                      <p:cBhvr>
                                        <p:cTn id="10"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3969" name="Picture 2" descr="Do Not Track Win7 Fx 21">
            <a:extLst>
              <a:ext uri="{FF2B5EF4-FFF2-40B4-BE49-F238E27FC236}">
                <a16:creationId xmlns:a16="http://schemas.microsoft.com/office/drawing/2014/main" id="{46EFF0CC-5BA8-38F6-65FE-E6AD63AD47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25" y="1200150"/>
            <a:ext cx="2486025" cy="359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0" name="Title 2">
            <a:extLst>
              <a:ext uri="{FF2B5EF4-FFF2-40B4-BE49-F238E27FC236}">
                <a16:creationId xmlns:a16="http://schemas.microsoft.com/office/drawing/2014/main" id="{53A5EB57-E648-3A55-C802-A75A602DFC0E}"/>
              </a:ext>
            </a:extLst>
          </p:cNvPr>
          <p:cNvSpPr>
            <a:spLocks noGrp="1"/>
          </p:cNvSpPr>
          <p:nvPr>
            <p:ph type="title"/>
          </p:nvPr>
        </p:nvSpPr>
        <p:spPr/>
        <p:txBody>
          <a:bodyPr/>
          <a:lstStyle/>
          <a:p>
            <a:r>
              <a:rPr lang="en-US" altLang="en-US"/>
              <a:t>Do Not Track</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017" name="Title 1">
            <a:extLst>
              <a:ext uri="{FF2B5EF4-FFF2-40B4-BE49-F238E27FC236}">
                <a16:creationId xmlns:a16="http://schemas.microsoft.com/office/drawing/2014/main" id="{C65F07D1-BC19-5975-AE28-629C537E131F}"/>
              </a:ext>
            </a:extLst>
          </p:cNvPr>
          <p:cNvSpPr>
            <a:spLocks noGrp="1"/>
          </p:cNvSpPr>
          <p:nvPr>
            <p:ph type="title"/>
          </p:nvPr>
        </p:nvSpPr>
        <p:spPr/>
        <p:txBody>
          <a:bodyPr/>
          <a:lstStyle/>
          <a:p>
            <a:r>
              <a:rPr lang="en-US" altLang="en-US" sz="2700"/>
              <a:t>How Do Not Track is Supposed to Work</a:t>
            </a:r>
          </a:p>
        </p:txBody>
      </p:sp>
      <p:pic>
        <p:nvPicPr>
          <p:cNvPr id="86018" name="Picture 2" descr="http://cdn.slashgear.com/wp-content/uploads/2011/01/mozilla_firefox_do_not_track-501x500.png">
            <a:extLst>
              <a:ext uri="{FF2B5EF4-FFF2-40B4-BE49-F238E27FC236}">
                <a16:creationId xmlns:a16="http://schemas.microsoft.com/office/drawing/2014/main" id="{2EBF02EC-395A-CE8E-3E44-9F6DFEF6A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4638" y="1622425"/>
            <a:ext cx="3455987"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9502</TotalTime>
  <Words>1337</Words>
  <Application>Microsoft Macintosh PowerPoint</Application>
  <PresentationFormat>On-screen Show (16:9)</PresentationFormat>
  <Paragraphs>207</Paragraphs>
  <Slides>41</Slides>
  <Notes>29</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ＭＳ Ｐゴシック</vt:lpstr>
      <vt:lpstr>Calibri</vt:lpstr>
      <vt:lpstr>Lucida Sans</vt:lpstr>
      <vt:lpstr>Consolas</vt:lpstr>
      <vt:lpstr>Office Theme</vt:lpstr>
      <vt:lpstr>Web Privacy and Tracking</vt:lpstr>
      <vt:lpstr>PowerPoint Presentation</vt:lpstr>
      <vt:lpstr>PowerPoint Presentation</vt:lpstr>
      <vt:lpstr>“Third Party” Online Tracking</vt:lpstr>
      <vt:lpstr>PowerPoint Presentation</vt:lpstr>
      <vt:lpstr>Thunderbeam/Lightbeam Experiment</vt:lpstr>
      <vt:lpstr>What if User Blocks Referer?</vt:lpstr>
      <vt:lpstr>Cooperative Tracking</vt:lpstr>
      <vt:lpstr>Cookies from Embedded Content</vt:lpstr>
      <vt:lpstr>PowerPoint Presentation</vt:lpstr>
      <vt:lpstr>Who are the Third Parties?</vt:lpstr>
      <vt:lpstr>PowerPoint Presentation</vt:lpstr>
      <vt:lpstr>What is Behavioral Targeting?</vt:lpstr>
      <vt:lpstr>PowerPoint Presentation</vt:lpstr>
      <vt:lpstr>Privacy Worries</vt:lpstr>
      <vt:lpstr>Tracking Techniques</vt:lpstr>
      <vt:lpstr>Tagging: Placing Data in the Browser</vt:lpstr>
      <vt:lpstr>Fingerprinting: Observing the Browser’s Behavior</vt:lpstr>
      <vt:lpstr>PowerPoint Presentation</vt:lpstr>
      <vt:lpstr>Hands-On/Walk Through  (Cover Your Tracks)</vt:lpstr>
      <vt:lpstr>PowerPoint Presentation</vt:lpstr>
      <vt:lpstr>Canvas Fingerprinting</vt:lpstr>
      <vt:lpstr>PowerPoint Presentation</vt:lpstr>
      <vt:lpstr>Anonymous Tracking? Not Quite</vt:lpstr>
      <vt:lpstr>PowerPoint Presentation</vt:lpstr>
      <vt:lpstr>PowerPoint Presentation</vt:lpstr>
      <vt:lpstr>Anonymous Tracking? Not Quite</vt:lpstr>
      <vt:lpstr>Merging Across Distinct Databases</vt:lpstr>
      <vt:lpstr>Cookie Syncing</vt:lpstr>
      <vt:lpstr>PowerPoint Presentation</vt:lpstr>
      <vt:lpstr>Defenses</vt:lpstr>
      <vt:lpstr>1. Referer Blocking</vt:lpstr>
      <vt:lpstr>PowerPoint Presentation</vt:lpstr>
      <vt:lpstr>1. Referer Blocking</vt:lpstr>
      <vt:lpstr>Third-party Cookie Blocking</vt:lpstr>
      <vt:lpstr>PowerPoint Presentation</vt:lpstr>
      <vt:lpstr>HTTP Request Blocking</vt:lpstr>
      <vt:lpstr>Example: Social Media Blocking</vt:lpstr>
      <vt:lpstr>Blocking tools</vt:lpstr>
      <vt:lpstr>Do Not Track</vt:lpstr>
      <vt:lpstr>How Do Not Track is Supposed to Work</vt:lpstr>
    </vt:vector>
  </TitlesOfParts>
  <Company>Georgia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Viruses and Related Threats</dc:title>
  <dc:creator>Nick Feamster</dc:creator>
  <cp:lastModifiedBy>Nick Feamster</cp:lastModifiedBy>
  <cp:revision>214</cp:revision>
  <dcterms:created xsi:type="dcterms:W3CDTF">2009-02-23T20:06:22Z</dcterms:created>
  <dcterms:modified xsi:type="dcterms:W3CDTF">2026-06-02T14:05:28Z</dcterms:modified>
</cp:coreProperties>
</file>