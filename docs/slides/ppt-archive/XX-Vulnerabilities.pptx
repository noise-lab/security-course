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compatMode="1" saveSubsetFonts="1" autoCompressPictures="0">
  <p:sldMasterIdLst>
    <p:sldMasterId id="2147483662" r:id="rId1"/>
  </p:sldMasterIdLst>
  <p:notesMasterIdLst>
    <p:notesMasterId r:id="rId27"/>
  </p:notesMasterIdLst>
  <p:sldIdLst>
    <p:sldId id="392" r:id="rId2"/>
    <p:sldId id="393" r:id="rId3"/>
    <p:sldId id="414" r:id="rId4"/>
    <p:sldId id="723" r:id="rId5"/>
    <p:sldId id="394" r:id="rId6"/>
    <p:sldId id="411" r:id="rId7"/>
    <p:sldId id="395" r:id="rId8"/>
    <p:sldId id="396" r:id="rId9"/>
    <p:sldId id="413" r:id="rId10"/>
    <p:sldId id="269" r:id="rId11"/>
    <p:sldId id="412" r:id="rId12"/>
    <p:sldId id="730" r:id="rId13"/>
    <p:sldId id="724" r:id="rId14"/>
    <p:sldId id="733" r:id="rId15"/>
    <p:sldId id="732" r:id="rId16"/>
    <p:sldId id="731" r:id="rId17"/>
    <p:sldId id="259" r:id="rId18"/>
    <p:sldId id="726" r:id="rId19"/>
    <p:sldId id="270" r:id="rId20"/>
    <p:sldId id="728" r:id="rId21"/>
    <p:sldId id="729" r:id="rId22"/>
    <p:sldId id="727" r:id="rId23"/>
    <p:sldId id="271" r:id="rId24"/>
    <p:sldId id="725" r:id="rId25"/>
    <p:sldId id="272" r:id="rId26"/>
  </p:sldIdLst>
  <p:sldSz cx="9144000" cy="5143500" type="screen16x9"/>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p:restoredTop sz="94859"/>
  </p:normalViewPr>
  <p:slideViewPr>
    <p:cSldViewPr>
      <p:cViewPr varScale="1">
        <p:scale>
          <a:sx n="163" d="100"/>
          <a:sy n="163" d="100"/>
        </p:scale>
        <p:origin x="672" y="176"/>
      </p:cViewPr>
      <p:guideLst>
        <p:guide orient="horz" pos="1620"/>
        <p:guide pos="2880"/>
      </p:guideLst>
    </p:cSldViewPr>
  </p:slideViewPr>
  <p:notesTextViewPr>
    <p:cViewPr>
      <p:scale>
        <a:sx n="100" d="100"/>
        <a:sy n="100" d="100"/>
      </p:scale>
      <p:origin x="0" y="0"/>
    </p:cViewPr>
  </p:notesTextViewPr>
  <p:sorterViewPr>
    <p:cViewPr>
      <p:scale>
        <a:sx n="150" d="100"/>
        <a:sy n="150" d="100"/>
      </p:scale>
      <p:origin x="0" y="76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C7DB91F-15AF-47DE-2DD6-E745236910C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4099" name="Rectangle 3">
            <a:extLst>
              <a:ext uri="{FF2B5EF4-FFF2-40B4-BE49-F238E27FC236}">
                <a16:creationId xmlns:a16="http://schemas.microsoft.com/office/drawing/2014/main" id="{F6B1A691-DEEB-F7DC-63FA-0631558AE7E9}"/>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5364" name="Rectangle 4">
            <a:extLst>
              <a:ext uri="{FF2B5EF4-FFF2-40B4-BE49-F238E27FC236}">
                <a16:creationId xmlns:a16="http://schemas.microsoft.com/office/drawing/2014/main" id="{A66DE4AD-5880-B781-C68B-C4C67FF1AC8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0D1391CB-BF3E-5E2E-4FB1-6E31D6EA6BFB}"/>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BF37417A-8F87-C212-6895-7B4BED23742B}"/>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4103" name="Rectangle 7">
            <a:extLst>
              <a:ext uri="{FF2B5EF4-FFF2-40B4-BE49-F238E27FC236}">
                <a16:creationId xmlns:a16="http://schemas.microsoft.com/office/drawing/2014/main" id="{3BB24966-70F8-7129-79C1-BB048F4519E6}"/>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760E76C-24BA-8346-81F1-75B611FDE13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en.wikipedia.org/wiki/Las_Vegas%2C_Nevada" TargetMode="External"/><Relationship Id="rId13" Type="http://schemas.openxmlformats.org/officeDocument/2006/relationships/hyperlink" Target="http://www.cert.org/IHW2001/" TargetMode="External"/><Relationship Id="rId3" Type="http://schemas.openxmlformats.org/officeDocument/2006/relationships/hyperlink" Target="http://en.wikipedia.org/wiki/Cryptanalysis" TargetMode="External"/><Relationship Id="rId7" Type="http://schemas.openxmlformats.org/officeDocument/2006/relationships/hyperlink" Target="http://en.wikipedia.org/wiki/DEF_CON" TargetMode="External"/><Relationship Id="rId12" Type="http://schemas.openxmlformats.org/officeDocument/2006/relationships/hyperlink" Target="http://en.wikipedia.org/wiki/Digital_Millennium_Copyright_Act"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en.wikipedia.org/wiki/2001" TargetMode="External"/><Relationship Id="rId11" Type="http://schemas.openxmlformats.org/officeDocument/2006/relationships/hyperlink" Target="http://en.wikipedia.org/wiki/Copyright" TargetMode="External"/><Relationship Id="rId5" Type="http://schemas.openxmlformats.org/officeDocument/2006/relationships/hyperlink" Target="http://en.wikipedia.org/wiki/July_16" TargetMode="External"/><Relationship Id="rId10" Type="http://schemas.openxmlformats.org/officeDocument/2006/relationships/hyperlink" Target="http://en.wikipedia.org/wiki/Moscow" TargetMode="External"/><Relationship Id="rId4" Type="http://schemas.openxmlformats.org/officeDocument/2006/relationships/hyperlink" Target="http://en.wikipedia.org/wiki/ElcomSoft" TargetMode="External"/><Relationship Id="rId9" Type="http://schemas.openxmlformats.org/officeDocument/2006/relationships/hyperlink" Target="http://en.wikipedia.org/wiki/FBI"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22A3546C-53B6-E314-086C-56B712D7412E}"/>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A3BF47C2-8801-D799-0CFF-F98A7B0913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Many of these devices interface with their smartphone app companion through a (simple, insecure, unauthenticated) web server.</a:t>
            </a:r>
          </a:p>
          <a:p>
            <a:r>
              <a:rPr lang="en-US" altLang="en-US">
                <a:latin typeface="Arial" panose="020B0604020202020204" pitchFamily="34" charset="0"/>
                <a:ea typeface="ＭＳ Ｐゴシック" panose="020B0600070205080204" pitchFamily="34" charset="-128"/>
              </a:rPr>
              <a:t>This means that…</a:t>
            </a:r>
          </a:p>
          <a:p>
            <a:r>
              <a:rPr lang="en-US" altLang="en-US">
                <a:latin typeface="Arial" panose="020B0604020202020204" pitchFamily="34" charset="0"/>
                <a:ea typeface="ＭＳ Ｐゴシック" panose="020B0600070205080204" pitchFamily="34" charset="-128"/>
              </a:rPr>
              <a:t>Classical web-based attacks also work on many of these devices!</a:t>
            </a:r>
          </a:p>
        </p:txBody>
      </p:sp>
      <p:sp>
        <p:nvSpPr>
          <p:cNvPr id="20483" name="Slide Number Placeholder 3">
            <a:extLst>
              <a:ext uri="{FF2B5EF4-FFF2-40B4-BE49-F238E27FC236}">
                <a16:creationId xmlns:a16="http://schemas.microsoft.com/office/drawing/2014/main" id="{88FEEA57-15EF-1F2C-7189-D46D057E27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222ADF1-41CA-B349-8B08-0C308C2CE3C7}" type="slidenum">
              <a:rPr lang="en-US" altLang="en-US" smtClean="0"/>
              <a:pPr/>
              <a:t>4</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3">
            <a:extLst>
              <a:ext uri="{FF2B5EF4-FFF2-40B4-BE49-F238E27FC236}">
                <a16:creationId xmlns:a16="http://schemas.microsoft.com/office/drawing/2014/main" id="{422DC1D2-7D5A-9588-5601-F1E43703C6A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9AD44924-9851-5B4F-9AE4-F2FC4CECB7C4}" type="datetime1">
              <a:rPr lang="en-US" altLang="en-US" smtClean="0"/>
              <a:pPr/>
              <a:t>6/2/26</a:t>
            </a:fld>
            <a:endParaRPr lang="en-US" altLang="en-US"/>
          </a:p>
        </p:txBody>
      </p:sp>
      <p:sp>
        <p:nvSpPr>
          <p:cNvPr id="23554" name="Rectangle 7">
            <a:extLst>
              <a:ext uri="{FF2B5EF4-FFF2-40B4-BE49-F238E27FC236}">
                <a16:creationId xmlns:a16="http://schemas.microsoft.com/office/drawing/2014/main" id="{6C3513B6-650E-55AB-F63A-D93783941D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71A21F1-563B-8741-A031-A4DAFFBA7943}" type="slidenum">
              <a:rPr lang="en-US" altLang="en-US" smtClean="0"/>
              <a:pPr/>
              <a:t>6</a:t>
            </a:fld>
            <a:endParaRPr lang="en-US" altLang="en-US"/>
          </a:p>
        </p:txBody>
      </p:sp>
      <p:sp>
        <p:nvSpPr>
          <p:cNvPr id="23555" name="Rectangle 2">
            <a:extLst>
              <a:ext uri="{FF2B5EF4-FFF2-40B4-BE49-F238E27FC236}">
                <a16:creationId xmlns:a16="http://schemas.microsoft.com/office/drawing/2014/main" id="{BE625F18-E8B3-F30B-7580-F85A4D8A3400}"/>
              </a:ext>
            </a:extLst>
          </p:cNvPr>
          <p:cNvSpPr>
            <a:spLocks noRot="1" noChangeArrowheads="1" noTextEdit="1"/>
          </p:cNvSpPr>
          <p:nvPr>
            <p:ph type="sldImg"/>
          </p:nvPr>
        </p:nvSpPr>
        <p:spPr>
          <a:ln/>
        </p:spPr>
      </p:sp>
      <p:sp>
        <p:nvSpPr>
          <p:cNvPr id="23556" name="Rectangle 3">
            <a:extLst>
              <a:ext uri="{FF2B5EF4-FFF2-40B4-BE49-F238E27FC236}">
                <a16:creationId xmlns:a16="http://schemas.microsoft.com/office/drawing/2014/main" id="{55C85CFA-8915-DA00-892A-608A5BBEBA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Sklyarov was a PhD student researching </a:t>
            </a:r>
            <a:r>
              <a:rPr lang="en-US" altLang="en-US">
                <a:latin typeface="Arial" panose="020B0604020202020204" pitchFamily="34" charset="0"/>
                <a:ea typeface="ＭＳ Ｐゴシック" panose="020B0600070205080204" pitchFamily="34" charset="-128"/>
                <a:hlinkClick r:id="rId3" tooltip="Cryptanalysis"/>
              </a:rPr>
              <a:t>cryptanalysis</a:t>
            </a:r>
            <a:r>
              <a:rPr lang="en-US" altLang="en-US">
                <a:latin typeface="Arial" panose="020B0604020202020204" pitchFamily="34" charset="0"/>
                <a:ea typeface="ＭＳ Ｐゴシック" panose="020B0600070205080204" pitchFamily="34" charset="-128"/>
              </a:rPr>
              <a:t> and an employee of the Russian software company </a:t>
            </a:r>
            <a:r>
              <a:rPr lang="en-US" altLang="en-US">
                <a:latin typeface="Arial" panose="020B0604020202020204" pitchFamily="34" charset="0"/>
                <a:ea typeface="ＭＳ Ｐゴシック" panose="020B0600070205080204" pitchFamily="34" charset="-128"/>
                <a:hlinkClick r:id="rId4" tooltip="ElcomSoft"/>
              </a:rPr>
              <a:t>ElcomSoft</a:t>
            </a:r>
            <a:r>
              <a:rPr lang="en-US" altLang="en-US">
                <a:latin typeface="Arial" panose="020B0604020202020204" pitchFamily="34" charset="0"/>
                <a:ea typeface="ＭＳ Ｐゴシック" panose="020B0600070205080204" pitchFamily="34" charset="-128"/>
              </a:rPr>
              <a:t>, where he created "The Advanced eBook Processor" (AEBR) software.</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On </a:t>
            </a:r>
            <a:r>
              <a:rPr lang="en-US" altLang="en-US">
                <a:latin typeface="Arial" panose="020B0604020202020204" pitchFamily="34" charset="0"/>
                <a:ea typeface="ＭＳ Ｐゴシック" panose="020B0600070205080204" pitchFamily="34" charset="-128"/>
                <a:hlinkClick r:id="rId5" tooltip="July 16"/>
              </a:rPr>
              <a:t>July 16</a:t>
            </a:r>
            <a:r>
              <a:rPr lang="en-US" altLang="en-US">
                <a:latin typeface="Arial" panose="020B0604020202020204" pitchFamily="34" charset="0"/>
                <a:ea typeface="ＭＳ Ｐゴシック" panose="020B0600070205080204" pitchFamily="34" charset="-128"/>
              </a:rPr>
              <a:t>, </a:t>
            </a:r>
            <a:r>
              <a:rPr lang="en-US" altLang="en-US">
                <a:latin typeface="Arial" panose="020B0604020202020204" pitchFamily="34" charset="0"/>
                <a:ea typeface="ＭＳ Ｐゴシック" panose="020B0600070205080204" pitchFamily="34" charset="-128"/>
                <a:hlinkClick r:id="rId6" tooltip="2001"/>
              </a:rPr>
              <a:t>2001</a:t>
            </a:r>
            <a:r>
              <a:rPr lang="en-US" altLang="en-US">
                <a:latin typeface="Arial" panose="020B0604020202020204" pitchFamily="34" charset="0"/>
                <a:ea typeface="ＭＳ Ｐゴシック" panose="020B0600070205080204" pitchFamily="34" charset="-128"/>
              </a:rPr>
              <a:t>, after giving a presentation called "eBook's Security — Theory and Practice" at the </a:t>
            </a:r>
            <a:r>
              <a:rPr lang="en-US" altLang="en-US">
                <a:latin typeface="Arial" panose="020B0604020202020204" pitchFamily="34" charset="0"/>
                <a:ea typeface="ＭＳ Ｐゴシック" panose="020B0600070205080204" pitchFamily="34" charset="-128"/>
                <a:hlinkClick r:id="rId7" tooltip="DEF CON"/>
              </a:rPr>
              <a:t>DEF CON</a:t>
            </a:r>
            <a:r>
              <a:rPr lang="en-US" altLang="en-US">
                <a:latin typeface="Arial" panose="020B0604020202020204" pitchFamily="34" charset="0"/>
                <a:ea typeface="ＭＳ Ｐゴシック" panose="020B0600070205080204" pitchFamily="34" charset="-128"/>
              </a:rPr>
              <a:t> convention in </a:t>
            </a:r>
            <a:r>
              <a:rPr lang="en-US" altLang="en-US">
                <a:latin typeface="Arial" panose="020B0604020202020204" pitchFamily="34" charset="0"/>
                <a:ea typeface="ＭＳ Ｐゴシック" panose="020B0600070205080204" pitchFamily="34" charset="-128"/>
                <a:hlinkClick r:id="rId8" tooltip="Las Vegas, Nevada"/>
              </a:rPr>
              <a:t>Las Vegas</a:t>
            </a:r>
            <a:r>
              <a:rPr lang="en-US" altLang="en-US">
                <a:latin typeface="Arial" panose="020B0604020202020204" pitchFamily="34" charset="0"/>
                <a:ea typeface="ＭＳ Ｐゴシック" panose="020B0600070205080204" pitchFamily="34" charset="-128"/>
              </a:rPr>
              <a:t>, he was arrested by the </a:t>
            </a:r>
            <a:r>
              <a:rPr lang="en-US" altLang="en-US">
                <a:latin typeface="Arial" panose="020B0604020202020204" pitchFamily="34" charset="0"/>
                <a:ea typeface="ＭＳ Ｐゴシック" panose="020B0600070205080204" pitchFamily="34" charset="-128"/>
                <a:hlinkClick r:id="rId9" tooltip="FBI"/>
              </a:rPr>
              <a:t>FBI</a:t>
            </a:r>
            <a:r>
              <a:rPr lang="en-US" altLang="en-US">
                <a:latin typeface="Arial" panose="020B0604020202020204" pitchFamily="34" charset="0"/>
                <a:ea typeface="ＭＳ Ｐゴシック" panose="020B0600070205080204" pitchFamily="34" charset="-128"/>
              </a:rPr>
              <a:t> as he was about to return to </a:t>
            </a:r>
            <a:r>
              <a:rPr lang="en-US" altLang="en-US">
                <a:latin typeface="Arial" panose="020B0604020202020204" pitchFamily="34" charset="0"/>
                <a:ea typeface="ＭＳ Ｐゴシック" panose="020B0600070205080204" pitchFamily="34" charset="-128"/>
                <a:hlinkClick r:id="rId10" tooltip="Moscow"/>
              </a:rPr>
              <a:t>Moscow</a:t>
            </a:r>
            <a:r>
              <a:rPr lang="en-US" altLang="en-US">
                <a:latin typeface="Arial" panose="020B0604020202020204" pitchFamily="34" charset="0"/>
                <a:ea typeface="ＭＳ Ｐゴシック" panose="020B0600070205080204" pitchFamily="34" charset="-128"/>
              </a:rPr>
              <a:t> and charged with distributing a product designed to circumvent </a:t>
            </a:r>
            <a:r>
              <a:rPr lang="en-US" altLang="en-US">
                <a:latin typeface="Arial" panose="020B0604020202020204" pitchFamily="34" charset="0"/>
                <a:ea typeface="ＭＳ Ｐゴシック" panose="020B0600070205080204" pitchFamily="34" charset="-128"/>
                <a:hlinkClick r:id="rId11" tooltip="Copyright"/>
              </a:rPr>
              <a:t>copyright</a:t>
            </a:r>
            <a:r>
              <a:rPr lang="en-US" altLang="en-US">
                <a:latin typeface="Arial" panose="020B0604020202020204" pitchFamily="34" charset="0"/>
                <a:ea typeface="ＭＳ Ｐゴシック" panose="020B0600070205080204" pitchFamily="34" charset="-128"/>
              </a:rPr>
              <a:t> protection measures, under the terms of the </a:t>
            </a:r>
            <a:r>
              <a:rPr lang="en-US" altLang="en-US">
                <a:latin typeface="Arial" panose="020B0604020202020204" pitchFamily="34" charset="0"/>
                <a:ea typeface="ＭＳ Ｐゴシック" panose="020B0600070205080204" pitchFamily="34" charset="-128"/>
                <a:hlinkClick r:id="rId12" tooltip="Digital Millennium Copyright Act"/>
              </a:rPr>
              <a:t>Digital Millennium Copyright Act</a:t>
            </a:r>
            <a:r>
              <a:rPr lang="en-US" altLang="en-US">
                <a:latin typeface="Arial" panose="020B0604020202020204" pitchFamily="34" charset="0"/>
                <a:ea typeface="ＭＳ Ｐゴシック" panose="020B0600070205080204" pitchFamily="34" charset="-128"/>
              </a:rPr>
              <a:t>.</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ElcomSoft's Advanced eBook Processor (AEBPR) allegedly removes the technological protection from eBooks that are in Adobe's eBook format and converts them into Adobe's Portable Document Format, so that people can use eBooks in more expanded ways than currently available under the Adobe eBook format. It also allows the eBooks to be read or processed by third-party software, not just Adobe's eBook Reader software. In effect, the AEBPR program removes the various restrictions (against copying, printing, text-to-speech processing, etc.) that publishers can enable or disable under Adobe's digital rights management system. The program is designed to work only with eBooks that have been lawfully purchased from sales outlets. </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http://www.eff.org/IP/DMCA/US_v_Elcomsoft/us_v_sklyarov_faq.html#AEBPR</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Professor Felten is one of the plaintiffs in EFF's challenge of the DMCA. The noted scientist is the leader of a research team that participated in the Secure Digital Music Initiative's (SDMI) "Public Challenge" (also know as "Hack SDMI") and successfully defeated the technology. His team authored, "Reading Between the Lines: Lessons from the SDMI Challenge," explaining their research findings that was accepted for publication at the 4th International Information Hiding Workshop Conference in April 2001 (</a:t>
            </a:r>
            <a:r>
              <a:rPr lang="en-US" altLang="en-US">
                <a:latin typeface="Arial" panose="020B0604020202020204" pitchFamily="34" charset="0"/>
                <a:ea typeface="ＭＳ Ｐゴシック" panose="020B0600070205080204" pitchFamily="34" charset="-128"/>
                <a:hlinkClick r:id="rId13"/>
              </a:rPr>
              <a:t>http://www.cert.org/IHW2001/</a:t>
            </a:r>
            <a:r>
              <a:rPr lang="en-US" altLang="en-US">
                <a:latin typeface="Arial" panose="020B0604020202020204" pitchFamily="34" charset="0"/>
                <a:ea typeface="ＭＳ Ｐゴシック" panose="020B0600070205080204" pitchFamily="34" charset="-128"/>
              </a:rPr>
              <a:t>). Just prior to the conference, the Princeton Professor received a letter from Matt Oppenheim from the Recording Industry Association of America (RIAA) and the Secure Digital Music Initiative (SDMI) that threatened a lawsuit against Professor Felten's team and their universities and the workshop organizers if the paper was published. </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 recording studios claim that the research paper written by the Princeton Professor and his colleagues is a "circumvention device" in violation of the DMCA since the paper describes how the technology works. </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http://www.eff.org/IP/DMCA/Felten_v_RIAA/faq_felten.html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3">
            <a:extLst>
              <a:ext uri="{FF2B5EF4-FFF2-40B4-BE49-F238E27FC236}">
                <a16:creationId xmlns:a16="http://schemas.microsoft.com/office/drawing/2014/main" id="{61DFBEFC-D566-9B9F-E1E0-C4453026BD8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BC29168-DAC0-F346-A30C-17F8D02A007A}" type="datetime1">
              <a:rPr lang="en-US" altLang="en-US" smtClean="0"/>
              <a:pPr/>
              <a:t>6/2/26</a:t>
            </a:fld>
            <a:endParaRPr lang="en-US" altLang="en-US"/>
          </a:p>
        </p:txBody>
      </p:sp>
      <p:sp>
        <p:nvSpPr>
          <p:cNvPr id="29698" name="Rectangle 7">
            <a:extLst>
              <a:ext uri="{FF2B5EF4-FFF2-40B4-BE49-F238E27FC236}">
                <a16:creationId xmlns:a16="http://schemas.microsoft.com/office/drawing/2014/main" id="{F71801F5-4F47-8575-D7D1-A5C7A32088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4571715-00DF-1347-A35C-2F3C8A571262}" type="slidenum">
              <a:rPr lang="en-US" altLang="en-US" smtClean="0"/>
              <a:pPr/>
              <a:t>11</a:t>
            </a:fld>
            <a:endParaRPr lang="en-US" altLang="en-US"/>
          </a:p>
        </p:txBody>
      </p:sp>
      <p:sp>
        <p:nvSpPr>
          <p:cNvPr id="29699" name="Rectangle 2">
            <a:extLst>
              <a:ext uri="{FF2B5EF4-FFF2-40B4-BE49-F238E27FC236}">
                <a16:creationId xmlns:a16="http://schemas.microsoft.com/office/drawing/2014/main" id="{6E09DF2A-F463-2A68-2387-1B518AB1B165}"/>
              </a:ext>
            </a:extLst>
          </p:cNvPr>
          <p:cNvSpPr>
            <a:spLocks noRot="1" noChangeArrowheads="1" noTextEdit="1"/>
          </p:cNvSpPr>
          <p:nvPr>
            <p:ph type="sldImg"/>
          </p:nvPr>
        </p:nvSpPr>
        <p:spPr>
          <a:ln/>
        </p:spPr>
      </p:sp>
      <p:sp>
        <p:nvSpPr>
          <p:cNvPr id="29700" name="Rectangle 3">
            <a:extLst>
              <a:ext uri="{FF2B5EF4-FFF2-40B4-BE49-F238E27FC236}">
                <a16:creationId xmlns:a16="http://schemas.microsoft.com/office/drawing/2014/main" id="{464BC36E-CC93-2C0C-0AE5-BE7B59182C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39BBAD8B-580F-09C7-464B-A4412A7EE78C}"/>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A017A152-A939-4399-53A7-3F4C7BAB70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https://globalfreedomofexpression.columbia.edu/cases/sandvig-v-barr/</a:t>
            </a:r>
          </a:p>
        </p:txBody>
      </p:sp>
      <p:sp>
        <p:nvSpPr>
          <p:cNvPr id="32771" name="Slide Number Placeholder 3">
            <a:extLst>
              <a:ext uri="{FF2B5EF4-FFF2-40B4-BE49-F238E27FC236}">
                <a16:creationId xmlns:a16="http://schemas.microsoft.com/office/drawing/2014/main" id="{6FE4FF4B-98F3-A57C-2C7E-3735BC24B4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B304341-FE39-1F46-BC21-A27E709283FF}" type="slidenum">
              <a:rPr lang="en-US" altLang="en-US" smtClean="0"/>
              <a:pPr/>
              <a:t>13</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486071C9-A8A9-33AB-07CA-FD2C1DEFAE31}"/>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38AB5A82-99D1-2F17-A416-C113E1767D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https://arstechnica.com/tech-policy/2020/03/court-violating-a-sites-terms-of-service-isnt-criminal-hacking/</a:t>
            </a:r>
          </a:p>
        </p:txBody>
      </p:sp>
      <p:sp>
        <p:nvSpPr>
          <p:cNvPr id="34819" name="Slide Number Placeholder 3">
            <a:extLst>
              <a:ext uri="{FF2B5EF4-FFF2-40B4-BE49-F238E27FC236}">
                <a16:creationId xmlns:a16="http://schemas.microsoft.com/office/drawing/2014/main" id="{69BD6D12-824C-1BB0-958E-881DB416EE9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8DFFD24-78F2-584E-9C36-BD8DD710AE09}" type="slidenum">
              <a:rPr lang="en-US" altLang="en-US" smtClean="0"/>
              <a:pPr/>
              <a:t>14</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29616DC9-3626-EEF0-5C97-46B31E88452A}"/>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B309E965-5CBB-0059-FC66-7B00BEDDFB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What about hardware vulnerabilities?</a:t>
            </a:r>
          </a:p>
        </p:txBody>
      </p:sp>
      <p:sp>
        <p:nvSpPr>
          <p:cNvPr id="38915" name="Slide Number Placeholder 3">
            <a:extLst>
              <a:ext uri="{FF2B5EF4-FFF2-40B4-BE49-F238E27FC236}">
                <a16:creationId xmlns:a16="http://schemas.microsoft.com/office/drawing/2014/main" id="{193D4F76-43EC-D440-3968-354825081C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3248082-68E2-4D49-AC81-69DE70ED457C}" type="slidenum">
              <a:rPr lang="en-US" altLang="en-US" smtClean="0"/>
              <a:pPr/>
              <a:t>17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883470CA-2E49-81DF-5C72-15FB76527675}"/>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8F3279CA-8DFA-2EAE-DB18-C4EA013570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https://about.google/appsecurity/</a:t>
            </a:r>
          </a:p>
        </p:txBody>
      </p:sp>
      <p:sp>
        <p:nvSpPr>
          <p:cNvPr id="43011" name="Slide Number Placeholder 3">
            <a:extLst>
              <a:ext uri="{FF2B5EF4-FFF2-40B4-BE49-F238E27FC236}">
                <a16:creationId xmlns:a16="http://schemas.microsoft.com/office/drawing/2014/main" id="{32392B67-CE72-E4ED-1B19-323057BCFA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88A58FF-4F1A-C14A-B6A9-FE8136E2F9EE}" type="slidenum">
              <a:rPr lang="en-US" altLang="en-US" smtClean="0"/>
              <a:pPr/>
              <a:t>20</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607E1730-A93C-5D91-D872-CEDC542C604A}"/>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1ADBDFD2-0F6B-6D0E-27AA-487B0E3D45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https://bughunters.google.com/about/rules/6625378258649088</a:t>
            </a:r>
          </a:p>
        </p:txBody>
      </p:sp>
      <p:sp>
        <p:nvSpPr>
          <p:cNvPr id="45059" name="Slide Number Placeholder 3">
            <a:extLst>
              <a:ext uri="{FF2B5EF4-FFF2-40B4-BE49-F238E27FC236}">
                <a16:creationId xmlns:a16="http://schemas.microsoft.com/office/drawing/2014/main" id="{567A1400-049E-423F-134C-5B35642310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3808CB5-566C-6F49-B9B7-6FD025415F3A}" type="slidenum">
              <a:rPr lang="en-US" altLang="en-US" smtClean="0"/>
              <a:pPr/>
              <a:t>21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01DB83C-6E38-CD5B-A025-270EE93375F0}"/>
              </a:ext>
            </a:extLst>
          </p:cNvPr>
          <p:cNvSpPr>
            <a:spLocks noGrp="1"/>
          </p:cNvSpPr>
          <p:nvPr>
            <p:ph type="dt" sz="half" idx="10"/>
          </p:nvPr>
        </p:nvSpPr>
        <p:spPr/>
        <p:txBody>
          <a:bodyPr/>
          <a:lstStyle>
            <a:lvl1pPr>
              <a:defRPr/>
            </a:lvl1pPr>
          </a:lstStyle>
          <a:p>
            <a:pPr>
              <a:defRPr/>
            </a:pPr>
            <a:fld id="{FC422CB1-22C5-B94C-87F9-557E76D6D1F3}"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7BD072B1-8A7F-568A-8247-583F515BD1A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F2007EB-0E79-531F-3ED7-E1DEAD7DE75B}"/>
              </a:ext>
            </a:extLst>
          </p:cNvPr>
          <p:cNvSpPr>
            <a:spLocks noGrp="1"/>
          </p:cNvSpPr>
          <p:nvPr>
            <p:ph type="sldNum" sz="quarter" idx="12"/>
          </p:nvPr>
        </p:nvSpPr>
        <p:spPr/>
        <p:txBody>
          <a:bodyPr/>
          <a:lstStyle>
            <a:lvl1pPr>
              <a:defRPr/>
            </a:lvl1pPr>
          </a:lstStyle>
          <a:p>
            <a:pPr>
              <a:defRPr/>
            </a:pPr>
            <a:fld id="{B49BF18F-8CF4-4547-AB25-F615112D527C}" type="slidenum">
              <a:rPr lang="en-US" altLang="en-US"/>
              <a:pPr>
                <a:defRPr/>
              </a:pPr>
              <a:t>‹#›</a:t>
            </a:fld>
            <a:endParaRPr lang="en-US" altLang="en-US"/>
          </a:p>
        </p:txBody>
      </p:sp>
    </p:spTree>
    <p:extLst>
      <p:ext uri="{BB962C8B-B14F-4D97-AF65-F5344CB8AC3E}">
        <p14:creationId xmlns:p14="http://schemas.microsoft.com/office/powerpoint/2010/main" val="135480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3343C-F986-7BE4-939E-C0727FFD7821}"/>
              </a:ext>
            </a:extLst>
          </p:cNvPr>
          <p:cNvSpPr>
            <a:spLocks noGrp="1"/>
          </p:cNvSpPr>
          <p:nvPr>
            <p:ph type="dt" sz="half" idx="10"/>
          </p:nvPr>
        </p:nvSpPr>
        <p:spPr/>
        <p:txBody>
          <a:bodyPr/>
          <a:lstStyle>
            <a:lvl1pPr>
              <a:defRPr/>
            </a:lvl1pPr>
          </a:lstStyle>
          <a:p>
            <a:pPr>
              <a:defRPr/>
            </a:pPr>
            <a:fld id="{9E8A82A8-5DE3-B649-862B-F5252AF19899}"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4CE28C9F-A7BF-7C5A-49DA-25E37B04C8C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EEA8700-A7F8-A38F-92D0-D5C1AA8026C3}"/>
              </a:ext>
            </a:extLst>
          </p:cNvPr>
          <p:cNvSpPr>
            <a:spLocks noGrp="1"/>
          </p:cNvSpPr>
          <p:nvPr>
            <p:ph type="sldNum" sz="quarter" idx="12"/>
          </p:nvPr>
        </p:nvSpPr>
        <p:spPr/>
        <p:txBody>
          <a:bodyPr/>
          <a:lstStyle>
            <a:lvl1pPr>
              <a:defRPr/>
            </a:lvl1pPr>
          </a:lstStyle>
          <a:p>
            <a:pPr>
              <a:defRPr/>
            </a:pPr>
            <a:fld id="{F6D7CCDD-0DEB-DA43-B30C-C344ABD1EA67}" type="slidenum">
              <a:rPr lang="en-US" altLang="en-US"/>
              <a:pPr>
                <a:defRPr/>
              </a:pPr>
              <a:t>‹#›</a:t>
            </a:fld>
            <a:endParaRPr lang="en-US" altLang="en-US"/>
          </a:p>
        </p:txBody>
      </p:sp>
    </p:spTree>
    <p:extLst>
      <p:ext uri="{BB962C8B-B14F-4D97-AF65-F5344CB8AC3E}">
        <p14:creationId xmlns:p14="http://schemas.microsoft.com/office/powerpoint/2010/main" val="1008919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852AB-86D7-4B43-F694-87BABF8D8C8C}"/>
              </a:ext>
            </a:extLst>
          </p:cNvPr>
          <p:cNvSpPr>
            <a:spLocks noGrp="1"/>
          </p:cNvSpPr>
          <p:nvPr>
            <p:ph type="dt" sz="half" idx="10"/>
          </p:nvPr>
        </p:nvSpPr>
        <p:spPr/>
        <p:txBody>
          <a:bodyPr/>
          <a:lstStyle>
            <a:lvl1pPr>
              <a:defRPr/>
            </a:lvl1pPr>
          </a:lstStyle>
          <a:p>
            <a:pPr>
              <a:defRPr/>
            </a:pPr>
            <a:fld id="{2728571D-EA53-0E46-9725-3A96845BFB5E}"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239A00CD-1E69-D741-59A5-BFD5A73F44B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0D710B8-94F1-B016-1491-0459B865240F}"/>
              </a:ext>
            </a:extLst>
          </p:cNvPr>
          <p:cNvSpPr>
            <a:spLocks noGrp="1"/>
          </p:cNvSpPr>
          <p:nvPr>
            <p:ph type="sldNum" sz="quarter" idx="12"/>
          </p:nvPr>
        </p:nvSpPr>
        <p:spPr/>
        <p:txBody>
          <a:bodyPr/>
          <a:lstStyle>
            <a:lvl1pPr>
              <a:defRPr/>
            </a:lvl1pPr>
          </a:lstStyle>
          <a:p>
            <a:pPr>
              <a:defRPr/>
            </a:pPr>
            <a:fld id="{93C20858-EAA9-4146-A29E-A4BDF011D5B1}" type="slidenum">
              <a:rPr lang="en-US" altLang="en-US"/>
              <a:pPr>
                <a:defRPr/>
              </a:pPr>
              <a:t>‹#›</a:t>
            </a:fld>
            <a:endParaRPr lang="en-US" altLang="en-US"/>
          </a:p>
        </p:txBody>
      </p:sp>
    </p:spTree>
    <p:extLst>
      <p:ext uri="{BB962C8B-B14F-4D97-AF65-F5344CB8AC3E}">
        <p14:creationId xmlns:p14="http://schemas.microsoft.com/office/powerpoint/2010/main" val="463381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F53FD37-9328-E7C6-ED52-EF2B476914CB}"/>
              </a:ext>
            </a:extLst>
          </p:cNvPr>
          <p:cNvSpPr>
            <a:spLocks noGrp="1"/>
          </p:cNvSpPr>
          <p:nvPr>
            <p:ph type="dt" sz="half" idx="10"/>
          </p:nvPr>
        </p:nvSpPr>
        <p:spPr/>
        <p:txBody>
          <a:bodyPr/>
          <a:lstStyle>
            <a:lvl1pPr>
              <a:defRPr/>
            </a:lvl1pPr>
          </a:lstStyle>
          <a:p>
            <a:pPr>
              <a:defRPr/>
            </a:pPr>
            <a:fld id="{FDE8EFEF-D2BF-AD44-8787-4D3EE081D2CF}"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A4952DBD-BF44-F27B-EA3F-04B059DA8CB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775CCEC-0514-44BC-0647-26B1E4796C24}"/>
              </a:ext>
            </a:extLst>
          </p:cNvPr>
          <p:cNvSpPr>
            <a:spLocks noGrp="1"/>
          </p:cNvSpPr>
          <p:nvPr>
            <p:ph type="sldNum" sz="quarter" idx="12"/>
          </p:nvPr>
        </p:nvSpPr>
        <p:spPr/>
        <p:txBody>
          <a:bodyPr/>
          <a:lstStyle>
            <a:lvl1pPr>
              <a:defRPr/>
            </a:lvl1pPr>
          </a:lstStyle>
          <a:p>
            <a:pPr>
              <a:defRPr/>
            </a:pPr>
            <a:fld id="{78756AFA-CC8E-9F49-A193-4892472BCAA5}" type="slidenum">
              <a:rPr lang="en-US" altLang="en-US"/>
              <a:pPr>
                <a:defRPr/>
              </a:pPr>
              <a:t>‹#›</a:t>
            </a:fld>
            <a:endParaRPr lang="en-US" altLang="en-US"/>
          </a:p>
        </p:txBody>
      </p:sp>
    </p:spTree>
    <p:extLst>
      <p:ext uri="{BB962C8B-B14F-4D97-AF65-F5344CB8AC3E}">
        <p14:creationId xmlns:p14="http://schemas.microsoft.com/office/powerpoint/2010/main" val="3472546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33A811B2-4C7B-2169-4319-FE496444129A}"/>
              </a:ext>
            </a:extLst>
          </p:cNvPr>
          <p:cNvSpPr>
            <a:spLocks noGrp="1"/>
          </p:cNvSpPr>
          <p:nvPr>
            <p:ph type="dt" sz="half" idx="10"/>
          </p:nvPr>
        </p:nvSpPr>
        <p:spPr/>
        <p:txBody>
          <a:bodyPr/>
          <a:lstStyle>
            <a:lvl1pPr>
              <a:defRPr/>
            </a:lvl1pPr>
          </a:lstStyle>
          <a:p>
            <a:pPr>
              <a:defRPr/>
            </a:pPr>
            <a:fld id="{21F67B82-06A8-B948-A300-70AD90DA1E96}" type="datetimeFigureOut">
              <a:rPr lang="en-US" altLang="en-US"/>
              <a:pPr>
                <a:defRPr/>
              </a:pPr>
              <a:t>6/2/26</a:t>
            </a:fld>
            <a:endParaRPr lang="en-US" altLang="en-US"/>
          </a:p>
        </p:txBody>
      </p:sp>
      <p:sp>
        <p:nvSpPr>
          <p:cNvPr id="8" name="Footer Placeholder 4">
            <a:extLst>
              <a:ext uri="{FF2B5EF4-FFF2-40B4-BE49-F238E27FC236}">
                <a16:creationId xmlns:a16="http://schemas.microsoft.com/office/drawing/2014/main" id="{9459DC11-8809-0444-F2D7-9F64A11BE73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BB30EED-AC4B-C11A-C8AF-2017FDE0DF83}"/>
              </a:ext>
            </a:extLst>
          </p:cNvPr>
          <p:cNvSpPr>
            <a:spLocks noGrp="1"/>
          </p:cNvSpPr>
          <p:nvPr>
            <p:ph type="sldNum" sz="quarter" idx="12"/>
          </p:nvPr>
        </p:nvSpPr>
        <p:spPr/>
        <p:txBody>
          <a:bodyPr/>
          <a:lstStyle>
            <a:lvl1pPr>
              <a:defRPr/>
            </a:lvl1pPr>
          </a:lstStyle>
          <a:p>
            <a:pPr>
              <a:defRPr/>
            </a:pPr>
            <a:fld id="{A368C314-2642-DA46-94DF-3002B600442C}" type="slidenum">
              <a:rPr lang="en-US" altLang="en-US"/>
              <a:pPr>
                <a:defRPr/>
              </a:pPr>
              <a:t>‹#›</a:t>
            </a:fld>
            <a:endParaRPr lang="en-US" altLang="en-US"/>
          </a:p>
        </p:txBody>
      </p:sp>
    </p:spTree>
    <p:extLst>
      <p:ext uri="{BB962C8B-B14F-4D97-AF65-F5344CB8AC3E}">
        <p14:creationId xmlns:p14="http://schemas.microsoft.com/office/powerpoint/2010/main" val="3620987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64709A3-7460-3815-505A-2CB2BDD12D25}"/>
              </a:ext>
            </a:extLst>
          </p:cNvPr>
          <p:cNvSpPr>
            <a:spLocks noGrp="1"/>
          </p:cNvSpPr>
          <p:nvPr>
            <p:ph type="dt" sz="half" idx="10"/>
          </p:nvPr>
        </p:nvSpPr>
        <p:spPr/>
        <p:txBody>
          <a:bodyPr/>
          <a:lstStyle>
            <a:lvl1pPr>
              <a:defRPr/>
            </a:lvl1pPr>
          </a:lstStyle>
          <a:p>
            <a:pPr>
              <a:defRPr/>
            </a:pPr>
            <a:fld id="{E3005BF5-BCBA-B547-A74F-781569BD57FD}" type="datetimeFigureOut">
              <a:rPr lang="en-US" altLang="en-US"/>
              <a:pPr>
                <a:defRPr/>
              </a:pPr>
              <a:t>6/2/26</a:t>
            </a:fld>
            <a:endParaRPr lang="en-US" altLang="en-US"/>
          </a:p>
        </p:txBody>
      </p:sp>
      <p:sp>
        <p:nvSpPr>
          <p:cNvPr id="4" name="Footer Placeholder 4">
            <a:extLst>
              <a:ext uri="{FF2B5EF4-FFF2-40B4-BE49-F238E27FC236}">
                <a16:creationId xmlns:a16="http://schemas.microsoft.com/office/drawing/2014/main" id="{5D7491D6-DB9D-14A2-B6ED-80DD049E84E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92EDB2D-2BC5-9294-E3B4-6E7ABF72D1BA}"/>
              </a:ext>
            </a:extLst>
          </p:cNvPr>
          <p:cNvSpPr>
            <a:spLocks noGrp="1"/>
          </p:cNvSpPr>
          <p:nvPr>
            <p:ph type="sldNum" sz="quarter" idx="12"/>
          </p:nvPr>
        </p:nvSpPr>
        <p:spPr/>
        <p:txBody>
          <a:bodyPr/>
          <a:lstStyle>
            <a:lvl1pPr>
              <a:defRPr/>
            </a:lvl1pPr>
          </a:lstStyle>
          <a:p>
            <a:pPr>
              <a:defRPr/>
            </a:pPr>
            <a:fld id="{74B5D5F1-BB5B-7847-BD52-DA6F61783408}" type="slidenum">
              <a:rPr lang="en-US" altLang="en-US"/>
              <a:pPr>
                <a:defRPr/>
              </a:pPr>
              <a:t>‹#›</a:t>
            </a:fld>
            <a:endParaRPr lang="en-US" altLang="en-US"/>
          </a:p>
        </p:txBody>
      </p:sp>
    </p:spTree>
    <p:extLst>
      <p:ext uri="{BB962C8B-B14F-4D97-AF65-F5344CB8AC3E}">
        <p14:creationId xmlns:p14="http://schemas.microsoft.com/office/powerpoint/2010/main" val="2307861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4576D7F-43B3-DCAA-E842-79F643DD342E}"/>
              </a:ext>
            </a:extLst>
          </p:cNvPr>
          <p:cNvSpPr>
            <a:spLocks noGrp="1"/>
          </p:cNvSpPr>
          <p:nvPr>
            <p:ph type="dt" sz="half" idx="10"/>
          </p:nvPr>
        </p:nvSpPr>
        <p:spPr/>
        <p:txBody>
          <a:bodyPr/>
          <a:lstStyle>
            <a:lvl1pPr>
              <a:defRPr/>
            </a:lvl1pPr>
          </a:lstStyle>
          <a:p>
            <a:pPr>
              <a:defRPr/>
            </a:pPr>
            <a:fld id="{96EB88E0-DF0B-CE4B-9C68-04A8029F32D5}" type="datetimeFigureOut">
              <a:rPr lang="en-US" altLang="en-US"/>
              <a:pPr>
                <a:defRPr/>
              </a:pPr>
              <a:t>6/2/26</a:t>
            </a:fld>
            <a:endParaRPr lang="en-US" altLang="en-US"/>
          </a:p>
        </p:txBody>
      </p:sp>
      <p:sp>
        <p:nvSpPr>
          <p:cNvPr id="3" name="Footer Placeholder 4">
            <a:extLst>
              <a:ext uri="{FF2B5EF4-FFF2-40B4-BE49-F238E27FC236}">
                <a16:creationId xmlns:a16="http://schemas.microsoft.com/office/drawing/2014/main" id="{72CADC17-DED8-5112-8921-F65B484DB91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6A78C72-1E15-EB45-49F3-9D9397D9F40E}"/>
              </a:ext>
            </a:extLst>
          </p:cNvPr>
          <p:cNvSpPr>
            <a:spLocks noGrp="1"/>
          </p:cNvSpPr>
          <p:nvPr>
            <p:ph type="sldNum" sz="quarter" idx="12"/>
          </p:nvPr>
        </p:nvSpPr>
        <p:spPr/>
        <p:txBody>
          <a:bodyPr/>
          <a:lstStyle>
            <a:lvl1pPr>
              <a:defRPr/>
            </a:lvl1pPr>
          </a:lstStyle>
          <a:p>
            <a:pPr>
              <a:defRPr/>
            </a:pPr>
            <a:fld id="{67D00D5F-D249-0342-BF3E-F3E28D7842A7}" type="slidenum">
              <a:rPr lang="en-US" altLang="en-US"/>
              <a:pPr>
                <a:defRPr/>
              </a:pPr>
              <a:t>‹#›</a:t>
            </a:fld>
            <a:endParaRPr lang="en-US" altLang="en-US"/>
          </a:p>
        </p:txBody>
      </p:sp>
    </p:spTree>
    <p:extLst>
      <p:ext uri="{BB962C8B-B14F-4D97-AF65-F5344CB8AC3E}">
        <p14:creationId xmlns:p14="http://schemas.microsoft.com/office/powerpoint/2010/main" val="295370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4912C70D-0CDC-90AD-A8D1-7A8BF1220616}"/>
              </a:ext>
            </a:extLst>
          </p:cNvPr>
          <p:cNvSpPr>
            <a:spLocks noGrp="1"/>
          </p:cNvSpPr>
          <p:nvPr>
            <p:ph type="dt" sz="half" idx="10"/>
          </p:nvPr>
        </p:nvSpPr>
        <p:spPr/>
        <p:txBody>
          <a:bodyPr/>
          <a:lstStyle>
            <a:lvl1pPr>
              <a:defRPr/>
            </a:lvl1pPr>
          </a:lstStyle>
          <a:p>
            <a:pPr>
              <a:defRPr/>
            </a:pPr>
            <a:fld id="{AC29B18C-3EB6-B749-B02C-1990BE1391C4}"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F311B4CC-BA12-76DB-7F3F-5B25A19FBD7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9DB8D11-3D02-56C6-5B91-7DAC2A0B96A7}"/>
              </a:ext>
            </a:extLst>
          </p:cNvPr>
          <p:cNvSpPr>
            <a:spLocks noGrp="1"/>
          </p:cNvSpPr>
          <p:nvPr>
            <p:ph type="sldNum" sz="quarter" idx="12"/>
          </p:nvPr>
        </p:nvSpPr>
        <p:spPr/>
        <p:txBody>
          <a:bodyPr/>
          <a:lstStyle>
            <a:lvl1pPr>
              <a:defRPr/>
            </a:lvl1pPr>
          </a:lstStyle>
          <a:p>
            <a:pPr>
              <a:defRPr/>
            </a:pPr>
            <a:fld id="{298E2C98-8E20-5E40-AEE4-D31F4F6013D5}" type="slidenum">
              <a:rPr lang="en-US" altLang="en-US"/>
              <a:pPr>
                <a:defRPr/>
              </a:pPr>
              <a:t>‹#›</a:t>
            </a:fld>
            <a:endParaRPr lang="en-US" altLang="en-US"/>
          </a:p>
        </p:txBody>
      </p:sp>
    </p:spTree>
    <p:extLst>
      <p:ext uri="{BB962C8B-B14F-4D97-AF65-F5344CB8AC3E}">
        <p14:creationId xmlns:p14="http://schemas.microsoft.com/office/powerpoint/2010/main" val="124881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13ED017D-C258-B99D-E46E-60983735A912}"/>
              </a:ext>
            </a:extLst>
          </p:cNvPr>
          <p:cNvSpPr>
            <a:spLocks noGrp="1"/>
          </p:cNvSpPr>
          <p:nvPr>
            <p:ph type="dt" sz="half" idx="10"/>
          </p:nvPr>
        </p:nvSpPr>
        <p:spPr/>
        <p:txBody>
          <a:bodyPr/>
          <a:lstStyle>
            <a:lvl1pPr>
              <a:defRPr/>
            </a:lvl1pPr>
          </a:lstStyle>
          <a:p>
            <a:pPr>
              <a:defRPr/>
            </a:pPr>
            <a:fld id="{CF912398-8AC0-3249-A719-E88230CDFD38}"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AC159736-38B3-FD00-A952-A979D1A3FC8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4C91324-C8D5-4B0C-3FDA-8A9CBE645406}"/>
              </a:ext>
            </a:extLst>
          </p:cNvPr>
          <p:cNvSpPr>
            <a:spLocks noGrp="1"/>
          </p:cNvSpPr>
          <p:nvPr>
            <p:ph type="sldNum" sz="quarter" idx="12"/>
          </p:nvPr>
        </p:nvSpPr>
        <p:spPr/>
        <p:txBody>
          <a:bodyPr/>
          <a:lstStyle>
            <a:lvl1pPr>
              <a:defRPr/>
            </a:lvl1pPr>
          </a:lstStyle>
          <a:p>
            <a:pPr>
              <a:defRPr/>
            </a:pPr>
            <a:fld id="{B302DF5E-CA52-9A4B-A874-75D895F89775}" type="slidenum">
              <a:rPr lang="en-US" altLang="en-US"/>
              <a:pPr>
                <a:defRPr/>
              </a:pPr>
              <a:t>‹#›</a:t>
            </a:fld>
            <a:endParaRPr lang="en-US" altLang="en-US"/>
          </a:p>
        </p:txBody>
      </p:sp>
    </p:spTree>
    <p:extLst>
      <p:ext uri="{BB962C8B-B14F-4D97-AF65-F5344CB8AC3E}">
        <p14:creationId xmlns:p14="http://schemas.microsoft.com/office/powerpoint/2010/main" val="911069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6C260F-B88E-08ED-AF33-47D762EBA9F5}"/>
              </a:ext>
            </a:extLst>
          </p:cNvPr>
          <p:cNvSpPr>
            <a:spLocks noGrp="1"/>
          </p:cNvSpPr>
          <p:nvPr>
            <p:ph type="dt" sz="half" idx="10"/>
          </p:nvPr>
        </p:nvSpPr>
        <p:spPr/>
        <p:txBody>
          <a:bodyPr/>
          <a:lstStyle>
            <a:lvl1pPr>
              <a:defRPr/>
            </a:lvl1pPr>
          </a:lstStyle>
          <a:p>
            <a:pPr>
              <a:defRPr/>
            </a:pPr>
            <a:fld id="{1B9AFA37-F659-B345-9F03-29BAF222F6A0}"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1A090C4C-390A-865C-6BC8-EA88A4DCD90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179F272-6FCF-187C-D06A-52EA82283471}"/>
              </a:ext>
            </a:extLst>
          </p:cNvPr>
          <p:cNvSpPr>
            <a:spLocks noGrp="1"/>
          </p:cNvSpPr>
          <p:nvPr>
            <p:ph type="sldNum" sz="quarter" idx="12"/>
          </p:nvPr>
        </p:nvSpPr>
        <p:spPr/>
        <p:txBody>
          <a:bodyPr/>
          <a:lstStyle>
            <a:lvl1pPr>
              <a:defRPr/>
            </a:lvl1pPr>
          </a:lstStyle>
          <a:p>
            <a:pPr>
              <a:defRPr/>
            </a:pPr>
            <a:fld id="{59768BC1-D490-9A4D-B84A-90DCA9A1FD4B}" type="slidenum">
              <a:rPr lang="en-US" altLang="en-US"/>
              <a:pPr>
                <a:defRPr/>
              </a:pPr>
              <a:t>‹#›</a:t>
            </a:fld>
            <a:endParaRPr lang="en-US" altLang="en-US"/>
          </a:p>
        </p:txBody>
      </p:sp>
    </p:spTree>
    <p:extLst>
      <p:ext uri="{BB962C8B-B14F-4D97-AF65-F5344CB8AC3E}">
        <p14:creationId xmlns:p14="http://schemas.microsoft.com/office/powerpoint/2010/main" val="2253185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6FD85-EFE4-5526-94FF-287D42D99916}"/>
              </a:ext>
            </a:extLst>
          </p:cNvPr>
          <p:cNvSpPr>
            <a:spLocks noGrp="1"/>
          </p:cNvSpPr>
          <p:nvPr>
            <p:ph type="dt" sz="half" idx="10"/>
          </p:nvPr>
        </p:nvSpPr>
        <p:spPr/>
        <p:txBody>
          <a:bodyPr/>
          <a:lstStyle>
            <a:lvl1pPr>
              <a:defRPr/>
            </a:lvl1pPr>
          </a:lstStyle>
          <a:p>
            <a:pPr>
              <a:defRPr/>
            </a:pPr>
            <a:fld id="{8B403466-125F-CA44-8252-CB4D59DA653A}"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8C3D1FC1-27EF-681E-469D-52795D1A67D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31D3466-CD5A-5319-9615-AFA49339B9B7}"/>
              </a:ext>
            </a:extLst>
          </p:cNvPr>
          <p:cNvSpPr>
            <a:spLocks noGrp="1"/>
          </p:cNvSpPr>
          <p:nvPr>
            <p:ph type="sldNum" sz="quarter" idx="12"/>
          </p:nvPr>
        </p:nvSpPr>
        <p:spPr/>
        <p:txBody>
          <a:bodyPr/>
          <a:lstStyle>
            <a:lvl1pPr>
              <a:defRPr/>
            </a:lvl1pPr>
          </a:lstStyle>
          <a:p>
            <a:pPr>
              <a:defRPr/>
            </a:pPr>
            <a:fld id="{0EFAF2C8-38D9-624A-8EAE-54C7A0445A7F}" type="slidenum">
              <a:rPr lang="en-US" altLang="en-US"/>
              <a:pPr>
                <a:defRPr/>
              </a:pPr>
              <a:t>‹#›</a:t>
            </a:fld>
            <a:endParaRPr lang="en-US" altLang="en-US"/>
          </a:p>
        </p:txBody>
      </p:sp>
    </p:spTree>
    <p:extLst>
      <p:ext uri="{BB962C8B-B14F-4D97-AF65-F5344CB8AC3E}">
        <p14:creationId xmlns:p14="http://schemas.microsoft.com/office/powerpoint/2010/main" val="1388406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2980500A-197A-36A3-2D57-83BEA9C9FFEA}"/>
              </a:ext>
            </a:extLst>
          </p:cNvPr>
          <p:cNvSpPr>
            <a:spLocks noGrp="1"/>
          </p:cNvSpPr>
          <p:nvPr>
            <p:ph type="dt" sz="half" idx="10"/>
          </p:nvPr>
        </p:nvSpPr>
        <p:spPr/>
        <p:txBody>
          <a:bodyPr/>
          <a:lstStyle>
            <a:lvl1pPr>
              <a:defRPr/>
            </a:lvl1pPr>
          </a:lstStyle>
          <a:p>
            <a:pPr>
              <a:defRPr/>
            </a:pPr>
            <a:fld id="{C7553612-6883-0346-A4B3-BAB97851F8A6}"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CEDFD2D3-7943-F5F7-18FE-283AF5B8956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D3ED373-17A9-C769-8847-69F526CA1AD7}"/>
              </a:ext>
            </a:extLst>
          </p:cNvPr>
          <p:cNvSpPr>
            <a:spLocks noGrp="1"/>
          </p:cNvSpPr>
          <p:nvPr>
            <p:ph type="sldNum" sz="quarter" idx="12"/>
          </p:nvPr>
        </p:nvSpPr>
        <p:spPr/>
        <p:txBody>
          <a:bodyPr/>
          <a:lstStyle>
            <a:lvl1pPr>
              <a:defRPr/>
            </a:lvl1pPr>
          </a:lstStyle>
          <a:p>
            <a:pPr>
              <a:defRPr/>
            </a:pPr>
            <a:fld id="{99310AA9-801D-E442-AB4A-87B95FB7B71B}" type="slidenum">
              <a:rPr lang="en-US" altLang="en-US"/>
              <a:pPr>
                <a:defRPr/>
              </a:pPr>
              <a:t>‹#›</a:t>
            </a:fld>
            <a:endParaRPr lang="en-US" altLang="en-US"/>
          </a:p>
        </p:txBody>
      </p:sp>
    </p:spTree>
    <p:extLst>
      <p:ext uri="{BB962C8B-B14F-4D97-AF65-F5344CB8AC3E}">
        <p14:creationId xmlns:p14="http://schemas.microsoft.com/office/powerpoint/2010/main" val="255944832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F9F3CCFE-661C-7D48-FE87-8439778AB700}"/>
              </a:ext>
            </a:extLst>
          </p:cNvPr>
          <p:cNvSpPr>
            <a:spLocks noGrp="1"/>
          </p:cNvSpPr>
          <p:nvPr>
            <p:ph type="dt" sz="half" idx="10"/>
          </p:nvPr>
        </p:nvSpPr>
        <p:spPr/>
        <p:txBody>
          <a:bodyPr/>
          <a:lstStyle>
            <a:lvl1pPr>
              <a:defRPr/>
            </a:lvl1pPr>
          </a:lstStyle>
          <a:p>
            <a:pPr>
              <a:defRPr/>
            </a:pPr>
            <a:fld id="{2357280E-3AAD-5646-8ABB-7408D466ADA2}"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0AD330E3-4BEE-F1A6-1877-95F8DB67070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8A6AD82-2B20-7EE3-21FF-BDCCD2230F0F}"/>
              </a:ext>
            </a:extLst>
          </p:cNvPr>
          <p:cNvSpPr>
            <a:spLocks noGrp="1"/>
          </p:cNvSpPr>
          <p:nvPr>
            <p:ph type="sldNum" sz="quarter" idx="12"/>
          </p:nvPr>
        </p:nvSpPr>
        <p:spPr/>
        <p:txBody>
          <a:bodyPr/>
          <a:lstStyle>
            <a:lvl1pPr>
              <a:defRPr/>
            </a:lvl1pPr>
          </a:lstStyle>
          <a:p>
            <a:pPr>
              <a:defRPr/>
            </a:pPr>
            <a:fld id="{4AD96D4A-CEFF-ED42-9751-94DB01501861}" type="slidenum">
              <a:rPr lang="en-US" altLang="en-US"/>
              <a:pPr>
                <a:defRPr/>
              </a:pPr>
              <a:t>‹#›</a:t>
            </a:fld>
            <a:endParaRPr lang="en-US" altLang="en-US"/>
          </a:p>
        </p:txBody>
      </p:sp>
    </p:spTree>
    <p:extLst>
      <p:ext uri="{BB962C8B-B14F-4D97-AF65-F5344CB8AC3E}">
        <p14:creationId xmlns:p14="http://schemas.microsoft.com/office/powerpoint/2010/main" val="374114384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7854C6E-2B70-C12A-B765-1ABB00C6CC50}"/>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7E36FDF-DCAC-1D6F-0A9F-CBF363F2925C}"/>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1A1D088-5A7E-3E79-1669-E7E7E59964A6}"/>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898989"/>
                </a:solidFill>
              </a:defRPr>
            </a:lvl1pPr>
          </a:lstStyle>
          <a:p>
            <a:pPr>
              <a:defRPr/>
            </a:pPr>
            <a:fld id="{48B6F955-C131-1742-BEE2-97EF01FB6901}"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19F8D345-75D9-25BC-998A-744CF456E9E6}"/>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hangingPunct="1">
              <a:defRPr sz="9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2C6C1588-B7AF-88E7-572E-DF757748BE8F}"/>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4D5D8453-13DE-7343-ADD0-123861A1C3F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Lst>
  <p:txStyles>
    <p:titleStyle>
      <a:lvl1pPr algn="ctr" defTabSz="342900" rtl="0" eaLnBrk="0" fontAlgn="base" hangingPunct="0">
        <a:spcBef>
          <a:spcPct val="0"/>
        </a:spcBef>
        <a:spcAft>
          <a:spcPct val="0"/>
        </a:spcAft>
        <a:defRPr sz="3300" kern="1200">
          <a:solidFill>
            <a:schemeClr val="tx1"/>
          </a:solidFill>
          <a:latin typeface="+mj-lt"/>
          <a:ea typeface="ＭＳ Ｐゴシック" panose="020B0600070205080204" pitchFamily="34" charset="-128"/>
          <a:cs typeface="+mj-cs"/>
        </a:defRPr>
      </a:lvl1pPr>
      <a:lvl2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2pPr>
      <a:lvl3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3pPr>
      <a:lvl4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4pPr>
      <a:lvl5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5pPr>
      <a:lvl6pPr marL="3429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6pPr>
      <a:lvl7pPr marL="6858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7pPr>
      <a:lvl8pPr marL="10287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8pPr>
      <a:lvl9pPr marL="13716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anose="020B0600070205080204" pitchFamily="34" charset="-128"/>
          <a:cs typeface="+mn-cs"/>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panose="020B0600070205080204" pitchFamily="34" charset="-128"/>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panose="020B0600070205080204" pitchFamily="34" charset="-128"/>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Users/feamster/Downloads/smart-tv-control.mp4" TargetMode="External"/><Relationship Id="rId1" Type="http://schemas.microsoft.com/office/2007/relationships/media" Target="file:////Users/feamster/Downloads/smart-tv-control.mp4" TargetMode="External"/><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Users/feamster/Downloads/Meet%20the%20man%20who%20hacked%20Zuckerberg.mp4" TargetMode="External"/><Relationship Id="rId1" Type="http://schemas.microsoft.com/office/2007/relationships/media" Target="file:////Users/feamster/Downloads/Meet%20the%20man%20who%20hacked%20Zuckerberg.mp4" TargetMode="Externa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ACFAF992-427D-6577-7F7A-BF5F906E6929}"/>
              </a:ext>
            </a:extLst>
          </p:cNvPr>
          <p:cNvSpPr>
            <a:spLocks noGrp="1"/>
          </p:cNvSpPr>
          <p:nvPr>
            <p:ph type="ctrTitle"/>
          </p:nvPr>
        </p:nvSpPr>
        <p:spPr>
          <a:xfrm>
            <a:off x="198438" y="841375"/>
            <a:ext cx="8353425" cy="1192213"/>
          </a:xfrm>
        </p:spPr>
        <p:txBody>
          <a:bodyPr/>
          <a:lstStyle/>
          <a:p>
            <a:pPr eaLnBrk="1" hangingPunct="1"/>
            <a:r>
              <a:rPr lang="en-US" altLang="en-US" sz="3600"/>
              <a:t>Vulnerability Discovery and Disclosure</a:t>
            </a:r>
          </a:p>
        </p:txBody>
      </p:sp>
      <p:sp>
        <p:nvSpPr>
          <p:cNvPr id="6" name="Subtitle 2">
            <a:extLst>
              <a:ext uri="{FF2B5EF4-FFF2-40B4-BE49-F238E27FC236}">
                <a16:creationId xmlns:a16="http://schemas.microsoft.com/office/drawing/2014/main" id="{465D2573-19CB-2B68-92F8-3D792115E3C9}"/>
              </a:ext>
            </a:extLst>
          </p:cNvPr>
          <p:cNvSpPr txBox="1">
            <a:spLocks noGrp="1"/>
          </p:cNvSpPr>
          <p:nvPr>
            <p:ph type="subTitle" idx="1"/>
          </p:nvPr>
        </p:nvSpPr>
        <p:spPr/>
        <p:txBody>
          <a:bodyPr lIns="51435" tIns="25718" rIns="51435" bIns="25718" rtlCol="0">
            <a:normAutofit fontScale="92500" lnSpcReduction="10000"/>
          </a:bodyPr>
          <a:lstStyle>
            <a:lvl1pPr marL="0" indent="0" algn="ctr" defTabSz="3429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defRPr/>
            </a:pPr>
            <a:r>
              <a:rPr lang="en-US" dirty="0">
                <a:solidFill>
                  <a:schemeClr val="bg1">
                    <a:lumMod val="65000"/>
                  </a:schemeClr>
                </a:solidFill>
              </a:rPr>
              <a:t>Security, Privacy, and Consumer Protection</a:t>
            </a:r>
            <a:br>
              <a:rPr lang="en-US" dirty="0">
                <a:solidFill>
                  <a:schemeClr val="bg1">
                    <a:lumMod val="65000"/>
                  </a:schemeClr>
                </a:solidFill>
              </a:rPr>
            </a:br>
            <a:br>
              <a:rPr lang="en-US" dirty="0">
                <a:solidFill>
                  <a:schemeClr val="bg1">
                    <a:lumMod val="65000"/>
                  </a:schemeClr>
                </a:solidFill>
              </a:rPr>
            </a:br>
            <a:r>
              <a:rPr lang="en-US" dirty="0">
                <a:solidFill>
                  <a:schemeClr val="bg1">
                    <a:lumMod val="65000"/>
                  </a:schemeClr>
                </a:solidFill>
              </a:rPr>
              <a:t>Nick Feamster</a:t>
            </a:r>
            <a:br>
              <a:rPr lang="en-US" dirty="0">
                <a:solidFill>
                  <a:schemeClr val="bg1">
                    <a:lumMod val="65000"/>
                  </a:schemeClr>
                </a:solidFill>
              </a:rPr>
            </a:br>
            <a:r>
              <a:rPr lang="en-US" dirty="0">
                <a:solidFill>
                  <a:schemeClr val="bg1">
                    <a:lumMod val="65000"/>
                  </a:schemeClr>
                </a:solidFill>
              </a:rPr>
              <a:t>University of Chicago</a:t>
            </a:r>
          </a:p>
          <a:p>
            <a:pPr>
              <a:defRPr/>
            </a:pPr>
            <a:endParaRPr lang="en-US" dirty="0">
              <a:solidFill>
                <a:schemeClr val="bg1">
                  <a:lumMod val="6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BAD3BF7E-7903-C34B-A124-2C8AA46BA7D1}"/>
              </a:ext>
            </a:extLst>
          </p:cNvPr>
          <p:cNvSpPr>
            <a:spLocks noGrp="1"/>
          </p:cNvSpPr>
          <p:nvPr>
            <p:ph type="title"/>
          </p:nvPr>
        </p:nvSpPr>
        <p:spPr/>
        <p:txBody>
          <a:bodyPr/>
          <a:lstStyle/>
          <a:p>
            <a:r>
              <a:rPr lang="en-US" altLang="en-US"/>
              <a:t>Vulnerabilities</a:t>
            </a:r>
          </a:p>
        </p:txBody>
      </p:sp>
      <p:sp>
        <p:nvSpPr>
          <p:cNvPr id="17410" name="Content Placeholder 2">
            <a:extLst>
              <a:ext uri="{FF2B5EF4-FFF2-40B4-BE49-F238E27FC236}">
                <a16:creationId xmlns:a16="http://schemas.microsoft.com/office/drawing/2014/main" id="{FC619D8F-ADE2-8596-66CC-CA1B1E2ECD62}"/>
              </a:ext>
            </a:extLst>
          </p:cNvPr>
          <p:cNvSpPr>
            <a:spLocks noGrp="1"/>
          </p:cNvSpPr>
          <p:nvPr>
            <p:ph idx="1"/>
          </p:nvPr>
        </p:nvSpPr>
        <p:spPr>
          <a:xfrm>
            <a:off x="457200" y="1047750"/>
            <a:ext cx="8229600" cy="3394075"/>
          </a:xfrm>
        </p:spPr>
        <p:txBody>
          <a:bodyPr/>
          <a:lstStyle/>
          <a:p>
            <a:r>
              <a:rPr lang="en-US" altLang="en-US"/>
              <a:t>Software is complex, imperfect!</a:t>
            </a:r>
            <a:br>
              <a:rPr lang="en-US" altLang="en-US"/>
            </a:br>
            <a:endParaRPr lang="en-US" altLang="en-US"/>
          </a:p>
          <a:p>
            <a:r>
              <a:rPr lang="en-US" altLang="en-US"/>
              <a:t>Lots of independent, third-party vulnerability researchers</a:t>
            </a:r>
          </a:p>
          <a:p>
            <a:pPr lvl="1"/>
            <a:r>
              <a:rPr lang="en-US" altLang="en-US"/>
              <a:t>Key to discovering bugs!</a:t>
            </a:r>
          </a:p>
          <a:p>
            <a:pPr lvl="1"/>
            <a:r>
              <a:rPr lang="en-US" altLang="en-US"/>
              <a:t>Yet, these relationships can be sometimes adversarial</a:t>
            </a:r>
            <a:br>
              <a:rPr lang="en-US" altLang="en-US"/>
            </a:br>
            <a:endParaRPr lang="en-US" altLang="en-US"/>
          </a:p>
          <a:p>
            <a:r>
              <a:rPr lang="en-US" altLang="en-US"/>
              <a:t>Also, lots of legal hurdles to surmount…</a:t>
            </a:r>
          </a:p>
          <a:p>
            <a:endParaRPr lang="en-US" altLang="en-US"/>
          </a:p>
          <a:p>
            <a:r>
              <a:rPr lang="en-US" altLang="en-US"/>
              <a:t>Typically, we’ve talked about security vulnerabilities, but there are also “privacy vulnerabilities”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5">
            <a:extLst>
              <a:ext uri="{FF2B5EF4-FFF2-40B4-BE49-F238E27FC236}">
                <a16:creationId xmlns:a16="http://schemas.microsoft.com/office/drawing/2014/main" id="{D050CA85-FD35-E06A-8DBC-1DA86206E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196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4" name="Picture 6">
            <a:extLst>
              <a:ext uri="{FF2B5EF4-FFF2-40B4-BE49-F238E27FC236}">
                <a16:creationId xmlns:a16="http://schemas.microsoft.com/office/drawing/2014/main" id="{1B993C97-FE2D-1AE8-AE70-4860F7A075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8" y="2190750"/>
            <a:ext cx="4316412"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7">
            <a:extLst>
              <a:ext uri="{FF2B5EF4-FFF2-40B4-BE49-F238E27FC236}">
                <a16:creationId xmlns:a16="http://schemas.microsoft.com/office/drawing/2014/main" id="{63AC0A7A-26F1-B91E-A17D-7AF86A918B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686050"/>
            <a:ext cx="35750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9DFCCA-623D-EC77-4C82-3D29FAB7DD3C}"/>
              </a:ext>
            </a:extLst>
          </p:cNvPr>
          <p:cNvSpPr txBox="1"/>
          <p:nvPr/>
        </p:nvSpPr>
        <p:spPr>
          <a:xfrm>
            <a:off x="1355725" y="4643438"/>
            <a:ext cx="5822950" cy="369887"/>
          </a:xfrm>
          <a:prstGeom prst="rect">
            <a:avLst/>
          </a:prstGeom>
          <a:solidFill>
            <a:schemeClr val="bg1">
              <a:lumMod val="95000"/>
            </a:schemeClr>
          </a:solidFill>
        </p:spPr>
        <p:txBody>
          <a:bodyPr>
            <a:spAutoFit/>
          </a:bodyPr>
          <a:lstStyle/>
          <a:p>
            <a:pPr>
              <a:defRPr/>
            </a:pPr>
            <a:r>
              <a:rPr lang="en-US" sz="900" dirty="0"/>
              <a:t>Fast Web-based Attacks to Discover and Control IoT Devices </a:t>
            </a:r>
            <a:r>
              <a:rPr lang="en-US" sz="900" dirty="0" err="1"/>
              <a:t>Gunes</a:t>
            </a:r>
            <a:r>
              <a:rPr lang="en-US" sz="900" dirty="0"/>
              <a:t> </a:t>
            </a:r>
            <a:r>
              <a:rPr lang="en-US" sz="900" dirty="0" err="1"/>
              <a:t>Acar</a:t>
            </a:r>
            <a:r>
              <a:rPr lang="en-US" sz="900" dirty="0"/>
              <a:t>, Danny Y. Huang, Frank Li, Arvind Narayanan, and Nick Feamster. ACM SIGCOMM Workshop on IoT Security and Privacy. 2018.</a:t>
            </a:r>
          </a:p>
        </p:txBody>
      </p:sp>
      <p:pic>
        <p:nvPicPr>
          <p:cNvPr id="5" name="smart-tv-control.mp4" descr="smart-tv-control">
            <a:hlinkClick r:id="" action="ppaction://media"/>
            <a:extLst>
              <a:ext uri="{FF2B5EF4-FFF2-40B4-BE49-F238E27FC236}">
                <a16:creationId xmlns:a16="http://schemas.microsoft.com/office/drawing/2014/main" id="{35A662C5-C58A-C44F-1007-697BC3622D10}"/>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3175" y="3175"/>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03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5F8EA542-8B2E-1246-435D-A114A1870872}"/>
              </a:ext>
            </a:extLst>
          </p:cNvPr>
          <p:cNvSpPr>
            <a:spLocks noGrp="1"/>
          </p:cNvSpPr>
          <p:nvPr>
            <p:ph type="title"/>
          </p:nvPr>
        </p:nvSpPr>
        <p:spPr/>
        <p:txBody>
          <a:bodyPr/>
          <a:lstStyle/>
          <a:p>
            <a:r>
              <a:rPr lang="en-US" altLang="en-US"/>
              <a:t>Legal Constructs</a:t>
            </a:r>
          </a:p>
        </p:txBody>
      </p:sp>
      <p:sp>
        <p:nvSpPr>
          <p:cNvPr id="29698" name="Content Placeholder 2">
            <a:extLst>
              <a:ext uri="{FF2B5EF4-FFF2-40B4-BE49-F238E27FC236}">
                <a16:creationId xmlns:a16="http://schemas.microsoft.com/office/drawing/2014/main" id="{B5EEFE5A-D798-1C44-0BDF-05B075A0CFAE}"/>
              </a:ext>
            </a:extLst>
          </p:cNvPr>
          <p:cNvSpPr>
            <a:spLocks noGrp="1"/>
          </p:cNvSpPr>
          <p:nvPr>
            <p:ph idx="1"/>
          </p:nvPr>
        </p:nvSpPr>
        <p:spPr/>
        <p:txBody>
          <a:bodyPr/>
          <a:lstStyle/>
          <a:p>
            <a:pPr>
              <a:defRPr/>
            </a:pPr>
            <a:r>
              <a:rPr lang="en-US" altLang="en-US" dirty="0"/>
              <a:t>Digital Millennium Copyright Act (DMCA)</a:t>
            </a:r>
          </a:p>
          <a:p>
            <a:pPr marL="0" indent="0">
              <a:buFont typeface="Arial" panose="020B0604020202020204" pitchFamily="34" charset="0"/>
              <a:buNone/>
              <a:defRPr/>
            </a:pPr>
            <a:endParaRPr lang="en-US" altLang="en-US" dirty="0"/>
          </a:p>
          <a:p>
            <a:pPr>
              <a:defRPr/>
            </a:pPr>
            <a:r>
              <a:rPr lang="en-US" altLang="en-US" dirty="0"/>
              <a:t>Computer Fraud and Abuse Act (CFAA)</a:t>
            </a:r>
          </a:p>
          <a:p>
            <a:pPr>
              <a:defRPr/>
            </a:pPr>
            <a:endParaRPr lang="en-US" altLang="en-US" dirty="0"/>
          </a:p>
          <a:p>
            <a:pPr>
              <a:defRPr/>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BCBD282C-05C5-02F6-BCAF-55E18145B6A6}"/>
              </a:ext>
            </a:extLst>
          </p:cNvPr>
          <p:cNvSpPr>
            <a:spLocks noGrp="1"/>
          </p:cNvSpPr>
          <p:nvPr>
            <p:ph type="title"/>
          </p:nvPr>
        </p:nvSpPr>
        <p:spPr>
          <a:xfrm>
            <a:off x="1257300" y="0"/>
            <a:ext cx="6515100" cy="800100"/>
          </a:xfrm>
        </p:spPr>
        <p:txBody>
          <a:bodyPr/>
          <a:lstStyle/>
          <a:p>
            <a:r>
              <a:rPr lang="en-US" altLang="en-US"/>
              <a:t>DMCA</a:t>
            </a:r>
          </a:p>
        </p:txBody>
      </p:sp>
      <p:sp>
        <p:nvSpPr>
          <p:cNvPr id="22530" name="Rectangle 3">
            <a:extLst>
              <a:ext uri="{FF2B5EF4-FFF2-40B4-BE49-F238E27FC236}">
                <a16:creationId xmlns:a16="http://schemas.microsoft.com/office/drawing/2014/main" id="{3398DC3C-039A-8C6E-9C0D-35696ABB48B1}"/>
              </a:ext>
            </a:extLst>
          </p:cNvPr>
          <p:cNvSpPr>
            <a:spLocks noGrp="1"/>
          </p:cNvSpPr>
          <p:nvPr>
            <p:ph type="body" idx="1"/>
          </p:nvPr>
        </p:nvSpPr>
        <p:spPr>
          <a:xfrm>
            <a:off x="381000" y="815975"/>
            <a:ext cx="7848600" cy="4057650"/>
          </a:xfrm>
          <a:noFill/>
        </p:spPr>
        <p:txBody>
          <a:bodyPr/>
          <a:lstStyle/>
          <a:p>
            <a:pPr>
              <a:lnSpc>
                <a:spcPct val="90000"/>
              </a:lnSpc>
            </a:pPr>
            <a:r>
              <a:rPr lang="en-US" altLang="en-US" sz="2800"/>
              <a:t>Makes it a crime to produce or </a:t>
            </a:r>
            <a:r>
              <a:rPr lang="en-US" altLang="en-US" sz="2800" b="1"/>
              <a:t>disseminate</a:t>
            </a:r>
            <a:r>
              <a:rPr lang="en-US" altLang="en-US" sz="2800"/>
              <a:t> technology that can </a:t>
            </a:r>
            <a:r>
              <a:rPr lang="en-US" altLang="en-US" sz="2800" b="1"/>
              <a:t>circumvent</a:t>
            </a:r>
            <a:r>
              <a:rPr lang="en-US" altLang="en-US" sz="2800"/>
              <a:t> copyright protection mechanisms	</a:t>
            </a:r>
          </a:p>
          <a:p>
            <a:pPr>
              <a:lnSpc>
                <a:spcPct val="90000"/>
              </a:lnSpc>
            </a:pPr>
            <a:r>
              <a:rPr lang="en-US" altLang="en-US" sz="2800"/>
              <a:t>Don’t need to infringe copyright to commit a crime</a:t>
            </a:r>
          </a:p>
          <a:p>
            <a:pPr>
              <a:lnSpc>
                <a:spcPct val="90000"/>
              </a:lnSpc>
            </a:pPr>
            <a:r>
              <a:rPr lang="en-US" altLang="en-US" sz="2800"/>
              <a:t>Security implications?</a:t>
            </a:r>
          </a:p>
          <a:p>
            <a:pPr lvl="1">
              <a:lnSpc>
                <a:spcPct val="90000"/>
              </a:lnSpc>
            </a:pPr>
            <a:r>
              <a:rPr lang="en-US" altLang="en-US" sz="2400"/>
              <a:t>Cannot research software to ensure provides appropriate protection mechanisms</a:t>
            </a:r>
            <a:br>
              <a:rPr lang="en-US" altLang="en-US" sz="2400"/>
            </a:br>
            <a:r>
              <a:rPr lang="en-US" altLang="en-US" sz="2400"/>
              <a:t>(Felten v. RIAA, Sklyarov v. Adobe)</a:t>
            </a:r>
          </a:p>
          <a:p>
            <a:pPr>
              <a:lnSpc>
                <a:spcPct val="90000"/>
              </a:lnSpc>
            </a:pPr>
            <a:r>
              <a:rPr lang="en-US" altLang="en-US" sz="2800"/>
              <a:t>Strongly supported by media industries</a:t>
            </a:r>
          </a:p>
          <a:p>
            <a:pPr lvl="1">
              <a:lnSpc>
                <a:spcPct val="90000"/>
              </a:lnSpc>
            </a:pPr>
            <a:endParaRPr lang="en-US" altLang="en-US" sz="2400"/>
          </a:p>
        </p:txBody>
      </p:sp>
      <p:sp>
        <p:nvSpPr>
          <p:cNvPr id="22531" name="Rectangle 5">
            <a:extLst>
              <a:ext uri="{FF2B5EF4-FFF2-40B4-BE49-F238E27FC236}">
                <a16:creationId xmlns:a16="http://schemas.microsoft.com/office/drawing/2014/main" id="{4534FEDA-B76A-F6B5-0BD0-066C8AF7BF79}"/>
              </a:ext>
            </a:extLst>
          </p:cNvPr>
          <p:cNvSpPr>
            <a:spLocks noChangeArrowheads="1"/>
          </p:cNvSpPr>
          <p:nvPr/>
        </p:nvSpPr>
        <p:spPr bwMode="auto">
          <a:xfrm>
            <a:off x="1371600" y="914400"/>
            <a:ext cx="634365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buFontTx/>
              <a:buChar char="•"/>
            </a:pPr>
            <a:endParaRPr lang="en-US" altLang="en-US" sz="180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3">
            <a:extLst>
              <a:ext uri="{FF2B5EF4-FFF2-40B4-BE49-F238E27FC236}">
                <a16:creationId xmlns:a16="http://schemas.microsoft.com/office/drawing/2014/main" id="{17AB4BE1-4007-9914-129E-CAD0CBD06A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850" y="1060450"/>
            <a:ext cx="2654300"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1">
            <a:extLst>
              <a:ext uri="{FF2B5EF4-FFF2-40B4-BE49-F238E27FC236}">
                <a16:creationId xmlns:a16="http://schemas.microsoft.com/office/drawing/2014/main" id="{D9F4481A-F7D2-0698-C550-FC33F528A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57150"/>
            <a:ext cx="57023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2" name="Picture 2">
            <a:extLst>
              <a:ext uri="{FF2B5EF4-FFF2-40B4-BE49-F238E27FC236}">
                <a16:creationId xmlns:a16="http://schemas.microsoft.com/office/drawing/2014/main" id="{3BF6C630-6B4E-0D1D-6644-732A833DD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790700"/>
            <a:ext cx="7740650" cy="331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522B1FC9-3821-B98A-5938-8917E3CCAA27}"/>
              </a:ext>
            </a:extLst>
          </p:cNvPr>
          <p:cNvSpPr>
            <a:spLocks noGrp="1"/>
          </p:cNvSpPr>
          <p:nvPr>
            <p:ph type="title"/>
          </p:nvPr>
        </p:nvSpPr>
        <p:spPr/>
        <p:txBody>
          <a:bodyPr/>
          <a:lstStyle/>
          <a:p>
            <a:r>
              <a:rPr lang="en-US" altLang="en-US"/>
              <a:t>Timeline</a:t>
            </a:r>
          </a:p>
        </p:txBody>
      </p:sp>
      <p:sp>
        <p:nvSpPr>
          <p:cNvPr id="7171" name="Rectangle 3">
            <a:extLst>
              <a:ext uri="{FF2B5EF4-FFF2-40B4-BE49-F238E27FC236}">
                <a16:creationId xmlns:a16="http://schemas.microsoft.com/office/drawing/2014/main" id="{19418FF9-ADF2-2697-27D4-8E89FAD49C6F}"/>
              </a:ext>
            </a:extLst>
          </p:cNvPr>
          <p:cNvSpPr>
            <a:spLocks noGrp="1"/>
          </p:cNvSpPr>
          <p:nvPr>
            <p:ph type="body" idx="1"/>
          </p:nvPr>
        </p:nvSpPr>
        <p:spPr>
          <a:xfrm>
            <a:off x="304800" y="1123950"/>
            <a:ext cx="8229600" cy="3394075"/>
          </a:xfrm>
        </p:spPr>
        <p:txBody>
          <a:bodyPr/>
          <a:lstStyle/>
          <a:p>
            <a:pPr>
              <a:spcBef>
                <a:spcPts val="375"/>
              </a:spcBef>
              <a:spcAft>
                <a:spcPts val="375"/>
              </a:spcAft>
            </a:pPr>
            <a:r>
              <a:rPr lang="en-US" altLang="en-US" sz="2000"/>
              <a:t>September 2000:  SDMI Challenge introduced</a:t>
            </a:r>
          </a:p>
          <a:p>
            <a:pPr>
              <a:spcBef>
                <a:spcPts val="375"/>
              </a:spcBef>
              <a:spcAft>
                <a:spcPts val="375"/>
              </a:spcAft>
            </a:pPr>
            <a:r>
              <a:rPr lang="en-US" altLang="en-US" sz="2000"/>
              <a:t>November 8, 2000:  Ed Felten successfully breaks code and intends to publish paper</a:t>
            </a:r>
          </a:p>
          <a:p>
            <a:pPr>
              <a:spcBef>
                <a:spcPts val="375"/>
              </a:spcBef>
              <a:spcAft>
                <a:spcPts val="375"/>
              </a:spcAft>
            </a:pPr>
            <a:r>
              <a:rPr lang="en-US" altLang="en-US" sz="2000"/>
              <a:t>April 9, 2001: RIAA/SDMI Legally threats Ed Felten</a:t>
            </a:r>
          </a:p>
          <a:p>
            <a:pPr>
              <a:spcBef>
                <a:spcPts val="375"/>
              </a:spcBef>
              <a:spcAft>
                <a:spcPts val="375"/>
              </a:spcAft>
            </a:pPr>
            <a:r>
              <a:rPr lang="en-US" altLang="en-US" sz="2000"/>
              <a:t>April 26, 2001: Ed Felten publicly announces decision not to publish paper.</a:t>
            </a:r>
          </a:p>
          <a:p>
            <a:pPr>
              <a:spcBef>
                <a:spcPts val="375"/>
              </a:spcBef>
              <a:spcAft>
                <a:spcPts val="375"/>
              </a:spcAft>
            </a:pPr>
            <a:r>
              <a:rPr lang="en-US" altLang="en-US" sz="2000"/>
              <a:t>May 3, 2001: RIAA/SDMI claim they never intended to sue</a:t>
            </a:r>
          </a:p>
          <a:p>
            <a:pPr>
              <a:spcBef>
                <a:spcPts val="375"/>
              </a:spcBef>
              <a:spcAft>
                <a:spcPts val="375"/>
              </a:spcAft>
            </a:pPr>
            <a:r>
              <a:rPr lang="en-US" altLang="en-US" sz="2000"/>
              <a:t>June 6, 2001: Ed Felten files lawsuit against RIAA/SDMI</a:t>
            </a:r>
          </a:p>
          <a:p>
            <a:pPr>
              <a:spcBef>
                <a:spcPts val="375"/>
              </a:spcBef>
              <a:spcAft>
                <a:spcPts val="375"/>
              </a:spcAft>
            </a:pPr>
            <a:r>
              <a:rPr lang="en-US" altLang="en-US" sz="2000"/>
              <a:t>July 12, 2001: The case is dismissed by the court</a:t>
            </a:r>
          </a:p>
          <a:p>
            <a:pPr>
              <a:spcBef>
                <a:spcPts val="375"/>
              </a:spcBef>
              <a:spcAft>
                <a:spcPts val="375"/>
              </a:spcAft>
            </a:pPr>
            <a:r>
              <a:rPr lang="en-US" altLang="en-US" sz="2000"/>
              <a:t>August 15, 2001:  Paper is published</a:t>
            </a:r>
          </a:p>
          <a:p>
            <a:endParaRPr lang="en-US" altLang="en-US" sz="3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linds(vertical)">
                                      <p:cBhvr>
                                        <p:cTn id="7"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94BC9EA9-1203-82BA-5E1E-853A5D4173D3}"/>
              </a:ext>
            </a:extLst>
          </p:cNvPr>
          <p:cNvSpPr>
            <a:spLocks noGrp="1"/>
          </p:cNvSpPr>
          <p:nvPr>
            <p:ph type="title"/>
          </p:nvPr>
        </p:nvSpPr>
        <p:spPr/>
        <p:txBody>
          <a:bodyPr/>
          <a:lstStyle/>
          <a:p>
            <a:r>
              <a:rPr lang="en-US" altLang="en-US"/>
              <a:t>Conflicts with Disclosure</a:t>
            </a:r>
          </a:p>
        </p:txBody>
      </p:sp>
      <p:sp>
        <p:nvSpPr>
          <p:cNvPr id="27650" name="Rectangle 3">
            <a:extLst>
              <a:ext uri="{FF2B5EF4-FFF2-40B4-BE49-F238E27FC236}">
                <a16:creationId xmlns:a16="http://schemas.microsoft.com/office/drawing/2014/main" id="{C7B6A53C-FC23-3047-C676-69B079CCC547}"/>
              </a:ext>
            </a:extLst>
          </p:cNvPr>
          <p:cNvSpPr>
            <a:spLocks noGrp="1"/>
          </p:cNvSpPr>
          <p:nvPr>
            <p:ph type="body" idx="1"/>
          </p:nvPr>
        </p:nvSpPr>
        <p:spPr/>
        <p:txBody>
          <a:bodyPr/>
          <a:lstStyle/>
          <a:p>
            <a:r>
              <a:rPr lang="en-US" altLang="en-US" sz="2800"/>
              <a:t>Ed Felten vs. RIAA: Freedom of Speech vs. copyright laws and a company’s rights</a:t>
            </a:r>
            <a:br>
              <a:rPr lang="en-US" altLang="en-US" sz="2800"/>
            </a:br>
            <a:r>
              <a:rPr lang="en-US" altLang="en-US" sz="2800"/>
              <a:t> </a:t>
            </a:r>
          </a:p>
          <a:p>
            <a:r>
              <a:rPr lang="en-US" altLang="en-US" sz="2800"/>
              <a:t>Conflict between a discloser (i.e., Ed Felten) and a company (SDMI)</a:t>
            </a:r>
          </a:p>
          <a:p>
            <a:endParaRPr lang="en-US" altLang="en-US" sz="2800"/>
          </a:p>
          <a:p>
            <a:r>
              <a:rPr lang="en-US" altLang="en-US" sz="2800"/>
              <a:t>Subsequent 1A challenges to the CFAA have been brought to the Supreme Court…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07984733-948A-FE13-5D4E-CF2656197CB1}"/>
              </a:ext>
            </a:extLst>
          </p:cNvPr>
          <p:cNvSpPr>
            <a:spLocks noGrp="1"/>
          </p:cNvSpPr>
          <p:nvPr>
            <p:ph type="title"/>
          </p:nvPr>
        </p:nvSpPr>
        <p:spPr>
          <a:xfrm>
            <a:off x="1257300" y="0"/>
            <a:ext cx="6515100" cy="800100"/>
          </a:xfrm>
        </p:spPr>
        <p:txBody>
          <a:bodyPr/>
          <a:lstStyle/>
          <a:p>
            <a:r>
              <a:rPr lang="en-US" altLang="en-US"/>
              <a:t>Computer Fraud and Abuse Act</a:t>
            </a:r>
          </a:p>
        </p:txBody>
      </p:sp>
      <p:sp>
        <p:nvSpPr>
          <p:cNvPr id="28674" name="Rectangle 3">
            <a:extLst>
              <a:ext uri="{FF2B5EF4-FFF2-40B4-BE49-F238E27FC236}">
                <a16:creationId xmlns:a16="http://schemas.microsoft.com/office/drawing/2014/main" id="{EB19A844-0168-BD90-1B7A-FB359A4DE923}"/>
              </a:ext>
            </a:extLst>
          </p:cNvPr>
          <p:cNvSpPr>
            <a:spLocks noGrp="1"/>
          </p:cNvSpPr>
          <p:nvPr>
            <p:ph type="body" idx="1"/>
          </p:nvPr>
        </p:nvSpPr>
        <p:spPr>
          <a:xfrm>
            <a:off x="1485900" y="971550"/>
            <a:ext cx="6343650" cy="3829050"/>
          </a:xfrm>
          <a:noFill/>
        </p:spPr>
        <p:txBody>
          <a:bodyPr/>
          <a:lstStyle/>
          <a:p>
            <a:pPr>
              <a:buFontTx/>
              <a:buNone/>
            </a:pPr>
            <a:r>
              <a:rPr lang="en-US" altLang="en-US"/>
              <a:t>	</a:t>
            </a:r>
          </a:p>
        </p:txBody>
      </p:sp>
      <p:sp>
        <p:nvSpPr>
          <p:cNvPr id="28675" name="Text Box 4">
            <a:extLst>
              <a:ext uri="{FF2B5EF4-FFF2-40B4-BE49-F238E27FC236}">
                <a16:creationId xmlns:a16="http://schemas.microsoft.com/office/drawing/2014/main" id="{A56FDC8C-964A-8849-1F60-BB311CC38DFA}"/>
              </a:ext>
            </a:extLst>
          </p:cNvPr>
          <p:cNvSpPr txBox="1">
            <a:spLocks noChangeArrowheads="1"/>
          </p:cNvSpPr>
          <p:nvPr/>
        </p:nvSpPr>
        <p:spPr bwMode="auto">
          <a:xfrm>
            <a:off x="1428750" y="1143000"/>
            <a:ext cx="61150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Bef>
                <a:spcPct val="50000"/>
              </a:spcBef>
            </a:pPr>
            <a:endParaRPr lang="en-US" altLang="en-US"/>
          </a:p>
        </p:txBody>
      </p:sp>
      <p:sp>
        <p:nvSpPr>
          <p:cNvPr id="28676" name="Rectangle 5">
            <a:extLst>
              <a:ext uri="{FF2B5EF4-FFF2-40B4-BE49-F238E27FC236}">
                <a16:creationId xmlns:a16="http://schemas.microsoft.com/office/drawing/2014/main" id="{0C7FEEE3-95BC-24B6-AC73-63681EE5B32B}"/>
              </a:ext>
            </a:extLst>
          </p:cNvPr>
          <p:cNvSpPr>
            <a:spLocks noChangeArrowheads="1"/>
          </p:cNvSpPr>
          <p:nvPr/>
        </p:nvSpPr>
        <p:spPr bwMode="auto">
          <a:xfrm>
            <a:off x="638175" y="900113"/>
            <a:ext cx="7591425"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buFontTx/>
              <a:buChar char="•"/>
            </a:pPr>
            <a:r>
              <a:rPr lang="en-US" altLang="en-US" sz="2100">
                <a:latin typeface="Arial" panose="020B0604020202020204" pitchFamily="34" charset="0"/>
              </a:rPr>
              <a:t>Passed in 1984</a:t>
            </a:r>
            <a:br>
              <a:rPr lang="en-US" altLang="en-US" sz="2100">
                <a:latin typeface="Arial" panose="020B0604020202020204" pitchFamily="34" charset="0"/>
              </a:rPr>
            </a:br>
            <a:endParaRPr lang="en-US" altLang="en-US" sz="2100">
              <a:latin typeface="Arial" panose="020B0604020202020204" pitchFamily="34" charset="0"/>
            </a:endParaRPr>
          </a:p>
          <a:p>
            <a:pPr>
              <a:buFontTx/>
              <a:buChar char="•"/>
            </a:pPr>
            <a:r>
              <a:rPr lang="en-US" altLang="en-US" sz="2100">
                <a:latin typeface="Arial" panose="020B0604020202020204" pitchFamily="34" charset="0"/>
              </a:rPr>
              <a:t>Most comprehensive law regarding computer crimes</a:t>
            </a:r>
            <a:br>
              <a:rPr lang="en-US" altLang="en-US" sz="2100">
                <a:latin typeface="Arial" panose="020B0604020202020204" pitchFamily="34" charset="0"/>
              </a:rPr>
            </a:br>
            <a:endParaRPr lang="en-US" altLang="en-US" sz="2100">
              <a:latin typeface="Arial" panose="020B0604020202020204" pitchFamily="34" charset="0"/>
            </a:endParaRPr>
          </a:p>
          <a:p>
            <a:pPr>
              <a:buFontTx/>
              <a:buChar char="•"/>
            </a:pPr>
            <a:r>
              <a:rPr lang="en-US" altLang="en-US" sz="2100">
                <a:latin typeface="Arial" panose="020B0604020202020204" pitchFamily="34" charset="0"/>
              </a:rPr>
              <a:t>Defines specific felonies, including…</a:t>
            </a:r>
          </a:p>
          <a:p>
            <a:pPr lvl="1">
              <a:buFontTx/>
              <a:buChar char="–"/>
            </a:pPr>
            <a:r>
              <a:rPr lang="en-US" altLang="en-US" sz="1800">
                <a:latin typeface="Arial" panose="020B0604020202020204" pitchFamily="34" charset="0"/>
              </a:rPr>
              <a:t>Using computers to obtain classified information</a:t>
            </a:r>
          </a:p>
          <a:p>
            <a:pPr lvl="1">
              <a:buFontTx/>
              <a:buChar char="–"/>
            </a:pPr>
            <a:r>
              <a:rPr lang="en-US" altLang="en-US" sz="1800">
                <a:latin typeface="Arial" panose="020B0604020202020204" pitchFamily="34" charset="0"/>
              </a:rPr>
              <a:t>Using computers to defraud others</a:t>
            </a:r>
          </a:p>
          <a:p>
            <a:pPr lvl="1">
              <a:buFontTx/>
              <a:buChar char="–"/>
            </a:pPr>
            <a:r>
              <a:rPr lang="en-US" altLang="en-US" sz="1800">
                <a:latin typeface="Arial" panose="020B0604020202020204" pitchFamily="34" charset="0"/>
              </a:rPr>
              <a:t>Damaging or denying service to computers used in Interstate Commerce or Communications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DAAC9D0F-E0AE-2D73-C7EB-071AFE87B29F}"/>
              </a:ext>
            </a:extLst>
          </p:cNvPr>
          <p:cNvSpPr>
            <a:spLocks noGrp="1"/>
          </p:cNvSpPr>
          <p:nvPr>
            <p:ph type="title"/>
          </p:nvPr>
        </p:nvSpPr>
        <p:spPr/>
        <p:txBody>
          <a:bodyPr/>
          <a:lstStyle/>
          <a:p>
            <a:r>
              <a:rPr lang="en-US" altLang="en-US"/>
              <a:t>Chilling Effects?</a:t>
            </a:r>
          </a:p>
        </p:txBody>
      </p:sp>
      <p:pic>
        <p:nvPicPr>
          <p:cNvPr id="30722" name="Picture 3">
            <a:extLst>
              <a:ext uri="{FF2B5EF4-FFF2-40B4-BE49-F238E27FC236}">
                <a16:creationId xmlns:a16="http://schemas.microsoft.com/office/drawing/2014/main" id="{D3713C5E-0AB9-5F48-FDC1-5D712752E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 y="895350"/>
            <a:ext cx="4333875"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4">
            <a:extLst>
              <a:ext uri="{FF2B5EF4-FFF2-40B4-BE49-F238E27FC236}">
                <a16:creationId xmlns:a16="http://schemas.microsoft.com/office/drawing/2014/main" id="{A6874BBF-9A9B-E01C-7B26-4A8B6DA5E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419350"/>
            <a:ext cx="41275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3">
            <a:extLst>
              <a:ext uri="{FF2B5EF4-FFF2-40B4-BE49-F238E27FC236}">
                <a16:creationId xmlns:a16="http://schemas.microsoft.com/office/drawing/2014/main" id="{4ED31BA8-DEA0-8088-D8E3-9109901B5A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7150"/>
            <a:ext cx="9144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6" name="Picture 4">
            <a:extLst>
              <a:ext uri="{FF2B5EF4-FFF2-40B4-BE49-F238E27FC236}">
                <a16:creationId xmlns:a16="http://schemas.microsoft.com/office/drawing/2014/main" id="{88D10C58-25D6-2E2B-83B3-275A75A3F2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01713"/>
            <a:ext cx="3078163"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Picture 5">
            <a:extLst>
              <a:ext uri="{FF2B5EF4-FFF2-40B4-BE49-F238E27FC236}">
                <a16:creationId xmlns:a16="http://schemas.microsoft.com/office/drawing/2014/main" id="{094F2866-FFAA-2A08-CB17-FC25CADB24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1388" y="2724150"/>
            <a:ext cx="5303837"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2">
            <a:extLst>
              <a:ext uri="{FF2B5EF4-FFF2-40B4-BE49-F238E27FC236}">
                <a16:creationId xmlns:a16="http://schemas.microsoft.com/office/drawing/2014/main" id="{D2E6219E-7DBB-06DE-E133-B9B12C6C18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1198563"/>
            <a:ext cx="1509713"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7FD48008-9FF1-5ADA-379C-D217F77111FF}"/>
              </a:ext>
            </a:extLst>
          </p:cNvPr>
          <p:cNvSpPr>
            <a:spLocks noGrp="1"/>
          </p:cNvSpPr>
          <p:nvPr>
            <p:ph type="title"/>
          </p:nvPr>
        </p:nvSpPr>
        <p:spPr/>
        <p:txBody>
          <a:bodyPr/>
          <a:lstStyle/>
          <a:p>
            <a:r>
              <a:rPr lang="en-US" altLang="en-US"/>
              <a:t>CFAA and ToS: Various Interpretations</a:t>
            </a:r>
          </a:p>
        </p:txBody>
      </p:sp>
      <p:sp>
        <p:nvSpPr>
          <p:cNvPr id="33794" name="Content Placeholder 2">
            <a:extLst>
              <a:ext uri="{FF2B5EF4-FFF2-40B4-BE49-F238E27FC236}">
                <a16:creationId xmlns:a16="http://schemas.microsoft.com/office/drawing/2014/main" id="{9C35F9B4-FE00-50C8-8B8F-54CFCC6A0402}"/>
              </a:ext>
            </a:extLst>
          </p:cNvPr>
          <p:cNvSpPr>
            <a:spLocks noGrp="1"/>
          </p:cNvSpPr>
          <p:nvPr>
            <p:ph idx="1"/>
          </p:nvPr>
        </p:nvSpPr>
        <p:spPr/>
        <p:txBody>
          <a:bodyPr/>
          <a:lstStyle/>
          <a:p>
            <a:r>
              <a:rPr lang="en-US" altLang="en-US"/>
              <a:t>2009: Courts reject CFAA prosecution against Lori Drew (MySpace hoax) on arguments of ToS violation</a:t>
            </a:r>
          </a:p>
          <a:p>
            <a:r>
              <a:rPr lang="en-US" altLang="en-US"/>
              <a:t>2014: Courts reject CFAA prosection on basis of ToS violation</a:t>
            </a:r>
          </a:p>
          <a:p>
            <a:r>
              <a:rPr lang="en-US" altLang="en-US"/>
              <a:t>2016: Courts side with Facebook against a startup that had logged in using credentials supplied by users to scrape data</a:t>
            </a:r>
          </a:p>
          <a:p>
            <a:r>
              <a:rPr lang="en-US" altLang="en-US"/>
              <a:t>2019: hiQ labs found not to violate CFAA when it scraped data from LinkedIn, violating terms of service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3">
            <a:extLst>
              <a:ext uri="{FF2B5EF4-FFF2-40B4-BE49-F238E27FC236}">
                <a16:creationId xmlns:a16="http://schemas.microsoft.com/office/drawing/2014/main" id="{FD005BF0-F242-EF6D-0495-82E494D7BC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350"/>
            <a:ext cx="9144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2" name="Picture 4">
            <a:extLst>
              <a:ext uri="{FF2B5EF4-FFF2-40B4-BE49-F238E27FC236}">
                <a16:creationId xmlns:a16="http://schemas.microsoft.com/office/drawing/2014/main" id="{2BCA2DD3-AF91-A2C5-2E65-165DE30CE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200150"/>
            <a:ext cx="5842000"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3" name="Picture 5">
            <a:extLst>
              <a:ext uri="{FF2B5EF4-FFF2-40B4-BE49-F238E27FC236}">
                <a16:creationId xmlns:a16="http://schemas.microsoft.com/office/drawing/2014/main" id="{9FC12EAD-369E-E81C-7102-41B27E0E05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839788"/>
            <a:ext cx="48895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2">
            <a:extLst>
              <a:ext uri="{FF2B5EF4-FFF2-40B4-BE49-F238E27FC236}">
                <a16:creationId xmlns:a16="http://schemas.microsoft.com/office/drawing/2014/main" id="{C5591BF9-AEC9-18CE-F307-BE60D1801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14550"/>
            <a:ext cx="91440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6" name="Title 3">
            <a:extLst>
              <a:ext uri="{FF2B5EF4-FFF2-40B4-BE49-F238E27FC236}">
                <a16:creationId xmlns:a16="http://schemas.microsoft.com/office/drawing/2014/main" id="{08AE592D-8ADC-4DE8-9334-CDEE5B153D69}"/>
              </a:ext>
            </a:extLst>
          </p:cNvPr>
          <p:cNvSpPr>
            <a:spLocks noGrp="1"/>
          </p:cNvSpPr>
          <p:nvPr>
            <p:ph type="title"/>
          </p:nvPr>
        </p:nvSpPr>
        <p:spPr/>
        <p:txBody>
          <a:bodyPr/>
          <a:lstStyle/>
          <a:p>
            <a:r>
              <a:rPr lang="en-US" altLang="en-US"/>
              <a:t>Left Open: Terms of Service and </a:t>
            </a:r>
            <a:br>
              <a:rPr lang="en-US" altLang="en-US"/>
            </a:br>
            <a:r>
              <a:rPr lang="en-US" altLang="en-US"/>
              <a:t>“Policy-Based Restrictions”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900078D6-6FFD-4C16-E3BC-C941B1BAB98A}"/>
              </a:ext>
            </a:extLst>
          </p:cNvPr>
          <p:cNvSpPr>
            <a:spLocks noGrp="1"/>
          </p:cNvSpPr>
          <p:nvPr>
            <p:ph type="title"/>
          </p:nvPr>
        </p:nvSpPr>
        <p:spPr/>
        <p:txBody>
          <a:bodyPr/>
          <a:lstStyle/>
          <a:p>
            <a:r>
              <a:rPr lang="en-US" altLang="en-US"/>
              <a:t>Discussion: Vulnerability Disclosure</a:t>
            </a:r>
          </a:p>
        </p:txBody>
      </p:sp>
      <p:sp>
        <p:nvSpPr>
          <p:cNvPr id="3" name="Content Placeholder 2">
            <a:extLst>
              <a:ext uri="{FF2B5EF4-FFF2-40B4-BE49-F238E27FC236}">
                <a16:creationId xmlns:a16="http://schemas.microsoft.com/office/drawing/2014/main" id="{FE0E21E9-8024-E91E-9F9C-0A0452B2D340}"/>
              </a:ext>
            </a:extLst>
          </p:cNvPr>
          <p:cNvSpPr>
            <a:spLocks noGrp="1"/>
          </p:cNvSpPr>
          <p:nvPr>
            <p:ph idx="1"/>
          </p:nvPr>
        </p:nvSpPr>
        <p:spPr/>
        <p:txBody>
          <a:bodyPr/>
          <a:lstStyle/>
          <a:p>
            <a:r>
              <a:rPr lang="en-US" altLang="en-US"/>
              <a:t>In case you do find a vulnerability in software, what is your responsibility? </a:t>
            </a:r>
          </a:p>
          <a:p>
            <a:endParaRPr lang="en-US" altLang="en-US"/>
          </a:p>
          <a:p>
            <a:r>
              <a:rPr lang="en-US" altLang="en-US"/>
              <a:t>Options:</a:t>
            </a:r>
          </a:p>
          <a:p>
            <a:pPr lvl="1"/>
            <a:r>
              <a:rPr lang="en-US" altLang="en-US"/>
              <a:t>Tell the world (full disclosure)</a:t>
            </a:r>
          </a:p>
          <a:p>
            <a:pPr lvl="1"/>
            <a:r>
              <a:rPr lang="en-US" altLang="en-US"/>
              <a:t>Tell the company/group responsible for the software (responsible disclosure)</a:t>
            </a:r>
          </a:p>
          <a:p>
            <a:pPr lvl="1"/>
            <a:r>
              <a:rPr lang="en-US" altLang="en-US"/>
              <a:t>Sell the information to the grey or black market (no disclosure)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3">
            <a:extLst>
              <a:ext uri="{FF2B5EF4-FFF2-40B4-BE49-F238E27FC236}">
                <a16:creationId xmlns:a16="http://schemas.microsoft.com/office/drawing/2014/main" id="{9670B07E-C0B4-C336-1193-87ED998E40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463"/>
            <a:ext cx="9144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8" name="Picture 4">
            <a:extLst>
              <a:ext uri="{FF2B5EF4-FFF2-40B4-BE49-F238E27FC236}">
                <a16:creationId xmlns:a16="http://schemas.microsoft.com/office/drawing/2014/main" id="{0395ED05-357D-B5E9-9F52-15F2A7AD70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504950"/>
            <a:ext cx="385921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Meet the man who hacked Zuckerberg.mp4" descr="Meet the man who hacked Zuckerberg">
            <a:hlinkClick r:id="" action="ppaction://media"/>
            <a:extLst>
              <a:ext uri="{FF2B5EF4-FFF2-40B4-BE49-F238E27FC236}">
                <a16:creationId xmlns:a16="http://schemas.microsoft.com/office/drawing/2014/main" id="{5A03D04A-5ED3-B461-EFE6-DF8A6C1A0CB4}"/>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6">
            <a:extLst>
              <a:ext uri="{28A0092B-C50C-407E-A947-70E740481C1C}">
                <a14:useLocalDpi xmlns:a14="http://schemas.microsoft.com/office/drawing/2010/main" val="0"/>
              </a:ext>
            </a:extLst>
          </a:blip>
          <a:srcRect/>
          <a:stretch>
            <a:fillRect/>
          </a:stretch>
        </p:blipFill>
        <p:spPr bwMode="auto">
          <a:xfrm>
            <a:off x="4751388" y="1276350"/>
            <a:ext cx="4064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69807"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E4813898-2387-4280-0C28-A69F4D56B6A5}"/>
              </a:ext>
            </a:extLst>
          </p:cNvPr>
          <p:cNvSpPr>
            <a:spLocks noGrp="1"/>
          </p:cNvSpPr>
          <p:nvPr>
            <p:ph type="title"/>
          </p:nvPr>
        </p:nvSpPr>
        <p:spPr/>
        <p:txBody>
          <a:bodyPr/>
          <a:lstStyle/>
          <a:p>
            <a:r>
              <a:rPr lang="en-US" altLang="en-US"/>
              <a:t>Bug Bounty Programs:</a:t>
            </a:r>
            <a:br>
              <a:rPr lang="en-US" altLang="en-US"/>
            </a:br>
            <a:r>
              <a:rPr lang="en-US" altLang="en-US"/>
              <a:t>Would You Hire a Hacker?</a:t>
            </a:r>
          </a:p>
        </p:txBody>
      </p:sp>
      <p:sp>
        <p:nvSpPr>
          <p:cNvPr id="3" name="Content Placeholder 2">
            <a:extLst>
              <a:ext uri="{FF2B5EF4-FFF2-40B4-BE49-F238E27FC236}">
                <a16:creationId xmlns:a16="http://schemas.microsoft.com/office/drawing/2014/main" id="{D34F7832-9FBF-3ACE-8716-0AAFC51A274D}"/>
              </a:ext>
            </a:extLst>
          </p:cNvPr>
          <p:cNvSpPr>
            <a:spLocks noGrp="1"/>
          </p:cNvSpPr>
          <p:nvPr>
            <p:ph idx="1"/>
          </p:nvPr>
        </p:nvSpPr>
        <p:spPr>
          <a:xfrm>
            <a:off x="446088" y="1504950"/>
            <a:ext cx="2220912" cy="3394075"/>
          </a:xfrm>
        </p:spPr>
        <p:txBody>
          <a:bodyPr/>
          <a:lstStyle/>
          <a:p>
            <a:r>
              <a:rPr lang="en-US" altLang="en-US" sz="1200"/>
              <a:t>Open problem and subject of much discussion</a:t>
            </a:r>
          </a:p>
          <a:p>
            <a:r>
              <a:rPr lang="en-US" altLang="en-US" sz="1200"/>
              <a:t>Pro: “I want somebody who can find problems before the bad guys do"</a:t>
            </a:r>
          </a:p>
          <a:p>
            <a:pPr lvl="1"/>
            <a:r>
              <a:rPr lang="en-US" altLang="en-US" sz="1200"/>
              <a:t>Skillful, motivated, etc.</a:t>
            </a:r>
          </a:p>
          <a:p>
            <a:r>
              <a:rPr lang="en-US" altLang="en-US" sz="1200"/>
              <a:t>Con: “I don’t want to hire an arsonist as a Fire Marshal"</a:t>
            </a:r>
          </a:p>
          <a:p>
            <a:pPr lvl="1"/>
            <a:r>
              <a:rPr lang="en-US" altLang="en-US" sz="1200"/>
              <a:t>Problem with teamwork, may damage company, etc.</a:t>
            </a:r>
          </a:p>
          <a:p>
            <a:r>
              <a:rPr lang="en-US" altLang="en-US" sz="1200"/>
              <a:t>In general assessment of personality is important (morals, ethics, attitude)</a:t>
            </a:r>
          </a:p>
          <a:p>
            <a:r>
              <a:rPr lang="en-US" altLang="en-US" sz="1200"/>
              <a:t>How would you fire a hacker?</a:t>
            </a:r>
          </a:p>
        </p:txBody>
      </p:sp>
      <p:pic>
        <p:nvPicPr>
          <p:cNvPr id="40963" name="Picture 3">
            <a:extLst>
              <a:ext uri="{FF2B5EF4-FFF2-40B4-BE49-F238E27FC236}">
                <a16:creationId xmlns:a16="http://schemas.microsoft.com/office/drawing/2014/main" id="{15DB8E7A-26B0-13CA-C14B-92DC89B54B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489075"/>
            <a:ext cx="44958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4">
            <a:extLst>
              <a:ext uri="{FF2B5EF4-FFF2-40B4-BE49-F238E27FC236}">
                <a16:creationId xmlns:a16="http://schemas.microsoft.com/office/drawing/2014/main" id="{1248A54F-FDC0-13D9-6883-E8D34D692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714625"/>
            <a:ext cx="3836988"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5" name="Picture 3">
            <a:extLst>
              <a:ext uri="{FF2B5EF4-FFF2-40B4-BE49-F238E27FC236}">
                <a16:creationId xmlns:a16="http://schemas.microsoft.com/office/drawing/2014/main" id="{7651B792-38C1-90DB-EE63-2CA070BF1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763"/>
            <a:ext cx="4757738" cy="5143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6" name="Picture 4">
            <a:extLst>
              <a:ext uri="{FF2B5EF4-FFF2-40B4-BE49-F238E27FC236}">
                <a16:creationId xmlns:a16="http://schemas.microsoft.com/office/drawing/2014/main" id="{DDD91447-4403-AFE7-A0B1-A5CD722177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438150"/>
            <a:ext cx="3808413"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1">
            <a:extLst>
              <a:ext uri="{FF2B5EF4-FFF2-40B4-BE49-F238E27FC236}">
                <a16:creationId xmlns:a16="http://schemas.microsoft.com/office/drawing/2014/main" id="{B489CE9F-36C9-A0DD-1282-27E478DBC6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0"/>
            <a:ext cx="542925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FB54AAAE-4B8B-81FE-2519-10D38F3DAFC2}"/>
              </a:ext>
            </a:extLst>
          </p:cNvPr>
          <p:cNvSpPr>
            <a:spLocks noGrp="1"/>
          </p:cNvSpPr>
          <p:nvPr>
            <p:ph type="title"/>
          </p:nvPr>
        </p:nvSpPr>
        <p:spPr/>
        <p:txBody>
          <a:bodyPr/>
          <a:lstStyle/>
          <a:p>
            <a:r>
              <a:rPr lang="en-US" altLang="en-US"/>
              <a:t>Bug Bounty Challenges</a:t>
            </a:r>
          </a:p>
        </p:txBody>
      </p:sp>
      <p:sp>
        <p:nvSpPr>
          <p:cNvPr id="46082" name="Content Placeholder 2">
            <a:extLst>
              <a:ext uri="{FF2B5EF4-FFF2-40B4-BE49-F238E27FC236}">
                <a16:creationId xmlns:a16="http://schemas.microsoft.com/office/drawing/2014/main" id="{3D21BAD0-9343-6DD5-D480-6AB354A9928A}"/>
              </a:ext>
            </a:extLst>
          </p:cNvPr>
          <p:cNvSpPr>
            <a:spLocks noGrp="1"/>
          </p:cNvSpPr>
          <p:nvPr>
            <p:ph idx="1"/>
          </p:nvPr>
        </p:nvSpPr>
        <p:spPr/>
        <p:txBody>
          <a:bodyPr/>
          <a:lstStyle/>
          <a:p>
            <a:r>
              <a:rPr lang="en-US" altLang="en-US"/>
              <a:t>Organizations worry that some might damage a production system, steal user data, or disclose vulnerabilities found to other parties, or even to the public. </a:t>
            </a:r>
          </a:p>
          <a:p>
            <a:endParaRPr lang="en-US" altLang="en-US"/>
          </a:p>
          <a:p>
            <a:r>
              <a:rPr lang="en-US" altLang="en-US"/>
              <a:t>Participants worry that they might face legal charges for vulnerability research and disclosure. </a:t>
            </a:r>
          </a:p>
          <a:p>
            <a:endParaRPr lang="en-US" altLang="en-US"/>
          </a:p>
          <a:p>
            <a:r>
              <a:rPr lang="en-US" altLang="en-US"/>
              <a:t>Regulatory area is not well-defined/murky.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CA9B2AE6-30CF-173B-ADBE-63A594717FAD}"/>
              </a:ext>
            </a:extLst>
          </p:cNvPr>
          <p:cNvSpPr>
            <a:spLocks noGrp="1"/>
          </p:cNvSpPr>
          <p:nvPr>
            <p:ph type="title"/>
          </p:nvPr>
        </p:nvSpPr>
        <p:spPr/>
        <p:txBody>
          <a:bodyPr/>
          <a:lstStyle/>
          <a:p>
            <a:r>
              <a:rPr lang="en-US" altLang="en-US"/>
              <a:t>Penetration Testing and Audits</a:t>
            </a:r>
          </a:p>
        </p:txBody>
      </p:sp>
      <p:sp>
        <p:nvSpPr>
          <p:cNvPr id="519171" name="Rectangle 3">
            <a:extLst>
              <a:ext uri="{FF2B5EF4-FFF2-40B4-BE49-F238E27FC236}">
                <a16:creationId xmlns:a16="http://schemas.microsoft.com/office/drawing/2014/main" id="{189C821A-AD0B-CF71-CC68-A01A1C8E4DAC}"/>
              </a:ext>
            </a:extLst>
          </p:cNvPr>
          <p:cNvSpPr>
            <a:spLocks noGrp="1" noChangeArrowheads="1"/>
          </p:cNvSpPr>
          <p:nvPr>
            <p:ph type="body" idx="1"/>
          </p:nvPr>
        </p:nvSpPr>
        <p:spPr/>
        <p:txBody>
          <a:bodyPr>
            <a:normAutofit fontScale="92500" lnSpcReduction="20000"/>
          </a:bodyPr>
          <a:lstStyle/>
          <a:p>
            <a:pPr>
              <a:defRPr/>
            </a:pPr>
            <a:r>
              <a:rPr lang="en-US" dirty="0"/>
              <a:t>Vulnerability analysis followed by exploitation</a:t>
            </a:r>
          </a:p>
          <a:p>
            <a:pPr lvl="1">
              <a:defRPr/>
            </a:pPr>
            <a:r>
              <a:rPr lang="en-US" dirty="0"/>
              <a:t>Assumptions and hypothesis derived from the analysis are verified on the field</a:t>
            </a:r>
          </a:p>
          <a:p>
            <a:pPr lvl="1">
              <a:defRPr/>
            </a:pPr>
            <a:r>
              <a:rPr lang="en-US" dirty="0"/>
              <a:t>It is usually “black-box”</a:t>
            </a:r>
          </a:p>
          <a:p>
            <a:pPr lvl="1">
              <a:defRPr/>
            </a:pPr>
            <a:endParaRPr lang="en-US" dirty="0"/>
          </a:p>
          <a:p>
            <a:pPr>
              <a:defRPr/>
            </a:pPr>
            <a:r>
              <a:rPr lang="en-US" dirty="0"/>
              <a:t>Penetration testing is part of the (larger) security auditing/analysis process, but not always a complete solution</a:t>
            </a:r>
          </a:p>
          <a:p>
            <a:pPr>
              <a:defRPr/>
            </a:pPr>
            <a:endParaRPr lang="en-US" dirty="0"/>
          </a:p>
          <a:p>
            <a:pPr>
              <a:defRPr/>
            </a:pPr>
            <a:r>
              <a:rPr lang="en-US" dirty="0"/>
              <a:t>A comprehensive security analysis process takes into account many other aspects (e.g., source code analysis, policy analysis, social engineering</a:t>
            </a:r>
          </a:p>
        </p:txBody>
      </p:sp>
      <p:sp>
        <p:nvSpPr>
          <p:cNvPr id="47107" name="Slide Number Placeholder 3">
            <a:extLst>
              <a:ext uri="{FF2B5EF4-FFF2-40B4-BE49-F238E27FC236}">
                <a16:creationId xmlns:a16="http://schemas.microsoft.com/office/drawing/2014/main" id="{D0923F95-4E82-5368-8231-81777EB590BD}"/>
              </a:ext>
            </a:extLst>
          </p:cNvPr>
          <p:cNvSpPr>
            <a:spLocks noGrp="1" noChangeArrowheads="1"/>
          </p:cNvSpPr>
          <p:nvPr>
            <p:ph type="sldNum" sz="quarter" idx="12"/>
          </p:nvPr>
        </p:nvSpPr>
        <p:spPr bwMode="auto">
          <a:xfrm>
            <a:off x="7486650" y="4243388"/>
            <a:ext cx="514350" cy="257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A0E94C6-8A7C-634C-A807-15FA02B373CB}" type="slidenum">
              <a:rPr lang="en-US" altLang="en-US" smtClean="0">
                <a:solidFill>
                  <a:srgbClr val="898989"/>
                </a:solidFill>
              </a:rPr>
              <a:pPr/>
              <a:t>23</a:t>
            </a:fld>
            <a:endParaRPr lang="en-US" altLang="en-US">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91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91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917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9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4">
            <a:extLst>
              <a:ext uri="{FF2B5EF4-FFF2-40B4-BE49-F238E27FC236}">
                <a16:creationId xmlns:a16="http://schemas.microsoft.com/office/drawing/2014/main" id="{07319C90-F91F-AA59-458E-3B9FA20AD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60525"/>
            <a:ext cx="3282950"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0" name="Picture 3">
            <a:extLst>
              <a:ext uri="{FF2B5EF4-FFF2-40B4-BE49-F238E27FC236}">
                <a16:creationId xmlns:a16="http://schemas.microsoft.com/office/drawing/2014/main" id="{BDCECA5C-1076-34C0-D331-56543C032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3350"/>
            <a:ext cx="464026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A9ADDF8A-667D-9992-1EDF-D734502B1B5A}"/>
              </a:ext>
            </a:extLst>
          </p:cNvPr>
          <p:cNvSpPr>
            <a:spLocks noGrp="1"/>
          </p:cNvSpPr>
          <p:nvPr>
            <p:ph type="title"/>
          </p:nvPr>
        </p:nvSpPr>
        <p:spPr>
          <a:xfrm>
            <a:off x="533400" y="1657350"/>
            <a:ext cx="8229600" cy="857250"/>
          </a:xfrm>
        </p:spPr>
        <p:txBody>
          <a:bodyPr/>
          <a:lstStyle/>
          <a:p>
            <a:r>
              <a:rPr lang="en-US" altLang="en-US"/>
              <a:t>Discussion: Is Penetration Testing Useful?</a:t>
            </a:r>
          </a:p>
        </p:txBody>
      </p:sp>
      <p:sp>
        <p:nvSpPr>
          <p:cNvPr id="49154" name="Slide Number Placeholder 3">
            <a:extLst>
              <a:ext uri="{FF2B5EF4-FFF2-40B4-BE49-F238E27FC236}">
                <a16:creationId xmlns:a16="http://schemas.microsoft.com/office/drawing/2014/main" id="{2C35D762-9621-24C0-C318-5B733862EA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64C28B6-71E5-AC49-B925-D414F8591687}" type="slidenum">
              <a:rPr lang="en-US" altLang="en-US" smtClean="0">
                <a:solidFill>
                  <a:srgbClr val="898989"/>
                </a:solidFill>
              </a:rPr>
              <a:pPr/>
              <a:t>25</a:t>
            </a:fld>
            <a:endParaRPr lang="en-US"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7971</TotalTime>
  <Words>1303</Words>
  <Application>Microsoft Macintosh PowerPoint</Application>
  <PresentationFormat>On-screen Show (16:9)</PresentationFormat>
  <Paragraphs>115</Paragraphs>
  <Slides>25</Slides>
  <Notes>8</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ＭＳ Ｐゴシック</vt:lpstr>
      <vt:lpstr>Calibri</vt:lpstr>
      <vt:lpstr>Office Theme</vt:lpstr>
      <vt:lpstr>Vulnerability Discovery and Disclosure</vt:lpstr>
      <vt:lpstr>Vulnerabilities</vt:lpstr>
      <vt:lpstr>PowerPoint Presentation</vt:lpstr>
      <vt:lpstr>PowerPoint Presentation</vt:lpstr>
      <vt:lpstr>Legal Constructs</vt:lpstr>
      <vt:lpstr>DMCA</vt:lpstr>
      <vt:lpstr>PowerPoint Presentation</vt:lpstr>
      <vt:lpstr>PowerPoint Presentation</vt:lpstr>
      <vt:lpstr>Timeline</vt:lpstr>
      <vt:lpstr>Conflicts with Disclosure</vt:lpstr>
      <vt:lpstr>Computer Fraud and Abuse Act</vt:lpstr>
      <vt:lpstr>Chilling Effects?</vt:lpstr>
      <vt:lpstr>PowerPoint Presentation</vt:lpstr>
      <vt:lpstr>CFAA and ToS: Various Interpretations</vt:lpstr>
      <vt:lpstr>PowerPoint Presentation</vt:lpstr>
      <vt:lpstr>Left Open: Terms of Service and  “Policy-Based Restrictions”</vt:lpstr>
      <vt:lpstr>Discussion: Vulnerability Disclosure</vt:lpstr>
      <vt:lpstr>PowerPoint Presentation</vt:lpstr>
      <vt:lpstr>Bug Bounty Programs: Would You Hire a Hacker?</vt:lpstr>
      <vt:lpstr>PowerPoint Presentation</vt:lpstr>
      <vt:lpstr>PowerPoint Presentation</vt:lpstr>
      <vt:lpstr>Bug Bounty Challenges</vt:lpstr>
      <vt:lpstr>Penetration Testing and Audits</vt:lpstr>
      <vt:lpstr>PowerPoint Presentation</vt:lpstr>
      <vt:lpstr>Discussion: Is Penetration Testing Useful?</vt:lpstr>
    </vt:vector>
  </TitlesOfParts>
  <Company>Georgia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Viruses and Related Threats</dc:title>
  <dc:creator>Nick Feamster</dc:creator>
  <cp:lastModifiedBy>Nick Feamster</cp:lastModifiedBy>
  <cp:revision>161</cp:revision>
  <dcterms:created xsi:type="dcterms:W3CDTF">2009-02-23T20:06:22Z</dcterms:created>
  <dcterms:modified xsi:type="dcterms:W3CDTF">2026-06-02T14:05:54Z</dcterms:modified>
</cp:coreProperties>
</file>